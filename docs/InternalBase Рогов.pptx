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2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79" r:id="rId13"/>
    <p:sldId id="280" r:id="rId14"/>
    <p:sldId id="269" r:id="rId15"/>
    <p:sldId id="270" r:id="rId16"/>
    <p:sldId id="271" r:id="rId17"/>
    <p:sldId id="272" r:id="rId18"/>
    <p:sldId id="273" r:id="rId19"/>
    <p:sldId id="275" r:id="rId20"/>
    <p:sldId id="276" r:id="rId21"/>
    <p:sldId id="277" r:id="rId22"/>
  </p:sldIdLst>
  <p:sldSz cx="16256000" cy="9144000"/>
  <p:notesSz cx="9144000" cy="16256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0F2F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91" d="100"/>
          <a:sy n="91" d="100"/>
        </p:scale>
        <p:origin x="438" y="66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7381508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57B011-8337-A36C-C8D6-16CB18DC27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1373C3E-90F4-4D25-B91A-4E7EEBE8D08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FC61B01-DC82-397D-CA83-AF343F9F73F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52C7783-34F4-3A49-F989-D856CCE6B14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769269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0E58FA-9DEB-B792-61D0-819C223842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5E3AF3E-163C-8449-B005-E9295E65646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A684C51-1A12-D1EA-C162-87C5DB2D7EE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89D872F-E694-95A5-2A3B-DC6EB3A7833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326943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1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gradFill flip="none" rotWithShape="1">
          <a:gsLst>
            <a:gs pos="0">
              <a:srgbClr val="0F1525"/>
            </a:gs>
            <a:gs pos="50000">
              <a:srgbClr val="1A1F3C"/>
            </a:gs>
            <a:gs pos="100000">
              <a:srgbClr val="162044"/>
            </a:gs>
          </a:gsLst>
          <a:lin ang="81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7999" y="3212115"/>
            <a:ext cx="2540000" cy="38100"/>
          </a:xfrm>
          <a:prstGeom prst="rect">
            <a:avLst/>
          </a:prstGeom>
          <a:solidFill>
            <a:srgbClr val="00ACC1"/>
          </a:solidFill>
          <a:ln/>
        </p:spPr>
        <p:txBody>
          <a:bodyPr/>
          <a:lstStyle/>
          <a:p>
            <a:endParaRPr lang="ru-R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1778000" y="4572000"/>
            <a:ext cx="12700000" cy="762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ru-RU" sz="4400" b="1" dirty="0">
                <a:solidFill>
                  <a:srgbClr val="FFFFFF"/>
                </a:solidFill>
                <a:latin typeface="Arial" panose="020B0604020202020204" pitchFamily="34" charset="0"/>
                <a:ea typeface="Liter" pitchFamily="34" charset="-122"/>
                <a:cs typeface="Arial" panose="020B0604020202020204" pitchFamily="34" charset="0"/>
              </a:rPr>
              <a:t>«</a:t>
            </a:r>
            <a:r>
              <a:rPr lang="en-US" sz="4400" b="1" dirty="0">
                <a:solidFill>
                  <a:srgbClr val="FFFFFF"/>
                </a:solidFill>
                <a:latin typeface="Arial" panose="020B0604020202020204" pitchFamily="34" charset="0"/>
                <a:ea typeface="Liter" pitchFamily="34" charset="-122"/>
                <a:cs typeface="Arial" panose="020B0604020202020204" pitchFamily="34" charset="0"/>
              </a:rPr>
              <a:t>InternalBaseWpf</a:t>
            </a:r>
            <a:r>
              <a:rPr lang="ru-RU" sz="4400" b="1" dirty="0">
                <a:solidFill>
                  <a:srgbClr val="FFFFFF"/>
                </a:solidFill>
                <a:latin typeface="Arial" panose="020B0604020202020204" pitchFamily="34" charset="0"/>
                <a:ea typeface="Liter" pitchFamily="34" charset="-122"/>
                <a:cs typeface="Arial" panose="020B0604020202020204" pitchFamily="34" charset="0"/>
              </a:rPr>
              <a:t>»</a:t>
            </a:r>
            <a:endParaRPr lang="en-US" sz="4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Text 2"/>
          <p:cNvSpPr/>
          <p:nvPr/>
        </p:nvSpPr>
        <p:spPr>
          <a:xfrm>
            <a:off x="2413000" y="5429250"/>
            <a:ext cx="11430000" cy="444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ru-RU" sz="2000" dirty="0">
                <a:solidFill>
                  <a:srgbClr val="C0C5CE"/>
                </a:solidFill>
                <a:latin typeface="Arial" panose="020B0604020202020204" pitchFamily="34" charset="0"/>
                <a:ea typeface="Quattrocento Sans" pitchFamily="34" charset="-122"/>
                <a:cs typeface="Arial" panose="020B0604020202020204" pitchFamily="34" charset="0"/>
              </a:rPr>
              <a:t>Автоматизированная информационная система учёта</a:t>
            </a:r>
            <a:endParaRPr 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Text 3"/>
          <p:cNvSpPr/>
          <p:nvPr/>
        </p:nvSpPr>
        <p:spPr>
          <a:xfrm>
            <a:off x="3724165" y="3278790"/>
            <a:ext cx="8807669" cy="155553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80000"/>
              </a:lnSpc>
              <a:tabLst>
                <a:tab pos="1800000" algn="ctr"/>
              </a:tabLst>
            </a:pPr>
            <a:r>
              <a:rPr lang="ru-RU" sz="42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Презентация-отчет</a:t>
            </a:r>
            <a:br>
              <a:rPr lang="ru-RU" sz="42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ru-RU" sz="42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по производственной практике</a:t>
            </a:r>
          </a:p>
        </p:txBody>
      </p:sp>
      <p:sp>
        <p:nvSpPr>
          <p:cNvPr id="7" name="Shape 5"/>
          <p:cNvSpPr/>
          <p:nvPr/>
        </p:nvSpPr>
        <p:spPr>
          <a:xfrm>
            <a:off x="1270000" y="1270000"/>
            <a:ext cx="1016000" cy="1016000"/>
          </a:xfrm>
          <a:prstGeom prst="ellipse">
            <a:avLst/>
          </a:prstGeom>
          <a:solidFill>
            <a:srgbClr val="00ACC1">
              <a:alpha val="8235"/>
            </a:srgbClr>
          </a:solidFill>
          <a:ln w="12700">
            <a:solidFill>
              <a:srgbClr val="00ACC1"/>
            </a:solidFill>
            <a:prstDash val="solid"/>
          </a:ln>
        </p:spPr>
        <p:txBody>
          <a:bodyPr/>
          <a:lstStyle/>
          <a:p>
            <a:endParaRPr lang="ru-R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Shape 6"/>
          <p:cNvSpPr/>
          <p:nvPr/>
        </p:nvSpPr>
        <p:spPr>
          <a:xfrm>
            <a:off x="13970000" y="6350000"/>
            <a:ext cx="1524000" cy="1524000"/>
          </a:xfrm>
          <a:prstGeom prst="ellipse">
            <a:avLst/>
          </a:prstGeom>
          <a:solidFill>
            <a:srgbClr val="00ACC1">
              <a:alpha val="6275"/>
            </a:srgbClr>
          </a:solidFill>
          <a:ln w="12700">
            <a:solidFill>
              <a:srgbClr val="00ACC1"/>
            </a:solidFill>
            <a:prstDash val="solid"/>
          </a:ln>
        </p:spPr>
        <p:txBody>
          <a:bodyPr/>
          <a:lstStyle/>
          <a:p>
            <a:endParaRPr lang="ru-R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" name="Shape 7"/>
          <p:cNvSpPr/>
          <p:nvPr/>
        </p:nvSpPr>
        <p:spPr>
          <a:xfrm>
            <a:off x="1905000" y="6985000"/>
            <a:ext cx="508000" cy="508000"/>
          </a:xfrm>
          <a:prstGeom prst="ellipse">
            <a:avLst/>
          </a:prstGeom>
          <a:solidFill>
            <a:srgbClr val="00ACC1">
              <a:alpha val="12549"/>
            </a:srgbClr>
          </a:solidFill>
          <a:ln/>
        </p:spPr>
        <p:txBody>
          <a:bodyPr/>
          <a:lstStyle/>
          <a:p>
            <a:endParaRPr lang="ru-R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" name="Shape 4">
            <a:extLst>
              <a:ext uri="{FF2B5EF4-FFF2-40B4-BE49-F238E27FC236}">
                <a16:creationId xmlns:a16="http://schemas.microsoft.com/office/drawing/2014/main" id="{2AB5B3B4-3127-28B0-243F-E444664A16C9}"/>
              </a:ext>
            </a:extLst>
          </p:cNvPr>
          <p:cNvSpPr/>
          <p:nvPr/>
        </p:nvSpPr>
        <p:spPr>
          <a:xfrm>
            <a:off x="6858000" y="6140450"/>
            <a:ext cx="2540000" cy="38100"/>
          </a:xfrm>
          <a:prstGeom prst="rect">
            <a:avLst/>
          </a:prstGeom>
          <a:solidFill>
            <a:srgbClr val="00ACC1"/>
          </a:solidFill>
          <a:ln/>
        </p:spPr>
        <p:txBody>
          <a:bodyPr/>
          <a:lstStyle/>
          <a:p>
            <a:endParaRPr lang="ru-R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7DAE6DB-8354-217D-6C17-DCD9B44A525B}"/>
              </a:ext>
            </a:extLst>
          </p:cNvPr>
          <p:cNvSpPr txBox="1"/>
          <p:nvPr/>
        </p:nvSpPr>
        <p:spPr>
          <a:xfrm>
            <a:off x="4345766" y="329482"/>
            <a:ext cx="7564466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1400" dirty="0">
                <a:solidFill>
                  <a:schemeClr val="bg1">
                    <a:lumMod val="9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Министерство образования и молодежной политики Свердловской области</a:t>
            </a:r>
          </a:p>
          <a:p>
            <a:pPr algn="ctr"/>
            <a:r>
              <a:rPr lang="ru-RU" sz="1400" dirty="0">
                <a:solidFill>
                  <a:schemeClr val="bg1">
                    <a:lumMod val="9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ГАПОУ СО «ЕКАТЕРИНБУРГСКИЙ КОЛЛЕДЖ ТРАНСПОРТНОГО СТРОИТЕЛЬСТВА»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DCF3DAD-35A9-42AA-0DBD-F0558327C41B}"/>
              </a:ext>
            </a:extLst>
          </p:cNvPr>
          <p:cNvSpPr txBox="1"/>
          <p:nvPr/>
        </p:nvSpPr>
        <p:spPr>
          <a:xfrm>
            <a:off x="7094484" y="8660629"/>
            <a:ext cx="193296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ru-RU"/>
            </a:defPPr>
            <a:lvl1pPr algn="ctr">
              <a:defRPr sz="1400">
                <a:solidFill>
                  <a:schemeClr val="bg1">
                    <a:lumMod val="90000"/>
                  </a:schemeClr>
                </a:solidFill>
              </a:defRPr>
            </a:lvl1pPr>
          </a:lstStyle>
          <a:p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Екатеринбург,  2026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AA7A549-C589-3C4B-2CCF-C218E609630D}"/>
              </a:ext>
            </a:extLst>
          </p:cNvPr>
          <p:cNvSpPr txBox="1"/>
          <p:nvPr/>
        </p:nvSpPr>
        <p:spPr>
          <a:xfrm>
            <a:off x="9889175" y="8629851"/>
            <a:ext cx="577697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ru-RU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Выполнил работу студент</a:t>
            </a:r>
            <a:r>
              <a:rPr lang="en-US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ПР-31</a:t>
            </a:r>
            <a:r>
              <a:rPr lang="en-US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  <a:r>
              <a:rPr lang="ru-RU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Рогов Андрей</a:t>
            </a:r>
          </a:p>
        </p:txBody>
      </p:sp>
    </p:spTree>
  </p:cSld>
  <p:clrMapOvr>
    <a:masterClrMapping/>
  </p:clrMapOvr>
  <p:transition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0F2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2000" y="571500"/>
            <a:ext cx="5080000" cy="508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ru-RU" sz="2800" b="1" dirty="0">
                <a:solidFill>
                  <a:srgbClr val="1A1F3C"/>
                </a:solidFill>
                <a:latin typeface="Arial" panose="020B0604020202020204" pitchFamily="34" charset="0"/>
                <a:ea typeface="Liter" pitchFamily="34" charset="-122"/>
                <a:cs typeface="Arial" panose="020B0604020202020204" pitchFamily="34" charset="0"/>
              </a:rPr>
              <a:t>Содержание</a:t>
            </a:r>
            <a:endParaRPr lang="en-US" sz="2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Shape 1"/>
          <p:cNvSpPr/>
          <p:nvPr/>
        </p:nvSpPr>
        <p:spPr>
          <a:xfrm>
            <a:off x="762000" y="1117600"/>
            <a:ext cx="762000" cy="38100"/>
          </a:xfrm>
          <a:prstGeom prst="rect">
            <a:avLst/>
          </a:prstGeom>
          <a:solidFill>
            <a:srgbClr val="00ACC1"/>
          </a:solidFill>
          <a:ln/>
        </p:spPr>
        <p:txBody>
          <a:bodyPr/>
          <a:lstStyle/>
          <a:p>
            <a:endParaRPr lang="ru-R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762000" y="1524000"/>
            <a:ext cx="7112000" cy="3175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  <a:effectLst>
            <a:outerShdw blurRad="152400" dist="38100" dir="5400000" algn="bl" rotWithShape="0">
              <a:srgbClr val="000000">
                <a:alpha val="8235"/>
              </a:srgbClr>
            </a:outerShdw>
          </a:effectLst>
        </p:spPr>
        <p:txBody>
          <a:bodyPr/>
          <a:lstStyle/>
          <a:p>
            <a:endParaRPr lang="ru-R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Text 3"/>
          <p:cNvSpPr/>
          <p:nvPr/>
        </p:nvSpPr>
        <p:spPr>
          <a:xfrm>
            <a:off x="1143000" y="1778000"/>
            <a:ext cx="1270000" cy="762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4800" dirty="0">
                <a:solidFill>
                  <a:srgbClr val="00ACC1"/>
                </a:solidFill>
                <a:latin typeface="Arial" panose="020B0604020202020204" pitchFamily="34" charset="0"/>
                <a:ea typeface="Liter" pitchFamily="34" charset="-122"/>
                <a:cs typeface="Arial" panose="020B0604020202020204" pitchFamily="34" charset="0"/>
              </a:rPr>
              <a:t>01</a:t>
            </a:r>
            <a:endParaRPr lang="en-US" sz="4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Text 4"/>
          <p:cNvSpPr/>
          <p:nvPr/>
        </p:nvSpPr>
        <p:spPr>
          <a:xfrm>
            <a:off x="1143000" y="2603500"/>
            <a:ext cx="6350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ru-RU" sz="2200" b="1" dirty="0">
                <a:solidFill>
                  <a:srgbClr val="1A1F3C"/>
                </a:solidFill>
                <a:latin typeface="Arial" panose="020B0604020202020204" pitchFamily="34" charset="0"/>
                <a:ea typeface="Liter" pitchFamily="34" charset="-122"/>
                <a:cs typeface="Arial" panose="020B0604020202020204" pitchFamily="34" charset="0"/>
              </a:rPr>
              <a:t>О проекте</a:t>
            </a:r>
            <a:endParaRPr lang="en-US" sz="2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Text 5"/>
          <p:cNvSpPr/>
          <p:nvPr/>
        </p:nvSpPr>
        <p:spPr>
          <a:xfrm>
            <a:off x="1143000" y="3111500"/>
            <a:ext cx="6350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20000"/>
              </a:lnSpc>
            </a:pPr>
            <a:r>
              <a:rPr lang="ru-RU" dirty="0">
                <a:solidFill>
                  <a:srgbClr val="64748B"/>
                </a:solidFill>
                <a:latin typeface="Arial" panose="020B0604020202020204" pitchFamily="34" charset="0"/>
                <a:ea typeface="Quattrocento Sans" pitchFamily="34" charset="-122"/>
                <a:cs typeface="Arial" panose="020B0604020202020204" pitchFamily="34" charset="0"/>
              </a:rPr>
              <a:t>Цели, задачи и технологический стек разработки</a:t>
            </a:r>
            <a:endParaRPr lang="en-US" sz="1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Shape 6"/>
          <p:cNvSpPr/>
          <p:nvPr/>
        </p:nvSpPr>
        <p:spPr>
          <a:xfrm>
            <a:off x="6858000" y="1778000"/>
            <a:ext cx="609600" cy="609600"/>
          </a:xfrm>
          <a:custGeom>
            <a:avLst/>
            <a:gdLst/>
            <a:ahLst/>
            <a:cxnLst/>
            <a:rect l="l" t="t" r="r" b="b"/>
            <a:pathLst>
              <a:path w="609600" h="609600">
                <a:moveTo>
                  <a:pt x="152400" y="381000"/>
                </a:moveTo>
                <a:lnTo>
                  <a:pt x="29170" y="381000"/>
                </a:lnTo>
                <a:cubicBezTo>
                  <a:pt x="-476" y="381000"/>
                  <a:pt x="-18693" y="348734"/>
                  <a:pt x="-3453" y="323255"/>
                </a:cubicBezTo>
                <a:lnTo>
                  <a:pt x="59531" y="218242"/>
                </a:lnTo>
                <a:cubicBezTo>
                  <a:pt x="69890" y="200978"/>
                  <a:pt x="88463" y="190500"/>
                  <a:pt x="108585" y="190500"/>
                </a:cubicBezTo>
                <a:lnTo>
                  <a:pt x="221694" y="190500"/>
                </a:lnTo>
                <a:cubicBezTo>
                  <a:pt x="312301" y="37028"/>
                  <a:pt x="447437" y="29289"/>
                  <a:pt x="537805" y="42505"/>
                </a:cubicBezTo>
                <a:cubicBezTo>
                  <a:pt x="553045" y="44768"/>
                  <a:pt x="564952" y="56674"/>
                  <a:pt x="567095" y="71795"/>
                </a:cubicBezTo>
                <a:cubicBezTo>
                  <a:pt x="580311" y="162163"/>
                  <a:pt x="572572" y="297299"/>
                  <a:pt x="419100" y="387906"/>
                </a:cubicBezTo>
                <a:lnTo>
                  <a:pt x="419100" y="501015"/>
                </a:lnTo>
                <a:cubicBezTo>
                  <a:pt x="419100" y="521137"/>
                  <a:pt x="408623" y="539710"/>
                  <a:pt x="391358" y="550069"/>
                </a:cubicBezTo>
                <a:lnTo>
                  <a:pt x="286345" y="613053"/>
                </a:lnTo>
                <a:cubicBezTo>
                  <a:pt x="260985" y="628293"/>
                  <a:pt x="228600" y="609957"/>
                  <a:pt x="228600" y="580430"/>
                </a:cubicBezTo>
                <a:lnTo>
                  <a:pt x="228600" y="457200"/>
                </a:lnTo>
                <a:cubicBezTo>
                  <a:pt x="228600" y="415171"/>
                  <a:pt x="194429" y="381000"/>
                  <a:pt x="152400" y="381000"/>
                </a:cubicBezTo>
                <a:lnTo>
                  <a:pt x="152281" y="381000"/>
                </a:lnTo>
                <a:close/>
                <a:moveTo>
                  <a:pt x="476250" y="190500"/>
                </a:moveTo>
                <a:cubicBezTo>
                  <a:pt x="476250" y="158958"/>
                  <a:pt x="450642" y="133350"/>
                  <a:pt x="419100" y="133350"/>
                </a:cubicBezTo>
                <a:cubicBezTo>
                  <a:pt x="387558" y="133350"/>
                  <a:pt x="361950" y="158958"/>
                  <a:pt x="361950" y="190500"/>
                </a:cubicBezTo>
                <a:cubicBezTo>
                  <a:pt x="361950" y="222042"/>
                  <a:pt x="387558" y="247650"/>
                  <a:pt x="419100" y="247650"/>
                </a:cubicBezTo>
                <a:cubicBezTo>
                  <a:pt x="450642" y="247650"/>
                  <a:pt x="476250" y="222042"/>
                  <a:pt x="476250" y="190500"/>
                </a:cubicBezTo>
                <a:close/>
              </a:path>
            </a:pathLst>
          </a:custGeom>
          <a:solidFill>
            <a:srgbClr val="00ACC1">
              <a:alpha val="12549"/>
            </a:srgbClr>
          </a:solidFill>
          <a:ln/>
        </p:spPr>
        <p:txBody>
          <a:bodyPr/>
          <a:lstStyle/>
          <a:p>
            <a:endParaRPr lang="ru-R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" name="Shape 7"/>
          <p:cNvSpPr/>
          <p:nvPr/>
        </p:nvSpPr>
        <p:spPr>
          <a:xfrm>
            <a:off x="8382000" y="1524000"/>
            <a:ext cx="7112000" cy="3175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  <a:effectLst>
            <a:outerShdw blurRad="152400" dist="38100" dir="5400000" algn="bl" rotWithShape="0">
              <a:srgbClr val="000000">
                <a:alpha val="8235"/>
              </a:srgbClr>
            </a:outerShdw>
          </a:effectLst>
        </p:spPr>
        <p:txBody>
          <a:bodyPr/>
          <a:lstStyle/>
          <a:p>
            <a:endParaRPr lang="ru-R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" name="Text 8"/>
          <p:cNvSpPr/>
          <p:nvPr/>
        </p:nvSpPr>
        <p:spPr>
          <a:xfrm>
            <a:off x="8763000" y="1778000"/>
            <a:ext cx="1270000" cy="762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4800" dirty="0">
                <a:solidFill>
                  <a:srgbClr val="00ACC1"/>
                </a:solidFill>
                <a:latin typeface="Arial" panose="020B0604020202020204" pitchFamily="34" charset="0"/>
                <a:ea typeface="Liter" pitchFamily="34" charset="-122"/>
                <a:cs typeface="Arial" panose="020B0604020202020204" pitchFamily="34" charset="0"/>
              </a:rPr>
              <a:t>02</a:t>
            </a:r>
            <a:endParaRPr lang="en-US" sz="4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" name="Text 9"/>
          <p:cNvSpPr/>
          <p:nvPr/>
        </p:nvSpPr>
        <p:spPr>
          <a:xfrm>
            <a:off x="8763000" y="2603500"/>
            <a:ext cx="6350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ru-RU" sz="2200" b="1" dirty="0">
                <a:solidFill>
                  <a:srgbClr val="1A1F3C"/>
                </a:solidFill>
                <a:latin typeface="Arial" panose="020B0604020202020204" pitchFamily="34" charset="0"/>
                <a:ea typeface="Liter" pitchFamily="34" charset="-122"/>
                <a:cs typeface="Arial" panose="020B0604020202020204" pitchFamily="34" charset="0"/>
              </a:rPr>
              <a:t>Архитектура системы</a:t>
            </a:r>
            <a:endParaRPr lang="en-US" sz="2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8763000" y="3111500"/>
            <a:ext cx="6350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20000"/>
              </a:lnSpc>
            </a:pPr>
            <a:r>
              <a:rPr lang="ru-RU" dirty="0">
                <a:solidFill>
                  <a:srgbClr val="64748B"/>
                </a:solidFill>
                <a:latin typeface="Arial" panose="020B0604020202020204" pitchFamily="34" charset="0"/>
                <a:ea typeface="Quattrocento Sans" pitchFamily="34" charset="-122"/>
                <a:cs typeface="Arial" panose="020B0604020202020204" pitchFamily="34" charset="0"/>
              </a:rPr>
              <a:t>Трёхуровневая архитектура, база данных и безопасность</a:t>
            </a:r>
            <a:endParaRPr lang="en-US" sz="1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Shape 11"/>
          <p:cNvSpPr/>
          <p:nvPr/>
        </p:nvSpPr>
        <p:spPr>
          <a:xfrm>
            <a:off x="14478000" y="1778000"/>
            <a:ext cx="609600" cy="609600"/>
          </a:xfrm>
          <a:custGeom>
            <a:avLst/>
            <a:gdLst/>
            <a:ahLst/>
            <a:cxnLst/>
            <a:rect l="l" t="t" r="r" b="b"/>
            <a:pathLst>
              <a:path w="609600" h="609600">
                <a:moveTo>
                  <a:pt x="276820" y="6191"/>
                </a:moveTo>
                <a:cubicBezTo>
                  <a:pt x="294561" y="-2024"/>
                  <a:pt x="315039" y="-2024"/>
                  <a:pt x="332780" y="6191"/>
                </a:cubicBezTo>
                <a:lnTo>
                  <a:pt x="593050" y="126444"/>
                </a:lnTo>
                <a:cubicBezTo>
                  <a:pt x="603171" y="131088"/>
                  <a:pt x="609600" y="141208"/>
                  <a:pt x="609600" y="152400"/>
                </a:cubicBezTo>
                <a:cubicBezTo>
                  <a:pt x="609600" y="163592"/>
                  <a:pt x="603171" y="173712"/>
                  <a:pt x="593050" y="178356"/>
                </a:cubicBezTo>
                <a:lnTo>
                  <a:pt x="332780" y="298609"/>
                </a:lnTo>
                <a:cubicBezTo>
                  <a:pt x="315039" y="306824"/>
                  <a:pt x="294561" y="306824"/>
                  <a:pt x="276820" y="298609"/>
                </a:cubicBezTo>
                <a:lnTo>
                  <a:pt x="16550" y="178356"/>
                </a:lnTo>
                <a:cubicBezTo>
                  <a:pt x="6429" y="173593"/>
                  <a:pt x="0" y="163473"/>
                  <a:pt x="0" y="152400"/>
                </a:cubicBezTo>
                <a:cubicBezTo>
                  <a:pt x="0" y="141327"/>
                  <a:pt x="6429" y="131088"/>
                  <a:pt x="16550" y="126444"/>
                </a:cubicBezTo>
                <a:lnTo>
                  <a:pt x="276820" y="6191"/>
                </a:lnTo>
                <a:close/>
                <a:moveTo>
                  <a:pt x="57269" y="260033"/>
                </a:moveTo>
                <a:lnTo>
                  <a:pt x="252889" y="350401"/>
                </a:lnTo>
                <a:cubicBezTo>
                  <a:pt x="285869" y="365641"/>
                  <a:pt x="323850" y="365641"/>
                  <a:pt x="356830" y="350401"/>
                </a:cubicBezTo>
                <a:lnTo>
                  <a:pt x="552450" y="260033"/>
                </a:lnTo>
                <a:lnTo>
                  <a:pt x="593050" y="278844"/>
                </a:lnTo>
                <a:cubicBezTo>
                  <a:pt x="603171" y="283488"/>
                  <a:pt x="609600" y="293608"/>
                  <a:pt x="609600" y="304800"/>
                </a:cubicBezTo>
                <a:cubicBezTo>
                  <a:pt x="609600" y="315992"/>
                  <a:pt x="603171" y="326112"/>
                  <a:pt x="593050" y="330756"/>
                </a:cubicBezTo>
                <a:lnTo>
                  <a:pt x="332780" y="451009"/>
                </a:lnTo>
                <a:cubicBezTo>
                  <a:pt x="315039" y="459224"/>
                  <a:pt x="294561" y="459224"/>
                  <a:pt x="276820" y="451009"/>
                </a:cubicBezTo>
                <a:lnTo>
                  <a:pt x="16550" y="330756"/>
                </a:lnTo>
                <a:cubicBezTo>
                  <a:pt x="6429" y="325993"/>
                  <a:pt x="0" y="315873"/>
                  <a:pt x="0" y="304800"/>
                </a:cubicBezTo>
                <a:cubicBezTo>
                  <a:pt x="0" y="293727"/>
                  <a:pt x="6429" y="283488"/>
                  <a:pt x="16550" y="278844"/>
                </a:cubicBezTo>
                <a:lnTo>
                  <a:pt x="57150" y="260033"/>
                </a:lnTo>
                <a:close/>
                <a:moveTo>
                  <a:pt x="16550" y="431244"/>
                </a:moveTo>
                <a:lnTo>
                  <a:pt x="57150" y="412433"/>
                </a:lnTo>
                <a:lnTo>
                  <a:pt x="252770" y="502801"/>
                </a:lnTo>
                <a:cubicBezTo>
                  <a:pt x="285750" y="518041"/>
                  <a:pt x="323731" y="518041"/>
                  <a:pt x="356711" y="502801"/>
                </a:cubicBezTo>
                <a:lnTo>
                  <a:pt x="552331" y="412433"/>
                </a:lnTo>
                <a:lnTo>
                  <a:pt x="592931" y="431244"/>
                </a:lnTo>
                <a:cubicBezTo>
                  <a:pt x="603052" y="435888"/>
                  <a:pt x="609481" y="446008"/>
                  <a:pt x="609481" y="457200"/>
                </a:cubicBezTo>
                <a:cubicBezTo>
                  <a:pt x="609481" y="468392"/>
                  <a:pt x="603052" y="478512"/>
                  <a:pt x="592931" y="483156"/>
                </a:cubicBezTo>
                <a:lnTo>
                  <a:pt x="332661" y="603409"/>
                </a:lnTo>
                <a:cubicBezTo>
                  <a:pt x="314920" y="611624"/>
                  <a:pt x="294442" y="611624"/>
                  <a:pt x="276701" y="603409"/>
                </a:cubicBezTo>
                <a:lnTo>
                  <a:pt x="16550" y="483156"/>
                </a:lnTo>
                <a:cubicBezTo>
                  <a:pt x="6429" y="478393"/>
                  <a:pt x="0" y="468273"/>
                  <a:pt x="0" y="457200"/>
                </a:cubicBezTo>
                <a:cubicBezTo>
                  <a:pt x="0" y="446127"/>
                  <a:pt x="6429" y="435888"/>
                  <a:pt x="16550" y="431244"/>
                </a:cubicBezTo>
                <a:close/>
              </a:path>
            </a:pathLst>
          </a:custGeom>
          <a:solidFill>
            <a:srgbClr val="00ACC1">
              <a:alpha val="12549"/>
            </a:srgbClr>
          </a:solidFill>
          <a:ln/>
        </p:spPr>
        <p:txBody>
          <a:bodyPr/>
          <a:lstStyle/>
          <a:p>
            <a:endParaRPr lang="ru-R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762000" y="5080000"/>
            <a:ext cx="7112000" cy="3175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  <a:effectLst>
            <a:outerShdw blurRad="152400" dist="38100" dir="5400000" algn="bl" rotWithShape="0">
              <a:srgbClr val="000000">
                <a:alpha val="8235"/>
              </a:srgbClr>
            </a:outerShdw>
          </a:effectLst>
        </p:spPr>
        <p:txBody>
          <a:bodyPr/>
          <a:lstStyle/>
          <a:p>
            <a:endParaRPr lang="ru-R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1143000" y="5334000"/>
            <a:ext cx="1270000" cy="762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4800" dirty="0">
                <a:solidFill>
                  <a:srgbClr val="00ACC1"/>
                </a:solidFill>
                <a:latin typeface="Arial" panose="020B0604020202020204" pitchFamily="34" charset="0"/>
                <a:ea typeface="Liter" pitchFamily="34" charset="-122"/>
                <a:cs typeface="Arial" panose="020B0604020202020204" pitchFamily="34" charset="0"/>
              </a:rPr>
              <a:t>03</a:t>
            </a:r>
            <a:endParaRPr lang="en-US" sz="4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1143000" y="6159500"/>
            <a:ext cx="6350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ru-RU" sz="2200" b="1" dirty="0">
                <a:solidFill>
                  <a:srgbClr val="1A1F3C"/>
                </a:solidFill>
                <a:latin typeface="Arial" panose="020B0604020202020204" pitchFamily="34" charset="0"/>
                <a:ea typeface="Liter" pitchFamily="34" charset="-122"/>
                <a:cs typeface="Arial" panose="020B0604020202020204" pitchFamily="34" charset="0"/>
              </a:rPr>
              <a:t>Функционал приложения</a:t>
            </a:r>
            <a:endParaRPr lang="en-US" sz="2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1143000" y="6667500"/>
            <a:ext cx="6350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20000"/>
              </a:lnSpc>
            </a:pPr>
            <a:r>
              <a:rPr lang="ru-RU" dirty="0">
                <a:solidFill>
                  <a:srgbClr val="64748B"/>
                </a:solidFill>
                <a:latin typeface="Arial" panose="020B0604020202020204" pitchFamily="34" charset="0"/>
                <a:ea typeface="Quattrocento Sans" pitchFamily="34" charset="-122"/>
                <a:cs typeface="Arial" panose="020B0604020202020204" pitchFamily="34" charset="0"/>
              </a:rPr>
              <a:t>Интерфейс, разделы и возможности системы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6858000" y="5334000"/>
            <a:ext cx="609600" cy="609600"/>
          </a:xfrm>
          <a:custGeom>
            <a:avLst/>
            <a:gdLst/>
            <a:ahLst/>
            <a:cxnLst/>
            <a:rect l="l" t="t" r="r" b="b"/>
            <a:pathLst>
              <a:path w="609600" h="609600">
                <a:moveTo>
                  <a:pt x="76200" y="38100"/>
                </a:moveTo>
                <a:cubicBezTo>
                  <a:pt x="34171" y="38100"/>
                  <a:pt x="0" y="72271"/>
                  <a:pt x="0" y="114300"/>
                </a:cubicBezTo>
                <a:lnTo>
                  <a:pt x="0" y="419100"/>
                </a:lnTo>
                <a:cubicBezTo>
                  <a:pt x="0" y="461129"/>
                  <a:pt x="34171" y="495300"/>
                  <a:pt x="76200" y="495300"/>
                </a:cubicBezTo>
                <a:lnTo>
                  <a:pt x="247650" y="495300"/>
                </a:lnTo>
                <a:lnTo>
                  <a:pt x="228600" y="552450"/>
                </a:lnTo>
                <a:lnTo>
                  <a:pt x="142875" y="552450"/>
                </a:lnTo>
                <a:cubicBezTo>
                  <a:pt x="127040" y="552450"/>
                  <a:pt x="114300" y="565190"/>
                  <a:pt x="114300" y="581025"/>
                </a:cubicBezTo>
                <a:cubicBezTo>
                  <a:pt x="114300" y="596860"/>
                  <a:pt x="127040" y="609600"/>
                  <a:pt x="142875" y="609600"/>
                </a:cubicBezTo>
                <a:lnTo>
                  <a:pt x="466725" y="609600"/>
                </a:lnTo>
                <a:cubicBezTo>
                  <a:pt x="482560" y="609600"/>
                  <a:pt x="495300" y="596860"/>
                  <a:pt x="495300" y="581025"/>
                </a:cubicBezTo>
                <a:cubicBezTo>
                  <a:pt x="495300" y="565190"/>
                  <a:pt x="482560" y="552450"/>
                  <a:pt x="466725" y="552450"/>
                </a:cubicBezTo>
                <a:lnTo>
                  <a:pt x="381000" y="552450"/>
                </a:lnTo>
                <a:lnTo>
                  <a:pt x="361950" y="495300"/>
                </a:lnTo>
                <a:lnTo>
                  <a:pt x="533400" y="495300"/>
                </a:lnTo>
                <a:cubicBezTo>
                  <a:pt x="575429" y="495300"/>
                  <a:pt x="609600" y="461129"/>
                  <a:pt x="609600" y="419100"/>
                </a:cubicBezTo>
                <a:lnTo>
                  <a:pt x="609600" y="114300"/>
                </a:lnTo>
                <a:cubicBezTo>
                  <a:pt x="609600" y="72271"/>
                  <a:pt x="575429" y="38100"/>
                  <a:pt x="533400" y="38100"/>
                </a:cubicBezTo>
                <a:lnTo>
                  <a:pt x="76200" y="38100"/>
                </a:lnTo>
                <a:close/>
                <a:moveTo>
                  <a:pt x="114300" y="114300"/>
                </a:moveTo>
                <a:lnTo>
                  <a:pt x="495300" y="114300"/>
                </a:lnTo>
                <a:cubicBezTo>
                  <a:pt x="516374" y="114300"/>
                  <a:pt x="533400" y="131326"/>
                  <a:pt x="533400" y="152400"/>
                </a:cubicBezTo>
                <a:lnTo>
                  <a:pt x="533400" y="342900"/>
                </a:lnTo>
                <a:cubicBezTo>
                  <a:pt x="533400" y="363974"/>
                  <a:pt x="516374" y="381000"/>
                  <a:pt x="495300" y="381000"/>
                </a:cubicBezTo>
                <a:lnTo>
                  <a:pt x="114300" y="381000"/>
                </a:lnTo>
                <a:cubicBezTo>
                  <a:pt x="93226" y="381000"/>
                  <a:pt x="76200" y="363974"/>
                  <a:pt x="76200" y="342900"/>
                </a:cubicBezTo>
                <a:lnTo>
                  <a:pt x="76200" y="152400"/>
                </a:lnTo>
                <a:cubicBezTo>
                  <a:pt x="76200" y="131326"/>
                  <a:pt x="93226" y="114300"/>
                  <a:pt x="114300" y="114300"/>
                </a:cubicBezTo>
                <a:close/>
              </a:path>
            </a:pathLst>
          </a:custGeom>
          <a:solidFill>
            <a:srgbClr val="00ACC1">
              <a:alpha val="12549"/>
            </a:srgbClr>
          </a:solidFill>
          <a:ln/>
        </p:spPr>
        <p:txBody>
          <a:bodyPr/>
          <a:lstStyle/>
          <a:p>
            <a:endParaRPr lang="ru-R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8382000" y="5080000"/>
            <a:ext cx="7112000" cy="3175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  <a:effectLst>
            <a:outerShdw blurRad="152400" dist="38100" dir="5400000" algn="bl" rotWithShape="0">
              <a:srgbClr val="000000">
                <a:alpha val="8235"/>
              </a:srgbClr>
            </a:outerShdw>
          </a:effectLst>
        </p:spPr>
        <p:txBody>
          <a:bodyPr/>
          <a:lstStyle/>
          <a:p>
            <a:endParaRPr lang="ru-R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8763000" y="5334000"/>
            <a:ext cx="1270000" cy="762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4800" dirty="0">
                <a:solidFill>
                  <a:srgbClr val="00ACC1"/>
                </a:solidFill>
                <a:latin typeface="Arial" panose="020B0604020202020204" pitchFamily="34" charset="0"/>
                <a:ea typeface="Liter" pitchFamily="34" charset="-122"/>
                <a:cs typeface="Arial" panose="020B0604020202020204" pitchFamily="34" charset="0"/>
              </a:rPr>
              <a:t>04</a:t>
            </a:r>
            <a:endParaRPr lang="en-US" sz="4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8763000" y="6159500"/>
            <a:ext cx="6350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ru-RU" sz="2200" b="1" dirty="0">
                <a:solidFill>
                  <a:srgbClr val="1A1F3C"/>
                </a:solidFill>
                <a:latin typeface="Arial" panose="020B0604020202020204" pitchFamily="34" charset="0"/>
                <a:ea typeface="Liter" pitchFamily="34" charset="-122"/>
                <a:cs typeface="Arial" panose="020B0604020202020204" pitchFamily="34" charset="0"/>
              </a:rPr>
              <a:t>Документация и тестирование</a:t>
            </a:r>
            <a:endParaRPr lang="en-US" sz="2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2" name="Text 20"/>
          <p:cNvSpPr/>
          <p:nvPr/>
        </p:nvSpPr>
        <p:spPr>
          <a:xfrm>
            <a:off x="8763000" y="6667500"/>
            <a:ext cx="6350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20000"/>
              </a:lnSpc>
            </a:pPr>
            <a:r>
              <a:rPr lang="ru-RU" dirty="0">
                <a:solidFill>
                  <a:srgbClr val="64748B"/>
                </a:solidFill>
                <a:latin typeface="Arial" panose="020B0604020202020204" pitchFamily="34" charset="0"/>
                <a:ea typeface="Quattrocento Sans" pitchFamily="34" charset="-122"/>
                <a:cs typeface="Arial" panose="020B0604020202020204" pitchFamily="34" charset="0"/>
              </a:rPr>
              <a:t>Комплект документации, </a:t>
            </a:r>
            <a:r>
              <a:rPr lang="en-US" dirty="0">
                <a:solidFill>
                  <a:srgbClr val="64748B"/>
                </a:solidFill>
                <a:latin typeface="Arial" panose="020B0604020202020204" pitchFamily="34" charset="0"/>
                <a:ea typeface="Quattrocento Sans" pitchFamily="34" charset="-122"/>
                <a:cs typeface="Arial" panose="020B0604020202020204" pitchFamily="34" charset="0"/>
              </a:rPr>
              <a:t>UML-</a:t>
            </a:r>
            <a:r>
              <a:rPr lang="ru-RU" dirty="0">
                <a:solidFill>
                  <a:srgbClr val="64748B"/>
                </a:solidFill>
                <a:latin typeface="Arial" panose="020B0604020202020204" pitchFamily="34" charset="0"/>
                <a:ea typeface="Quattrocento Sans" pitchFamily="34" charset="-122"/>
                <a:cs typeface="Arial" panose="020B0604020202020204" pitchFamily="34" charset="0"/>
              </a:rPr>
              <a:t>диаграммы</a:t>
            </a:r>
            <a:endParaRPr lang="en-US" sz="1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3" name="Shape 21"/>
          <p:cNvSpPr/>
          <p:nvPr/>
        </p:nvSpPr>
        <p:spPr>
          <a:xfrm>
            <a:off x="14478000" y="5334000"/>
            <a:ext cx="609600" cy="609600"/>
          </a:xfrm>
          <a:custGeom>
            <a:avLst/>
            <a:gdLst/>
            <a:ahLst/>
            <a:cxnLst/>
            <a:rect l="l" t="t" r="r" b="b"/>
            <a:pathLst>
              <a:path w="609600" h="609600">
                <a:moveTo>
                  <a:pt x="0" y="76200"/>
                </a:moveTo>
                <a:cubicBezTo>
                  <a:pt x="0" y="34171"/>
                  <a:pt x="45561" y="0"/>
                  <a:pt x="101600" y="0"/>
                </a:cubicBezTo>
                <a:lnTo>
                  <a:pt x="338931" y="0"/>
                </a:lnTo>
                <a:cubicBezTo>
                  <a:pt x="365919" y="0"/>
                  <a:pt x="391795" y="7977"/>
                  <a:pt x="410845" y="22265"/>
                </a:cubicBezTo>
                <a:lnTo>
                  <a:pt x="579914" y="149185"/>
                </a:lnTo>
                <a:cubicBezTo>
                  <a:pt x="598964" y="163473"/>
                  <a:pt x="609600" y="182880"/>
                  <a:pt x="609600" y="203121"/>
                </a:cubicBezTo>
                <a:lnTo>
                  <a:pt x="609600" y="533400"/>
                </a:lnTo>
                <a:cubicBezTo>
                  <a:pt x="609600" y="575429"/>
                  <a:pt x="564039" y="609600"/>
                  <a:pt x="508000" y="609600"/>
                </a:cubicBezTo>
                <a:lnTo>
                  <a:pt x="101600" y="609600"/>
                </a:lnTo>
                <a:cubicBezTo>
                  <a:pt x="45561" y="609600"/>
                  <a:pt x="0" y="575429"/>
                  <a:pt x="0" y="533400"/>
                </a:cubicBezTo>
                <a:lnTo>
                  <a:pt x="0" y="76200"/>
                </a:lnTo>
                <a:close/>
                <a:moveTo>
                  <a:pt x="330200" y="69652"/>
                </a:moveTo>
                <a:lnTo>
                  <a:pt x="330200" y="180975"/>
                </a:lnTo>
                <a:cubicBezTo>
                  <a:pt x="330200" y="196810"/>
                  <a:pt x="347186" y="209550"/>
                  <a:pt x="368300" y="209550"/>
                </a:cubicBezTo>
                <a:lnTo>
                  <a:pt x="516731" y="209550"/>
                </a:lnTo>
                <a:lnTo>
                  <a:pt x="330200" y="69652"/>
                </a:lnTo>
                <a:close/>
                <a:moveTo>
                  <a:pt x="190500" y="304800"/>
                </a:moveTo>
                <a:cubicBezTo>
                  <a:pt x="169386" y="304800"/>
                  <a:pt x="152400" y="317540"/>
                  <a:pt x="152400" y="333375"/>
                </a:cubicBezTo>
                <a:cubicBezTo>
                  <a:pt x="152400" y="349210"/>
                  <a:pt x="169386" y="361950"/>
                  <a:pt x="190500" y="361950"/>
                </a:cubicBezTo>
                <a:lnTo>
                  <a:pt x="419100" y="361950"/>
                </a:lnTo>
                <a:cubicBezTo>
                  <a:pt x="440214" y="361950"/>
                  <a:pt x="457200" y="349210"/>
                  <a:pt x="457200" y="333375"/>
                </a:cubicBezTo>
                <a:cubicBezTo>
                  <a:pt x="457200" y="317540"/>
                  <a:pt x="440214" y="304800"/>
                  <a:pt x="419100" y="304800"/>
                </a:cubicBezTo>
                <a:lnTo>
                  <a:pt x="190500" y="304800"/>
                </a:lnTo>
                <a:close/>
                <a:moveTo>
                  <a:pt x="190500" y="419100"/>
                </a:moveTo>
                <a:cubicBezTo>
                  <a:pt x="169386" y="419100"/>
                  <a:pt x="152400" y="431840"/>
                  <a:pt x="152400" y="447675"/>
                </a:cubicBezTo>
                <a:cubicBezTo>
                  <a:pt x="152400" y="463510"/>
                  <a:pt x="169386" y="476250"/>
                  <a:pt x="190500" y="476250"/>
                </a:cubicBezTo>
                <a:lnTo>
                  <a:pt x="419100" y="476250"/>
                </a:lnTo>
                <a:cubicBezTo>
                  <a:pt x="440214" y="476250"/>
                  <a:pt x="457200" y="463510"/>
                  <a:pt x="457200" y="447675"/>
                </a:cubicBezTo>
                <a:cubicBezTo>
                  <a:pt x="457200" y="431840"/>
                  <a:pt x="440214" y="419100"/>
                  <a:pt x="419100" y="419100"/>
                </a:cubicBezTo>
                <a:lnTo>
                  <a:pt x="190500" y="419100"/>
                </a:lnTo>
                <a:close/>
              </a:path>
            </a:pathLst>
          </a:custGeom>
          <a:solidFill>
            <a:srgbClr val="00ACC1">
              <a:alpha val="12549"/>
            </a:srgbClr>
          </a:solidFill>
          <a:ln/>
        </p:spPr>
        <p:txBody>
          <a:bodyPr/>
          <a:lstStyle/>
          <a:p>
            <a:endParaRPr lang="ru-R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  <p:transition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gradFill flip="none" rotWithShape="1">
          <a:gsLst>
            <a:gs pos="0">
              <a:srgbClr val="0F1525"/>
            </a:gs>
            <a:gs pos="50000">
              <a:srgbClr val="1A1F3C"/>
            </a:gs>
            <a:gs pos="100000">
              <a:srgbClr val="162044"/>
            </a:gs>
          </a:gsLst>
          <a:lin ang="81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2000" y="2286000"/>
            <a:ext cx="3810000" cy="1206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6600" dirty="0">
                <a:solidFill>
                  <a:srgbClr val="00ACC1"/>
                </a:solidFill>
                <a:latin typeface="Arial" panose="020B0604020202020204" pitchFamily="34" charset="0"/>
                <a:ea typeface="Liter" pitchFamily="34" charset="-122"/>
                <a:cs typeface="Arial" panose="020B0604020202020204" pitchFamily="34" charset="0"/>
              </a:rPr>
              <a:t>01</a:t>
            </a:r>
            <a:endParaRPr lang="en-US" sz="6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Shape 1"/>
          <p:cNvSpPr/>
          <p:nvPr/>
        </p:nvSpPr>
        <p:spPr>
          <a:xfrm>
            <a:off x="762000" y="3683000"/>
            <a:ext cx="1016000" cy="38100"/>
          </a:xfrm>
          <a:prstGeom prst="rect">
            <a:avLst/>
          </a:prstGeom>
          <a:solidFill>
            <a:srgbClr val="00ACC1"/>
          </a:solidFill>
          <a:ln/>
        </p:spPr>
        <p:txBody>
          <a:bodyPr/>
          <a:lstStyle/>
          <a:p>
            <a:endParaRPr lang="ru-RU" sz="16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Text 2"/>
          <p:cNvSpPr/>
          <p:nvPr/>
        </p:nvSpPr>
        <p:spPr>
          <a:xfrm>
            <a:off x="762000" y="3937000"/>
            <a:ext cx="8890000" cy="635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ru-RU" sz="3200" b="1" dirty="0">
                <a:solidFill>
                  <a:srgbClr val="FFFFFF"/>
                </a:solidFill>
                <a:latin typeface="Arial" panose="020B0604020202020204" pitchFamily="34" charset="0"/>
                <a:ea typeface="Liter" pitchFamily="34" charset="-122"/>
                <a:cs typeface="Arial" panose="020B0604020202020204" pitchFamily="34" charset="0"/>
              </a:rPr>
              <a:t>О проекте</a:t>
            </a:r>
            <a:endParaRPr lang="en-US" sz="3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Text 3"/>
          <p:cNvSpPr/>
          <p:nvPr/>
        </p:nvSpPr>
        <p:spPr>
          <a:xfrm>
            <a:off x="762000" y="4699000"/>
            <a:ext cx="8890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600" dirty="0">
                <a:solidFill>
                  <a:srgbClr val="C0C5CE"/>
                </a:solidFill>
                <a:latin typeface="Arial" panose="020B0604020202020204" pitchFamily="34" charset="0"/>
                <a:ea typeface="Quattrocento Sans" pitchFamily="34" charset="-122"/>
                <a:cs typeface="Arial" panose="020B0604020202020204" pitchFamily="34" charset="0"/>
              </a:rPr>
              <a:t>Цели, задачи и технологический стек</a:t>
            </a:r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Shape 4"/>
          <p:cNvSpPr/>
          <p:nvPr/>
        </p:nvSpPr>
        <p:spPr>
          <a:xfrm>
            <a:off x="13335000" y="5080000"/>
            <a:ext cx="1905000" cy="1905000"/>
          </a:xfrm>
          <a:prstGeom prst="ellipse">
            <a:avLst/>
          </a:prstGeom>
          <a:solidFill>
            <a:srgbClr val="00ACC2">
              <a:alpha val="6275"/>
            </a:srgbClr>
          </a:solidFill>
          <a:ln w="12700">
            <a:solidFill>
              <a:srgbClr val="00ACC1"/>
            </a:solidFill>
            <a:prstDash val="solid"/>
          </a:ln>
        </p:spPr>
        <p:txBody>
          <a:bodyPr/>
          <a:lstStyle/>
          <a:p>
            <a:endParaRPr lang="ru-RU" sz="16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Shape 5"/>
          <p:cNvSpPr/>
          <p:nvPr/>
        </p:nvSpPr>
        <p:spPr>
          <a:xfrm>
            <a:off x="13970000" y="1270000"/>
            <a:ext cx="1016000" cy="1016000"/>
          </a:xfrm>
          <a:prstGeom prst="ellipse">
            <a:avLst/>
          </a:prstGeom>
          <a:solidFill>
            <a:srgbClr val="00ACC2">
              <a:alpha val="8235"/>
            </a:srgbClr>
          </a:solidFill>
          <a:ln w="12700">
            <a:solidFill>
              <a:srgbClr val="00ACC1"/>
            </a:solidFill>
            <a:prstDash val="solid"/>
          </a:ln>
        </p:spPr>
        <p:txBody>
          <a:bodyPr/>
          <a:lstStyle/>
          <a:p>
            <a:endParaRPr lang="ru-RU" sz="16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  <p:transition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0F2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256000" cy="508000"/>
          </a:xfrm>
          <a:prstGeom prst="rect">
            <a:avLst/>
          </a:prstGeom>
          <a:solidFill>
            <a:srgbClr val="1A1F3C"/>
          </a:solidFill>
          <a:ln/>
        </p:spPr>
        <p:txBody>
          <a:bodyPr/>
          <a:lstStyle/>
          <a:p>
            <a:endParaRPr lang="ru-R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0" y="0"/>
            <a:ext cx="4064000" cy="457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ru-RU" sz="1200" b="1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О проекте</a:t>
            </a:r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1397000" y="469900"/>
            <a:ext cx="1270000" cy="38100"/>
          </a:xfrm>
          <a:prstGeom prst="rect">
            <a:avLst/>
          </a:prstGeom>
          <a:solidFill>
            <a:srgbClr val="00ACC1"/>
          </a:solidFill>
          <a:ln/>
        </p:spPr>
        <p:txBody>
          <a:bodyPr/>
          <a:lstStyle/>
          <a:p>
            <a:endParaRPr lang="ru-R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Text 3"/>
          <p:cNvSpPr/>
          <p:nvPr/>
        </p:nvSpPr>
        <p:spPr>
          <a:xfrm>
            <a:off x="4064000" y="0"/>
            <a:ext cx="4064000" cy="508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ru-RU" sz="1200" dirty="0">
                <a:solidFill>
                  <a:srgbClr val="FFFFFF"/>
                </a:solidFill>
                <a:latin typeface="Arial" panose="020B0604020202020204" pitchFamily="34" charset="0"/>
                <a:ea typeface="Quattrocento Sans" pitchFamily="34" charset="-122"/>
                <a:cs typeface="Arial" panose="020B0604020202020204" pitchFamily="34" charset="0"/>
              </a:rPr>
              <a:t>Архитектура</a:t>
            </a:r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Text 4"/>
          <p:cNvSpPr/>
          <p:nvPr/>
        </p:nvSpPr>
        <p:spPr>
          <a:xfrm>
            <a:off x="8128000" y="0"/>
            <a:ext cx="4064000" cy="508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ru-RU" sz="1200" dirty="0">
                <a:solidFill>
                  <a:srgbClr val="FFFFFF"/>
                </a:solidFill>
                <a:latin typeface="Arial" panose="020B0604020202020204" pitchFamily="34" charset="0"/>
                <a:ea typeface="Quattrocento Sans" pitchFamily="34" charset="-122"/>
                <a:cs typeface="Arial" panose="020B0604020202020204" pitchFamily="34" charset="0"/>
              </a:rPr>
              <a:t>Функционал</a:t>
            </a:r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Text 5"/>
          <p:cNvSpPr/>
          <p:nvPr/>
        </p:nvSpPr>
        <p:spPr>
          <a:xfrm>
            <a:off x="12192000" y="0"/>
            <a:ext cx="4064000" cy="508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ru-RU" sz="1200" dirty="0">
                <a:solidFill>
                  <a:srgbClr val="FFFFFF"/>
                </a:solidFill>
                <a:latin typeface="Arial" panose="020B0604020202020204" pitchFamily="34" charset="0"/>
                <a:ea typeface="Quattrocento Sans" pitchFamily="34" charset="-122"/>
                <a:cs typeface="Arial" panose="020B0604020202020204" pitchFamily="34" charset="0"/>
              </a:rPr>
              <a:t>Документация</a:t>
            </a:r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Text 6"/>
          <p:cNvSpPr/>
          <p:nvPr/>
        </p:nvSpPr>
        <p:spPr>
          <a:xfrm>
            <a:off x="762000" y="698500"/>
            <a:ext cx="8890000" cy="482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ru-RU" sz="2800" b="1" dirty="0">
                <a:solidFill>
                  <a:srgbClr val="1A1F3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О проекте и цели</a:t>
            </a:r>
            <a:endParaRPr lang="en-US" sz="2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" name="Shape 7"/>
          <p:cNvSpPr/>
          <p:nvPr/>
        </p:nvSpPr>
        <p:spPr>
          <a:xfrm>
            <a:off x="762000" y="1206500"/>
            <a:ext cx="762000" cy="38100"/>
          </a:xfrm>
          <a:prstGeom prst="rect">
            <a:avLst/>
          </a:prstGeom>
          <a:solidFill>
            <a:srgbClr val="00ACC1"/>
          </a:solidFill>
          <a:ln/>
        </p:spPr>
        <p:txBody>
          <a:bodyPr/>
          <a:lstStyle/>
          <a:p>
            <a:endParaRPr lang="ru-R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762000" y="1524000"/>
            <a:ext cx="355600" cy="355600"/>
          </a:xfrm>
          <a:custGeom>
            <a:avLst/>
            <a:gdLst/>
            <a:ahLst/>
            <a:cxnLst/>
            <a:rect l="l" t="t" r="r" b="b"/>
            <a:pathLst>
              <a:path w="355600" h="355600">
                <a:moveTo>
                  <a:pt x="311150" y="177800"/>
                </a:moveTo>
                <a:cubicBezTo>
                  <a:pt x="311150" y="104202"/>
                  <a:pt x="251398" y="44450"/>
                  <a:pt x="177800" y="44450"/>
                </a:cubicBezTo>
                <a:cubicBezTo>
                  <a:pt x="104202" y="44450"/>
                  <a:pt x="44450" y="104202"/>
                  <a:pt x="44450" y="177800"/>
                </a:cubicBezTo>
                <a:cubicBezTo>
                  <a:pt x="44450" y="251398"/>
                  <a:pt x="104202" y="311150"/>
                  <a:pt x="177800" y="311150"/>
                </a:cubicBezTo>
                <a:cubicBezTo>
                  <a:pt x="251398" y="311150"/>
                  <a:pt x="311150" y="251398"/>
                  <a:pt x="311150" y="177800"/>
                </a:cubicBezTo>
                <a:close/>
                <a:moveTo>
                  <a:pt x="0" y="177800"/>
                </a:moveTo>
                <a:cubicBezTo>
                  <a:pt x="0" y="79670"/>
                  <a:pt x="79670" y="0"/>
                  <a:pt x="177800" y="0"/>
                </a:cubicBezTo>
                <a:cubicBezTo>
                  <a:pt x="275930" y="0"/>
                  <a:pt x="355600" y="79670"/>
                  <a:pt x="355600" y="177800"/>
                </a:cubicBezTo>
                <a:cubicBezTo>
                  <a:pt x="355600" y="275930"/>
                  <a:pt x="275930" y="355600"/>
                  <a:pt x="177800" y="355600"/>
                </a:cubicBezTo>
                <a:cubicBezTo>
                  <a:pt x="79670" y="355600"/>
                  <a:pt x="0" y="275930"/>
                  <a:pt x="0" y="177800"/>
                </a:cubicBezTo>
                <a:close/>
                <a:moveTo>
                  <a:pt x="177800" y="233363"/>
                </a:moveTo>
                <a:cubicBezTo>
                  <a:pt x="208466" y="233363"/>
                  <a:pt x="233363" y="208466"/>
                  <a:pt x="233363" y="177800"/>
                </a:cubicBezTo>
                <a:cubicBezTo>
                  <a:pt x="233363" y="147134"/>
                  <a:pt x="208466" y="122238"/>
                  <a:pt x="177800" y="122238"/>
                </a:cubicBezTo>
                <a:cubicBezTo>
                  <a:pt x="147134" y="122238"/>
                  <a:pt x="122238" y="147134"/>
                  <a:pt x="122238" y="177800"/>
                </a:cubicBezTo>
                <a:cubicBezTo>
                  <a:pt x="122238" y="208466"/>
                  <a:pt x="147134" y="233363"/>
                  <a:pt x="177800" y="233363"/>
                </a:cubicBezTo>
                <a:close/>
                <a:moveTo>
                  <a:pt x="177800" y="77788"/>
                </a:moveTo>
                <a:cubicBezTo>
                  <a:pt x="232998" y="77788"/>
                  <a:pt x="277813" y="122602"/>
                  <a:pt x="277813" y="177800"/>
                </a:cubicBezTo>
                <a:cubicBezTo>
                  <a:pt x="277813" y="232998"/>
                  <a:pt x="232998" y="277813"/>
                  <a:pt x="177800" y="277813"/>
                </a:cubicBezTo>
                <a:cubicBezTo>
                  <a:pt x="122602" y="277813"/>
                  <a:pt x="77788" y="232998"/>
                  <a:pt x="77788" y="177800"/>
                </a:cubicBezTo>
                <a:cubicBezTo>
                  <a:pt x="77788" y="122602"/>
                  <a:pt x="122602" y="77788"/>
                  <a:pt x="177800" y="77788"/>
                </a:cubicBezTo>
                <a:close/>
                <a:moveTo>
                  <a:pt x="155575" y="177800"/>
                </a:moveTo>
                <a:cubicBezTo>
                  <a:pt x="155575" y="165534"/>
                  <a:pt x="165534" y="155575"/>
                  <a:pt x="177800" y="155575"/>
                </a:cubicBezTo>
                <a:cubicBezTo>
                  <a:pt x="190066" y="155575"/>
                  <a:pt x="200025" y="165534"/>
                  <a:pt x="200025" y="177800"/>
                </a:cubicBezTo>
                <a:cubicBezTo>
                  <a:pt x="200025" y="190066"/>
                  <a:pt x="190066" y="200025"/>
                  <a:pt x="177800" y="200025"/>
                </a:cubicBezTo>
                <a:cubicBezTo>
                  <a:pt x="165534" y="200025"/>
                  <a:pt x="155575" y="190066"/>
                  <a:pt x="155575" y="177800"/>
                </a:cubicBezTo>
                <a:close/>
              </a:path>
            </a:pathLst>
          </a:custGeom>
          <a:solidFill>
            <a:srgbClr val="00ACC1"/>
          </a:solidFill>
          <a:ln/>
        </p:spPr>
        <p:txBody>
          <a:bodyPr/>
          <a:lstStyle/>
          <a:p>
            <a:endParaRPr lang="ru-R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" name="Text 9"/>
          <p:cNvSpPr/>
          <p:nvPr/>
        </p:nvSpPr>
        <p:spPr>
          <a:xfrm>
            <a:off x="1244600" y="1498600"/>
            <a:ext cx="3810000" cy="406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ru-RU" sz="2200" b="1" dirty="0">
                <a:solidFill>
                  <a:srgbClr val="1A1F3C"/>
                </a:solidFill>
                <a:latin typeface="Arial" panose="020B0604020202020204" pitchFamily="34" charset="0"/>
                <a:ea typeface="Liter" pitchFamily="34" charset="-122"/>
                <a:cs typeface="Arial" panose="020B0604020202020204" pitchFamily="34" charset="0"/>
              </a:rPr>
              <a:t>Цель проекта</a:t>
            </a:r>
            <a:endParaRPr lang="en-US" sz="2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762000" y="2006600"/>
            <a:ext cx="7112000" cy="88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50000"/>
              </a:lnSpc>
            </a:pPr>
            <a:r>
              <a:rPr lang="ru-RU" dirty="0">
                <a:solidFill>
                  <a:srgbClr val="2D3748"/>
                </a:solidFill>
                <a:latin typeface="Arial" panose="020B0604020202020204" pitchFamily="34" charset="0"/>
                <a:ea typeface="Quattrocento Sans" pitchFamily="34" charset="-122"/>
                <a:cs typeface="Arial" panose="020B0604020202020204" pitchFamily="34" charset="0"/>
              </a:rPr>
              <a:t>Автоматизировать процессы учёта активистов и взаимодействий с ними через удобное </a:t>
            </a:r>
            <a:r>
              <a:rPr lang="ru-RU" dirty="0" err="1">
                <a:solidFill>
                  <a:srgbClr val="2D3748"/>
                </a:solidFill>
                <a:latin typeface="Arial" panose="020B0604020202020204" pitchFamily="34" charset="0"/>
                <a:ea typeface="Quattrocento Sans" pitchFamily="34" charset="-122"/>
                <a:cs typeface="Arial" panose="020B0604020202020204" pitchFamily="34" charset="0"/>
              </a:rPr>
              <a:t>desktop</a:t>
            </a:r>
            <a:r>
              <a:rPr lang="ru-RU" dirty="0">
                <a:solidFill>
                  <a:srgbClr val="2D3748"/>
                </a:solidFill>
                <a:latin typeface="Arial" panose="020B0604020202020204" pitchFamily="34" charset="0"/>
                <a:ea typeface="Quattrocento Sans" pitchFamily="34" charset="-122"/>
                <a:cs typeface="Arial" panose="020B0604020202020204" pitchFamily="34" charset="0"/>
              </a:rPr>
              <a:t>-приложение</a:t>
            </a:r>
            <a:endParaRPr lang="en-US" sz="1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Shape 11"/>
          <p:cNvSpPr/>
          <p:nvPr/>
        </p:nvSpPr>
        <p:spPr>
          <a:xfrm>
            <a:off x="762000" y="3048000"/>
            <a:ext cx="355600" cy="355600"/>
          </a:xfrm>
          <a:custGeom>
            <a:avLst/>
            <a:gdLst/>
            <a:ahLst/>
            <a:cxnLst/>
            <a:rect l="l" t="t" r="r" b="b"/>
            <a:pathLst>
              <a:path w="355600" h="355600">
                <a:moveTo>
                  <a:pt x="92928" y="25211"/>
                </a:moveTo>
                <a:cubicBezTo>
                  <a:pt x="100499" y="30490"/>
                  <a:pt x="102304" y="40908"/>
                  <a:pt x="97026" y="48409"/>
                </a:cubicBezTo>
                <a:lnTo>
                  <a:pt x="58132" y="103971"/>
                </a:lnTo>
                <a:cubicBezTo>
                  <a:pt x="55285" y="108000"/>
                  <a:pt x="50840" y="110569"/>
                  <a:pt x="45909" y="110986"/>
                </a:cubicBezTo>
                <a:cubicBezTo>
                  <a:pt x="40977" y="111403"/>
                  <a:pt x="36116" y="109736"/>
                  <a:pt x="32643" y="106263"/>
                </a:cubicBezTo>
                <a:lnTo>
                  <a:pt x="4862" y="78482"/>
                </a:lnTo>
                <a:cubicBezTo>
                  <a:pt x="-1597" y="71953"/>
                  <a:pt x="-1597" y="61397"/>
                  <a:pt x="4862" y="54868"/>
                </a:cubicBezTo>
                <a:cubicBezTo>
                  <a:pt x="11321" y="48339"/>
                  <a:pt x="21947" y="48409"/>
                  <a:pt x="28476" y="54868"/>
                </a:cubicBezTo>
                <a:lnTo>
                  <a:pt x="42228" y="68620"/>
                </a:lnTo>
                <a:lnTo>
                  <a:pt x="69731" y="29309"/>
                </a:lnTo>
                <a:cubicBezTo>
                  <a:pt x="75009" y="21739"/>
                  <a:pt x="85427" y="19933"/>
                  <a:pt x="92928" y="25211"/>
                </a:cubicBezTo>
                <a:close/>
                <a:moveTo>
                  <a:pt x="92928" y="136336"/>
                </a:moveTo>
                <a:cubicBezTo>
                  <a:pt x="100499" y="141615"/>
                  <a:pt x="102304" y="152033"/>
                  <a:pt x="97026" y="159534"/>
                </a:cubicBezTo>
                <a:lnTo>
                  <a:pt x="58132" y="215096"/>
                </a:lnTo>
                <a:cubicBezTo>
                  <a:pt x="55285" y="219125"/>
                  <a:pt x="50840" y="221694"/>
                  <a:pt x="45909" y="222111"/>
                </a:cubicBezTo>
                <a:cubicBezTo>
                  <a:pt x="40977" y="222528"/>
                  <a:pt x="36116" y="220861"/>
                  <a:pt x="32643" y="217388"/>
                </a:cubicBezTo>
                <a:lnTo>
                  <a:pt x="4862" y="189607"/>
                </a:lnTo>
                <a:cubicBezTo>
                  <a:pt x="-1667" y="183078"/>
                  <a:pt x="-1667" y="172522"/>
                  <a:pt x="4862" y="166062"/>
                </a:cubicBezTo>
                <a:cubicBezTo>
                  <a:pt x="11390" y="159603"/>
                  <a:pt x="21947" y="159534"/>
                  <a:pt x="28406" y="166062"/>
                </a:cubicBezTo>
                <a:lnTo>
                  <a:pt x="42158" y="179814"/>
                </a:lnTo>
                <a:lnTo>
                  <a:pt x="69661" y="140504"/>
                </a:lnTo>
                <a:cubicBezTo>
                  <a:pt x="74940" y="132933"/>
                  <a:pt x="85358" y="131128"/>
                  <a:pt x="92859" y="136406"/>
                </a:cubicBezTo>
                <a:close/>
                <a:moveTo>
                  <a:pt x="155575" y="66675"/>
                </a:moveTo>
                <a:cubicBezTo>
                  <a:pt x="155575" y="54382"/>
                  <a:pt x="165507" y="44450"/>
                  <a:pt x="177800" y="44450"/>
                </a:cubicBezTo>
                <a:lnTo>
                  <a:pt x="333375" y="44450"/>
                </a:lnTo>
                <a:cubicBezTo>
                  <a:pt x="345668" y="44450"/>
                  <a:pt x="355600" y="54382"/>
                  <a:pt x="355600" y="66675"/>
                </a:cubicBezTo>
                <a:cubicBezTo>
                  <a:pt x="355600" y="78968"/>
                  <a:pt x="345668" y="88900"/>
                  <a:pt x="333375" y="88900"/>
                </a:cubicBezTo>
                <a:lnTo>
                  <a:pt x="177800" y="88900"/>
                </a:lnTo>
                <a:cubicBezTo>
                  <a:pt x="165507" y="88900"/>
                  <a:pt x="155575" y="78968"/>
                  <a:pt x="155575" y="66675"/>
                </a:cubicBezTo>
                <a:close/>
                <a:moveTo>
                  <a:pt x="155575" y="177800"/>
                </a:moveTo>
                <a:cubicBezTo>
                  <a:pt x="155575" y="165507"/>
                  <a:pt x="165507" y="155575"/>
                  <a:pt x="177800" y="155575"/>
                </a:cubicBezTo>
                <a:lnTo>
                  <a:pt x="333375" y="155575"/>
                </a:lnTo>
                <a:cubicBezTo>
                  <a:pt x="345668" y="155575"/>
                  <a:pt x="355600" y="165507"/>
                  <a:pt x="355600" y="177800"/>
                </a:cubicBezTo>
                <a:cubicBezTo>
                  <a:pt x="355600" y="190093"/>
                  <a:pt x="345668" y="200025"/>
                  <a:pt x="333375" y="200025"/>
                </a:cubicBezTo>
                <a:lnTo>
                  <a:pt x="177800" y="200025"/>
                </a:lnTo>
                <a:cubicBezTo>
                  <a:pt x="165507" y="200025"/>
                  <a:pt x="155575" y="190093"/>
                  <a:pt x="155575" y="177800"/>
                </a:cubicBezTo>
                <a:close/>
                <a:moveTo>
                  <a:pt x="111125" y="288925"/>
                </a:moveTo>
                <a:cubicBezTo>
                  <a:pt x="111125" y="276632"/>
                  <a:pt x="121057" y="266700"/>
                  <a:pt x="133350" y="266700"/>
                </a:cubicBezTo>
                <a:lnTo>
                  <a:pt x="333375" y="266700"/>
                </a:lnTo>
                <a:cubicBezTo>
                  <a:pt x="345668" y="266700"/>
                  <a:pt x="355600" y="276632"/>
                  <a:pt x="355600" y="288925"/>
                </a:cubicBezTo>
                <a:cubicBezTo>
                  <a:pt x="355600" y="301218"/>
                  <a:pt x="345668" y="311150"/>
                  <a:pt x="333375" y="311150"/>
                </a:cubicBezTo>
                <a:lnTo>
                  <a:pt x="133350" y="311150"/>
                </a:lnTo>
                <a:cubicBezTo>
                  <a:pt x="121057" y="311150"/>
                  <a:pt x="111125" y="301218"/>
                  <a:pt x="111125" y="288925"/>
                </a:cubicBezTo>
                <a:close/>
                <a:moveTo>
                  <a:pt x="44450" y="261144"/>
                </a:moveTo>
                <a:cubicBezTo>
                  <a:pt x="59783" y="261144"/>
                  <a:pt x="72231" y="273592"/>
                  <a:pt x="72231" y="288925"/>
                </a:cubicBezTo>
                <a:cubicBezTo>
                  <a:pt x="72231" y="304258"/>
                  <a:pt x="59783" y="316706"/>
                  <a:pt x="44450" y="316706"/>
                </a:cubicBezTo>
                <a:cubicBezTo>
                  <a:pt x="29117" y="316706"/>
                  <a:pt x="16669" y="304258"/>
                  <a:pt x="16669" y="288925"/>
                </a:cubicBezTo>
                <a:cubicBezTo>
                  <a:pt x="16669" y="273592"/>
                  <a:pt x="29117" y="261144"/>
                  <a:pt x="44450" y="261144"/>
                </a:cubicBezTo>
                <a:close/>
              </a:path>
            </a:pathLst>
          </a:custGeom>
          <a:solidFill>
            <a:srgbClr val="00ACC1"/>
          </a:solidFill>
          <a:ln/>
        </p:spPr>
        <p:txBody>
          <a:bodyPr/>
          <a:lstStyle/>
          <a:p>
            <a:endParaRPr lang="ru-R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1244600" y="3022600"/>
            <a:ext cx="3810000" cy="406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ru-RU" sz="2200" b="1" dirty="0">
                <a:solidFill>
                  <a:srgbClr val="1A1F3C"/>
                </a:solidFill>
                <a:latin typeface="Arial" panose="020B0604020202020204" pitchFamily="34" charset="0"/>
                <a:ea typeface="Liter" pitchFamily="34" charset="-122"/>
                <a:cs typeface="Arial" panose="020B0604020202020204" pitchFamily="34" charset="0"/>
              </a:rPr>
              <a:t>Задачи</a:t>
            </a:r>
            <a:endParaRPr lang="en-US" sz="2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762000" y="3530600"/>
            <a:ext cx="7112000" cy="495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85750" indent="-285750">
              <a:lnSpc>
                <a:spcPct val="150000"/>
              </a:lnSpc>
              <a:spcBef>
                <a:spcPts val="10"/>
              </a:spcBef>
              <a:buSzPct val="100000"/>
              <a:buChar char="•"/>
            </a:pPr>
            <a:r>
              <a:rPr lang="ru-RU" dirty="0">
                <a:solidFill>
                  <a:srgbClr val="2D3748"/>
                </a:solidFill>
                <a:latin typeface="Arial" panose="020B0604020202020204" pitchFamily="34" charset="0"/>
                <a:ea typeface="Quattrocento Sans" pitchFamily="34" charset="-122"/>
                <a:cs typeface="Arial" panose="020B0604020202020204" pitchFamily="34" charset="0"/>
              </a:rPr>
              <a:t>Создать удобный интерфейс для работы с персональными данными</a:t>
            </a:r>
          </a:p>
          <a:p>
            <a:pPr marL="285750" indent="-285750">
              <a:lnSpc>
                <a:spcPct val="150000"/>
              </a:lnSpc>
              <a:spcBef>
                <a:spcPts val="10"/>
              </a:spcBef>
              <a:buSzPct val="100000"/>
              <a:buChar char="•"/>
            </a:pPr>
            <a:r>
              <a:rPr lang="ru-RU" dirty="0">
                <a:solidFill>
                  <a:srgbClr val="2D3748"/>
                </a:solidFill>
                <a:latin typeface="Arial" panose="020B0604020202020204" pitchFamily="34" charset="0"/>
                <a:ea typeface="Quattrocento Sans" pitchFamily="34" charset="-122"/>
                <a:cs typeface="Arial" panose="020B0604020202020204" pitchFamily="34" charset="0"/>
              </a:rPr>
              <a:t>Реализовать управление ячейками и участием активистов</a:t>
            </a:r>
          </a:p>
          <a:p>
            <a:pPr marL="285750" indent="-285750">
              <a:lnSpc>
                <a:spcPct val="150000"/>
              </a:lnSpc>
              <a:spcBef>
                <a:spcPts val="10"/>
              </a:spcBef>
              <a:buSzPct val="100000"/>
              <a:buChar char="•"/>
            </a:pPr>
            <a:r>
              <a:rPr lang="ru-RU" dirty="0">
                <a:solidFill>
                  <a:srgbClr val="2D3748"/>
                </a:solidFill>
                <a:latin typeface="Arial" panose="020B0604020202020204" pitchFamily="34" charset="0"/>
                <a:ea typeface="Quattrocento Sans" pitchFamily="34" charset="-122"/>
                <a:cs typeface="Arial" panose="020B0604020202020204" pitchFamily="34" charset="0"/>
              </a:rPr>
              <a:t>Обеспечить импорт данных из Excel с проверкой качества</a:t>
            </a:r>
          </a:p>
          <a:p>
            <a:pPr marL="285750" indent="-285750">
              <a:lnSpc>
                <a:spcPct val="150000"/>
              </a:lnSpc>
              <a:spcBef>
                <a:spcPts val="10"/>
              </a:spcBef>
              <a:buSzPct val="100000"/>
              <a:buChar char="•"/>
            </a:pPr>
            <a:r>
              <a:rPr lang="ru-RU" dirty="0">
                <a:solidFill>
                  <a:srgbClr val="2D3748"/>
                </a:solidFill>
                <a:latin typeface="Arial" panose="020B0604020202020204" pitchFamily="34" charset="0"/>
                <a:ea typeface="Quattrocento Sans" pitchFamily="34" charset="-122"/>
                <a:cs typeface="Arial" panose="020B0604020202020204" pitchFamily="34" charset="0"/>
              </a:rPr>
              <a:t>Реализовать разграничение прав и безопасное хранение паролей</a:t>
            </a:r>
          </a:p>
          <a:p>
            <a:pPr marL="285750" indent="-285750">
              <a:lnSpc>
                <a:spcPct val="150000"/>
              </a:lnSpc>
              <a:spcBef>
                <a:spcPts val="10"/>
              </a:spcBef>
              <a:buSzPct val="100000"/>
              <a:buChar char="•"/>
            </a:pPr>
            <a:r>
              <a:rPr lang="ru-RU" dirty="0">
                <a:solidFill>
                  <a:srgbClr val="2D3748"/>
                </a:solidFill>
                <a:latin typeface="Arial" panose="020B0604020202020204" pitchFamily="34" charset="0"/>
                <a:ea typeface="Quattrocento Sans" pitchFamily="34" charset="-122"/>
                <a:cs typeface="Arial" panose="020B0604020202020204" pitchFamily="34" charset="0"/>
              </a:rPr>
              <a:t>Подготовить документацию пользования</a:t>
            </a:r>
          </a:p>
          <a:p>
            <a:pPr marL="285750" indent="-285750">
              <a:lnSpc>
                <a:spcPct val="150000"/>
              </a:lnSpc>
              <a:spcBef>
                <a:spcPts val="10"/>
              </a:spcBef>
              <a:buSzPct val="100000"/>
              <a:buChar char="•"/>
            </a:pPr>
            <a:r>
              <a:rPr lang="ru-RU" dirty="0">
                <a:solidFill>
                  <a:srgbClr val="2D3748"/>
                </a:solidFill>
                <a:latin typeface="Arial" panose="020B0604020202020204" pitchFamily="34" charset="0"/>
                <a:ea typeface="Quattrocento Sans" pitchFamily="34" charset="-122"/>
                <a:cs typeface="Arial" panose="020B0604020202020204" pitchFamily="34" charset="0"/>
              </a:rPr>
              <a:t>Построить </a:t>
            </a:r>
            <a:r>
              <a:rPr lang="en-US" dirty="0">
                <a:solidFill>
                  <a:srgbClr val="2D3748"/>
                </a:solidFill>
                <a:latin typeface="Arial" panose="020B0604020202020204" pitchFamily="34" charset="0"/>
                <a:ea typeface="Quattrocento Sans" pitchFamily="34" charset="-122"/>
                <a:cs typeface="Arial" panose="020B0604020202020204" pitchFamily="34" charset="0"/>
              </a:rPr>
              <a:t>UML-</a:t>
            </a:r>
            <a:r>
              <a:rPr lang="ru-RU" dirty="0">
                <a:solidFill>
                  <a:srgbClr val="2D3748"/>
                </a:solidFill>
                <a:latin typeface="Arial" panose="020B0604020202020204" pitchFamily="34" charset="0"/>
                <a:ea typeface="Quattrocento Sans" pitchFamily="34" charset="-122"/>
                <a:cs typeface="Arial" panose="020B0604020202020204" pitchFamily="34" charset="0"/>
              </a:rPr>
              <a:t>диаграммы архитектуры системы</a:t>
            </a:r>
            <a:endParaRPr lang="en-US" sz="1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8382000" y="1524000"/>
            <a:ext cx="7112000" cy="6248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  <a:effectLst>
            <a:outerShdw blurRad="152400" dist="38100" dir="5400000" algn="bl" rotWithShape="0">
              <a:srgbClr val="000000">
                <a:alpha val="8235"/>
              </a:srgbClr>
            </a:outerShdw>
          </a:effectLst>
        </p:spPr>
        <p:txBody>
          <a:bodyPr/>
          <a:lstStyle/>
          <a:p>
            <a:endParaRPr lang="ru-R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8763000" y="1778000"/>
            <a:ext cx="6350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ru-RU" sz="2200" b="1" dirty="0">
                <a:solidFill>
                  <a:srgbClr val="1A1F3C"/>
                </a:solidFill>
                <a:latin typeface="Arial" panose="020B0604020202020204" pitchFamily="34" charset="0"/>
                <a:ea typeface="Liter" pitchFamily="34" charset="-122"/>
                <a:cs typeface="Arial" panose="020B0604020202020204" pitchFamily="34" charset="0"/>
              </a:rPr>
              <a:t>Описание приложения</a:t>
            </a:r>
            <a:endParaRPr lang="en-US" sz="2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8763000" y="2222500"/>
            <a:ext cx="508000" cy="25400"/>
          </a:xfrm>
          <a:prstGeom prst="rect">
            <a:avLst/>
          </a:prstGeom>
          <a:solidFill>
            <a:srgbClr val="00ACC1"/>
          </a:solidFill>
          <a:ln/>
        </p:spPr>
        <p:txBody>
          <a:bodyPr/>
          <a:lstStyle/>
          <a:p>
            <a:endParaRPr lang="ru-R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8763000" y="2413000"/>
            <a:ext cx="6098628" cy="41731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60000"/>
              </a:lnSpc>
            </a:pPr>
            <a:r>
              <a:rPr lang="ru-RU" sz="1600" b="1" dirty="0">
                <a:solidFill>
                  <a:srgbClr val="2D3748"/>
                </a:solidFill>
                <a:latin typeface="Arial" panose="020B0604020202020204" pitchFamily="34" charset="0"/>
                <a:ea typeface="Quattrocento Sans" pitchFamily="34" charset="-122"/>
                <a:cs typeface="Arial" panose="020B0604020202020204" pitchFamily="34" charset="0"/>
              </a:rPr>
              <a:t>Desktop-приложение</a:t>
            </a:r>
            <a:r>
              <a:rPr lang="ru-RU" sz="1600" dirty="0">
                <a:solidFill>
                  <a:srgbClr val="2D3748"/>
                </a:solidFill>
                <a:latin typeface="Arial" panose="020B0604020202020204" pitchFamily="34" charset="0"/>
                <a:ea typeface="Quattrocento Sans" pitchFamily="34" charset="-122"/>
                <a:cs typeface="Arial" panose="020B0604020202020204" pitchFamily="34" charset="0"/>
              </a:rPr>
              <a:t> на C# / .NET 8 / WPF для Windows</a:t>
            </a:r>
          </a:p>
          <a:p>
            <a:pPr>
              <a:lnSpc>
                <a:spcPct val="160000"/>
              </a:lnSpc>
            </a:pPr>
            <a:r>
              <a:rPr lang="ru-RU" sz="1600" dirty="0">
                <a:solidFill>
                  <a:srgbClr val="2D3748"/>
                </a:solidFill>
                <a:latin typeface="Arial" panose="020B0604020202020204" pitchFamily="34" charset="0"/>
                <a:ea typeface="Quattrocento Sans" pitchFamily="34" charset="-122"/>
                <a:cs typeface="Arial" panose="020B0604020202020204" pitchFamily="34" charset="0"/>
              </a:rPr>
              <a:t>Предназначено для учёта активистов, ячеек (групп), контактов и пользователей</a:t>
            </a:r>
          </a:p>
          <a:p>
            <a:pPr>
              <a:lnSpc>
                <a:spcPct val="160000"/>
              </a:lnSpc>
            </a:pPr>
            <a:r>
              <a:rPr lang="ru-RU" sz="1600" dirty="0">
                <a:solidFill>
                  <a:srgbClr val="2D3748"/>
                </a:solidFill>
                <a:latin typeface="Arial" panose="020B0604020202020204" pitchFamily="34" charset="0"/>
                <a:ea typeface="Quattrocento Sans" pitchFamily="34" charset="-122"/>
                <a:cs typeface="Arial" panose="020B0604020202020204" pitchFamily="34" charset="0"/>
              </a:rPr>
              <a:t>Работает с </a:t>
            </a:r>
            <a:r>
              <a:rPr lang="ru-RU" sz="1600" b="1" dirty="0">
                <a:solidFill>
                  <a:srgbClr val="2D3748"/>
                </a:solidFill>
                <a:latin typeface="Arial" panose="020B0604020202020204" pitchFamily="34" charset="0"/>
                <a:ea typeface="Quattrocento Sans" pitchFamily="34" charset="-122"/>
                <a:cs typeface="Arial" panose="020B0604020202020204" pitchFamily="34" charset="0"/>
              </a:rPr>
              <a:t>Microsoft SQL Server</a:t>
            </a:r>
            <a:r>
              <a:rPr lang="ru-RU" sz="1600" dirty="0">
                <a:solidFill>
                  <a:srgbClr val="2D3748"/>
                </a:solidFill>
                <a:latin typeface="Arial" panose="020B0604020202020204" pitchFamily="34" charset="0"/>
                <a:ea typeface="Quattrocento Sans" pitchFamily="34" charset="-122"/>
                <a:cs typeface="Arial" panose="020B0604020202020204" pitchFamily="34" charset="0"/>
              </a:rPr>
              <a:t> через </a:t>
            </a:r>
            <a:r>
              <a:rPr lang="ru-RU" sz="1600" dirty="0" err="1">
                <a:solidFill>
                  <a:srgbClr val="2D3748"/>
                </a:solidFill>
                <a:latin typeface="Arial" panose="020B0604020202020204" pitchFamily="34" charset="0"/>
                <a:ea typeface="Quattrocento Sans" pitchFamily="34" charset="-122"/>
                <a:cs typeface="Arial" panose="020B0604020202020204" pitchFamily="34" charset="0"/>
              </a:rPr>
              <a:t>Entity</a:t>
            </a:r>
            <a:r>
              <a:rPr lang="ru-RU" sz="1600" dirty="0">
                <a:solidFill>
                  <a:srgbClr val="2D3748"/>
                </a:solidFill>
                <a:latin typeface="Arial" panose="020B0604020202020204" pitchFamily="34" charset="0"/>
                <a:ea typeface="Quattrocento Sans" pitchFamily="34" charset="-122"/>
                <a:cs typeface="Arial" panose="020B0604020202020204" pitchFamily="34" charset="0"/>
              </a:rPr>
              <a:t> Framework Core 8</a:t>
            </a:r>
          </a:p>
          <a:p>
            <a:pPr>
              <a:lnSpc>
                <a:spcPct val="160000"/>
              </a:lnSpc>
            </a:pPr>
            <a:r>
              <a:rPr lang="ru-RU" sz="1600" dirty="0">
                <a:solidFill>
                  <a:srgbClr val="2D3748"/>
                </a:solidFill>
                <a:latin typeface="Arial" panose="020B0604020202020204" pitchFamily="34" charset="0"/>
                <a:ea typeface="Quattrocento Sans" pitchFamily="34" charset="-122"/>
                <a:cs typeface="Arial" panose="020B0604020202020204" pitchFamily="34" charset="0"/>
              </a:rPr>
              <a:t>Поддерживает импорт и экспорт данных в </a:t>
            </a:r>
            <a:r>
              <a:rPr lang="ru-RU" sz="1600" b="1" dirty="0">
                <a:solidFill>
                  <a:srgbClr val="2D3748"/>
                </a:solidFill>
                <a:latin typeface="Arial" panose="020B0604020202020204" pitchFamily="34" charset="0"/>
                <a:ea typeface="Quattrocento Sans" pitchFamily="34" charset="-122"/>
                <a:cs typeface="Arial" panose="020B0604020202020204" pitchFamily="34" charset="0"/>
              </a:rPr>
              <a:t>Excel</a:t>
            </a:r>
            <a:r>
              <a:rPr lang="ru-RU" sz="1600" dirty="0">
                <a:solidFill>
                  <a:srgbClr val="2D3748"/>
                </a:solidFill>
                <a:latin typeface="Arial" panose="020B0604020202020204" pitchFamily="34" charset="0"/>
                <a:ea typeface="Quattrocento Sans" pitchFamily="34" charset="-122"/>
                <a:cs typeface="Arial" panose="020B0604020202020204" pitchFamily="34" charset="0"/>
              </a:rPr>
              <a:t> (</a:t>
            </a:r>
            <a:r>
              <a:rPr lang="ru-RU" sz="1600" dirty="0" err="1">
                <a:solidFill>
                  <a:srgbClr val="2D3748"/>
                </a:solidFill>
                <a:latin typeface="Arial" panose="020B0604020202020204" pitchFamily="34" charset="0"/>
                <a:ea typeface="Quattrocento Sans" pitchFamily="34" charset="-122"/>
                <a:cs typeface="Arial" panose="020B0604020202020204" pitchFamily="34" charset="0"/>
              </a:rPr>
              <a:t>EPPlus</a:t>
            </a:r>
            <a:r>
              <a:rPr lang="ru-RU" sz="1600" dirty="0">
                <a:solidFill>
                  <a:srgbClr val="2D3748"/>
                </a:solidFill>
                <a:latin typeface="Arial" panose="020B0604020202020204" pitchFamily="34" charset="0"/>
                <a:ea typeface="Quattrocento Sans" pitchFamily="34" charset="-122"/>
                <a:cs typeface="Arial" panose="020B0604020202020204" pitchFamily="34" charset="0"/>
              </a:rPr>
              <a:t>)</a:t>
            </a:r>
          </a:p>
          <a:p>
            <a:pPr>
              <a:lnSpc>
                <a:spcPct val="160000"/>
              </a:lnSpc>
            </a:pPr>
            <a:r>
              <a:rPr lang="ru-RU" sz="1600" dirty="0">
                <a:solidFill>
                  <a:srgbClr val="2D3748"/>
                </a:solidFill>
                <a:latin typeface="Arial" panose="020B0604020202020204" pitchFamily="34" charset="0"/>
                <a:ea typeface="Quattrocento Sans" pitchFamily="34" charset="-122"/>
                <a:cs typeface="Arial" panose="020B0604020202020204" pitchFamily="34" charset="0"/>
              </a:rPr>
              <a:t>Современный интерфейс в стиле </a:t>
            </a:r>
            <a:r>
              <a:rPr lang="ru-RU" sz="1600" b="1" dirty="0" err="1">
                <a:solidFill>
                  <a:srgbClr val="2D3748"/>
                </a:solidFill>
                <a:latin typeface="Arial" panose="020B0604020202020204" pitchFamily="34" charset="0"/>
                <a:ea typeface="Quattrocento Sans" pitchFamily="34" charset="-122"/>
                <a:cs typeface="Arial" panose="020B0604020202020204" pitchFamily="34" charset="0"/>
              </a:rPr>
              <a:t>Material</a:t>
            </a:r>
            <a:r>
              <a:rPr lang="ru-RU" sz="1600" b="1" dirty="0">
                <a:solidFill>
                  <a:srgbClr val="2D3748"/>
                </a:solidFill>
                <a:latin typeface="Arial" panose="020B0604020202020204" pitchFamily="34" charset="0"/>
                <a:ea typeface="Quattrocento Sans" pitchFamily="34" charset="-122"/>
                <a:cs typeface="Arial" panose="020B0604020202020204" pitchFamily="34" charset="0"/>
              </a:rPr>
              <a:t> Design</a:t>
            </a:r>
          </a:p>
          <a:p>
            <a:pPr>
              <a:lnSpc>
                <a:spcPct val="160000"/>
              </a:lnSpc>
            </a:pPr>
            <a:r>
              <a:rPr lang="ru-RU" sz="1600" dirty="0">
                <a:solidFill>
                  <a:srgbClr val="2D3748"/>
                </a:solidFill>
                <a:latin typeface="Arial" panose="020B0604020202020204" pitchFamily="34" charset="0"/>
                <a:ea typeface="Quattrocento Sans" pitchFamily="34" charset="-122"/>
                <a:cs typeface="Arial" panose="020B0604020202020204" pitchFamily="34" charset="0"/>
              </a:rPr>
              <a:t>Разграничение прав доступа: администратор и пользователь</a:t>
            </a:r>
          </a:p>
          <a:p>
            <a:pPr>
              <a:lnSpc>
                <a:spcPct val="160000"/>
              </a:lnSpc>
            </a:pPr>
            <a:r>
              <a:rPr lang="ru-RU" sz="1600" dirty="0">
                <a:solidFill>
                  <a:srgbClr val="2D3748"/>
                </a:solidFill>
                <a:latin typeface="Arial" panose="020B0604020202020204" pitchFamily="34" charset="0"/>
                <a:ea typeface="Quattrocento Sans" pitchFamily="34" charset="-122"/>
                <a:cs typeface="Arial" panose="020B0604020202020204" pitchFamily="34" charset="0"/>
              </a:rPr>
              <a:t>Сформирована документация пользования</a:t>
            </a:r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  <p:transition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0F2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256000" cy="508000"/>
          </a:xfrm>
          <a:prstGeom prst="rect">
            <a:avLst/>
          </a:prstGeom>
          <a:solidFill>
            <a:srgbClr val="1A1F3C"/>
          </a:solidFill>
          <a:ln/>
        </p:spPr>
        <p:txBody>
          <a:bodyPr/>
          <a:lstStyle/>
          <a:p>
            <a:endParaRPr lang="ru-R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0" y="0"/>
            <a:ext cx="4064000" cy="457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ru-RU" sz="1200" b="1" dirty="0">
                <a:solidFill>
                  <a:srgbClr val="FFFFFF"/>
                </a:solidFill>
                <a:latin typeface="Arial" panose="020B0604020202020204" pitchFamily="34" charset="0"/>
                <a:ea typeface="Quattrocento Sans" pitchFamily="34" charset="-122"/>
                <a:cs typeface="Arial" panose="020B0604020202020204" pitchFamily="34" charset="0"/>
              </a:rPr>
              <a:t>О проекте</a:t>
            </a:r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1397000" y="469900"/>
            <a:ext cx="1270000" cy="38100"/>
          </a:xfrm>
          <a:prstGeom prst="rect">
            <a:avLst/>
          </a:prstGeom>
          <a:solidFill>
            <a:srgbClr val="00ACC1"/>
          </a:solidFill>
          <a:ln/>
        </p:spPr>
        <p:txBody>
          <a:bodyPr/>
          <a:lstStyle/>
          <a:p>
            <a:endParaRPr lang="ru-R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Text 3"/>
          <p:cNvSpPr/>
          <p:nvPr/>
        </p:nvSpPr>
        <p:spPr>
          <a:xfrm>
            <a:off x="4064000" y="0"/>
            <a:ext cx="4064000" cy="508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ru-RU" sz="1200" dirty="0">
                <a:solidFill>
                  <a:srgbClr val="FFFFFF"/>
                </a:solidFill>
                <a:latin typeface="Arial" panose="020B0604020202020204" pitchFamily="34" charset="0"/>
                <a:ea typeface="Quattrocento Sans" pitchFamily="34" charset="-122"/>
                <a:cs typeface="Arial" panose="020B0604020202020204" pitchFamily="34" charset="0"/>
              </a:rPr>
              <a:t>Архитектура</a:t>
            </a:r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Text 4"/>
          <p:cNvSpPr/>
          <p:nvPr/>
        </p:nvSpPr>
        <p:spPr>
          <a:xfrm>
            <a:off x="8128000" y="0"/>
            <a:ext cx="4064000" cy="508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ru-RU" sz="1200" dirty="0">
                <a:solidFill>
                  <a:srgbClr val="FFFFFF"/>
                </a:solidFill>
                <a:latin typeface="Arial" panose="020B0604020202020204" pitchFamily="34" charset="0"/>
                <a:ea typeface="Quattrocento Sans" pitchFamily="34" charset="-122"/>
                <a:cs typeface="Arial" panose="020B0604020202020204" pitchFamily="34" charset="0"/>
              </a:rPr>
              <a:t>Функционал</a:t>
            </a:r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Text 5"/>
          <p:cNvSpPr/>
          <p:nvPr/>
        </p:nvSpPr>
        <p:spPr>
          <a:xfrm>
            <a:off x="12192000" y="0"/>
            <a:ext cx="4064000" cy="508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ru-RU" sz="1200" dirty="0">
                <a:solidFill>
                  <a:srgbClr val="FFFFFF"/>
                </a:solidFill>
                <a:latin typeface="Arial" panose="020B0604020202020204" pitchFamily="34" charset="0"/>
                <a:ea typeface="Quattrocento Sans" pitchFamily="34" charset="-122"/>
                <a:cs typeface="Arial" panose="020B0604020202020204" pitchFamily="34" charset="0"/>
              </a:rPr>
              <a:t>Документация</a:t>
            </a:r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Text 6"/>
          <p:cNvSpPr/>
          <p:nvPr/>
        </p:nvSpPr>
        <p:spPr>
          <a:xfrm>
            <a:off x="762000" y="698500"/>
            <a:ext cx="8890000" cy="482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ru-RU" sz="2800" b="1" dirty="0">
                <a:solidFill>
                  <a:srgbClr val="1A1F3C"/>
                </a:solidFill>
                <a:latin typeface="Arial" panose="020B0604020202020204" pitchFamily="34" charset="0"/>
                <a:ea typeface="Liter" pitchFamily="34" charset="-122"/>
                <a:cs typeface="Arial" panose="020B0604020202020204" pitchFamily="34" charset="0"/>
              </a:rPr>
              <a:t>Стек технологий</a:t>
            </a:r>
            <a:endParaRPr lang="en-US" sz="2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" name="Shape 7"/>
          <p:cNvSpPr/>
          <p:nvPr/>
        </p:nvSpPr>
        <p:spPr>
          <a:xfrm>
            <a:off x="762000" y="1206500"/>
            <a:ext cx="762000" cy="38100"/>
          </a:xfrm>
          <a:prstGeom prst="rect">
            <a:avLst/>
          </a:prstGeom>
          <a:solidFill>
            <a:srgbClr val="00ACC1"/>
          </a:solidFill>
          <a:ln/>
        </p:spPr>
        <p:txBody>
          <a:bodyPr/>
          <a:lstStyle/>
          <a:p>
            <a:endParaRPr lang="ru-R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21437083"/>
              </p:ext>
            </p:extLst>
          </p:nvPr>
        </p:nvGraphicFramePr>
        <p:xfrm>
          <a:off x="762000" y="1524000"/>
          <a:ext cx="14732000" cy="6985000"/>
        </p:xfrm>
        <a:graphic>
          <a:graphicData uri="http://schemas.openxmlformats.org/drawingml/2006/table">
            <a:tbl>
              <a:tblPr/>
              <a:tblGrid>
                <a:gridCol w="3683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156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892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98500">
                <a:tc>
                  <a:txBody>
                    <a:bodyPr/>
                    <a:lstStyle/>
                    <a:p>
                      <a:pPr algn="ctr"/>
                      <a:r>
                        <a:rPr lang="ru-RU" sz="1600" b="1" dirty="0">
                          <a:solidFill>
                            <a:srgbClr val="FFFFFF"/>
                          </a:solidFill>
                          <a:latin typeface="Arial" panose="020B0604020202020204" pitchFamily="34" charset="0"/>
                          <a:ea typeface="Quattrocento Sans" charset="0"/>
                          <a:cs typeface="Arial" panose="020B0604020202020204" pitchFamily="34" charset="0"/>
                        </a:rPr>
                        <a:t>Компонент</a:t>
                      </a:r>
                      <a:endParaRPr lang="en-US" sz="1600" dirty="0">
                        <a:latin typeface="Arial" panose="020B0604020202020204" pitchFamily="34" charset="0"/>
                        <a:ea typeface="Quattrocento Sans" charset="0"/>
                        <a:cs typeface="Arial" panose="020B0604020202020204" pitchFamily="34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F3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600" b="1" dirty="0">
                          <a:solidFill>
                            <a:srgbClr val="FFFFFF"/>
                          </a:solidFill>
                          <a:latin typeface="Arial" panose="020B0604020202020204" pitchFamily="34" charset="0"/>
                          <a:ea typeface="Quattrocento Sans" pitchFamily="34" charset="-122"/>
                          <a:cs typeface="Arial" panose="020B0604020202020204" pitchFamily="34" charset="0"/>
                        </a:rPr>
                        <a:t>Технология</a:t>
                      </a:r>
                      <a:endParaRPr lang="en-US" sz="1600" dirty="0">
                        <a:latin typeface="Arial" panose="020B0604020202020204" pitchFamily="34" charset="0"/>
                        <a:ea typeface="Quattrocento Sans" charset="0"/>
                        <a:cs typeface="Arial" panose="020B0604020202020204" pitchFamily="34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F3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600" b="1" dirty="0">
                          <a:solidFill>
                            <a:srgbClr val="FFFFFF"/>
                          </a:solidFill>
                          <a:latin typeface="Arial" panose="020B0604020202020204" pitchFamily="34" charset="0"/>
                          <a:ea typeface="Quattrocento Sans" pitchFamily="34" charset="-122"/>
                          <a:cs typeface="Arial" panose="020B0604020202020204" pitchFamily="34" charset="0"/>
                        </a:rPr>
                        <a:t>Назначение</a:t>
                      </a:r>
                      <a:endParaRPr lang="en-US" sz="1600" dirty="0">
                        <a:latin typeface="Arial" panose="020B0604020202020204" pitchFamily="34" charset="0"/>
                        <a:ea typeface="Quattrocento Sans" charset="0"/>
                        <a:cs typeface="Arial" panose="020B0604020202020204" pitchFamily="34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F3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08050">
                <a:tc>
                  <a:txBody>
                    <a:bodyPr/>
                    <a:lstStyle/>
                    <a:p>
                      <a:pPr algn="ctr"/>
                      <a:r>
                        <a:rPr lang="ru-RU" sz="1600" dirty="0">
                          <a:solidFill>
                            <a:srgbClr val="2D3748"/>
                          </a:solidFill>
                          <a:latin typeface="Arial" panose="020B0604020202020204" pitchFamily="34" charset="0"/>
                          <a:ea typeface="Quattrocento Sans" charset="0"/>
                          <a:cs typeface="Arial" panose="020B0604020202020204" pitchFamily="34" charset="0"/>
                        </a:rPr>
                        <a:t>Язык программирования</a:t>
                      </a:r>
                      <a:endParaRPr lang="en-US" sz="1600" dirty="0">
                        <a:latin typeface="Arial" panose="020B0604020202020204" pitchFamily="34" charset="0"/>
                        <a:ea typeface="Quattrocento Sans" charset="0"/>
                        <a:cs typeface="Arial" panose="020B0604020202020204" pitchFamily="34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rgbClr val="2D3748"/>
                          </a:solidFill>
                          <a:latin typeface="Arial" panose="020B0604020202020204" pitchFamily="34" charset="0"/>
                          <a:ea typeface="Quattrocento Sans" pitchFamily="34" charset="-122"/>
                          <a:cs typeface="Arial" panose="020B0604020202020204" pitchFamily="34" charset="0"/>
                        </a:rPr>
                        <a:t>C# 12</a:t>
                      </a:r>
                      <a:endParaRPr lang="en-US" sz="1600" dirty="0">
                        <a:latin typeface="Arial" panose="020B0604020202020204" pitchFamily="34" charset="0"/>
                        <a:ea typeface="Quattrocento Sans" charset="0"/>
                        <a:cs typeface="Arial" panose="020B0604020202020204" pitchFamily="34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600" dirty="0">
                          <a:solidFill>
                            <a:srgbClr val="2D3748"/>
                          </a:solidFill>
                          <a:latin typeface="Arial" panose="020B0604020202020204" pitchFamily="34" charset="0"/>
                          <a:ea typeface="Quattrocento Sans" pitchFamily="34" charset="-122"/>
                          <a:cs typeface="Arial" panose="020B0604020202020204" pitchFamily="34" charset="0"/>
                        </a:rPr>
                        <a:t>Современный объектно-ориентированный язык</a:t>
                      </a:r>
                      <a:endParaRPr lang="en-US" sz="1600" dirty="0">
                        <a:latin typeface="Arial" panose="020B0604020202020204" pitchFamily="34" charset="0"/>
                        <a:ea typeface="Quattrocento Sans" charset="0"/>
                        <a:cs typeface="Arial" panose="020B0604020202020204" pitchFamily="34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08050">
                <a:tc>
                  <a:txBody>
                    <a:bodyPr/>
                    <a:lstStyle/>
                    <a:p>
                      <a:pPr algn="ctr"/>
                      <a:r>
                        <a:rPr lang="ru-RU" sz="1600" dirty="0">
                          <a:solidFill>
                            <a:srgbClr val="2D3748"/>
                          </a:solidFill>
                          <a:latin typeface="Arial" panose="020B0604020202020204" pitchFamily="34" charset="0"/>
                          <a:ea typeface="Quattrocento Sans" pitchFamily="34" charset="-122"/>
                          <a:cs typeface="Arial" panose="020B0604020202020204" pitchFamily="34" charset="0"/>
                        </a:rPr>
                        <a:t>Платформа</a:t>
                      </a:r>
                      <a:endParaRPr lang="en-US" sz="1600" dirty="0">
                        <a:latin typeface="Arial" panose="020B0604020202020204" pitchFamily="34" charset="0"/>
                        <a:ea typeface="Quattrocento Sans" charset="0"/>
                        <a:cs typeface="Arial" panose="020B0604020202020204" pitchFamily="34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rgbClr val="2D3748"/>
                          </a:solidFill>
                          <a:latin typeface="Arial" panose="020B0604020202020204" pitchFamily="34" charset="0"/>
                          <a:ea typeface="Quattrocento Sans" pitchFamily="34" charset="-122"/>
                          <a:cs typeface="Arial" panose="020B0604020202020204" pitchFamily="34" charset="0"/>
                        </a:rPr>
                        <a:t>.NET 8</a:t>
                      </a:r>
                      <a:endParaRPr lang="en-US" sz="1600" dirty="0">
                        <a:latin typeface="Arial" panose="020B0604020202020204" pitchFamily="34" charset="0"/>
                        <a:ea typeface="Quattrocento Sans" charset="0"/>
                        <a:cs typeface="Arial" panose="020B0604020202020204" pitchFamily="34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600" dirty="0">
                          <a:solidFill>
                            <a:srgbClr val="2D3748"/>
                          </a:solidFill>
                          <a:latin typeface="Arial" panose="020B0604020202020204" pitchFamily="34" charset="0"/>
                          <a:ea typeface="Quattrocento Sans" pitchFamily="34" charset="-122"/>
                          <a:cs typeface="Arial" panose="020B0604020202020204" pitchFamily="34" charset="0"/>
                        </a:rPr>
                        <a:t>Кроссплатформенная среда выполнения для Windows</a:t>
                      </a:r>
                      <a:endParaRPr lang="en-US" sz="1600" dirty="0">
                        <a:latin typeface="Arial" panose="020B0604020202020204" pitchFamily="34" charset="0"/>
                        <a:ea typeface="Quattrocento Sans" charset="0"/>
                        <a:cs typeface="Arial" panose="020B0604020202020204" pitchFamily="34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908050">
                <a:tc>
                  <a:txBody>
                    <a:bodyPr/>
                    <a:lstStyle/>
                    <a:p>
                      <a:pPr algn="ctr"/>
                      <a:r>
                        <a:rPr lang="ru-RU" sz="1600" dirty="0">
                          <a:solidFill>
                            <a:srgbClr val="2D3748"/>
                          </a:solidFill>
                          <a:latin typeface="Arial" panose="020B0604020202020204" pitchFamily="34" charset="0"/>
                          <a:ea typeface="Quattrocento Sans" pitchFamily="34" charset="-122"/>
                          <a:cs typeface="Arial" panose="020B0604020202020204" pitchFamily="34" charset="0"/>
                        </a:rPr>
                        <a:t>Интерфейс</a:t>
                      </a:r>
                      <a:endParaRPr lang="en-US" sz="1600" dirty="0">
                        <a:latin typeface="Arial" panose="020B0604020202020204" pitchFamily="34" charset="0"/>
                        <a:ea typeface="Quattrocento Sans" charset="0"/>
                        <a:cs typeface="Arial" panose="020B0604020202020204" pitchFamily="34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rgbClr val="2D3748"/>
                          </a:solidFill>
                          <a:latin typeface="Arial" panose="020B0604020202020204" pitchFamily="34" charset="0"/>
                          <a:ea typeface="Quattrocento Sans" pitchFamily="34" charset="-122"/>
                          <a:cs typeface="Arial" panose="020B0604020202020204" pitchFamily="34" charset="0"/>
                        </a:rPr>
                        <a:t>WPF + </a:t>
                      </a:r>
                      <a:r>
                        <a:rPr lang="en-US" sz="1600" b="1" dirty="0" err="1">
                          <a:solidFill>
                            <a:srgbClr val="2D3748"/>
                          </a:solidFill>
                          <a:latin typeface="Arial" panose="020B0604020202020204" pitchFamily="34" charset="0"/>
                          <a:ea typeface="Quattrocento Sans" pitchFamily="34" charset="-122"/>
                          <a:cs typeface="Arial" panose="020B0604020202020204" pitchFamily="34" charset="0"/>
                        </a:rPr>
                        <a:t>MaterialDesign</a:t>
                      </a:r>
                      <a:endParaRPr lang="en-US" sz="1600" dirty="0">
                        <a:latin typeface="Arial" panose="020B0604020202020204" pitchFamily="34" charset="0"/>
                        <a:ea typeface="Quattrocento Sans" charset="0"/>
                        <a:cs typeface="Arial" panose="020B0604020202020204" pitchFamily="34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600" dirty="0">
                          <a:solidFill>
                            <a:srgbClr val="2D3748"/>
                          </a:solidFill>
                          <a:latin typeface="Arial" panose="020B0604020202020204" pitchFamily="34" charset="0"/>
                          <a:ea typeface="Quattrocento Sans" pitchFamily="34" charset="-122"/>
                          <a:cs typeface="Arial" panose="020B0604020202020204" pitchFamily="34" charset="0"/>
                        </a:rPr>
                        <a:t>Декларативный UI на XAML с современным дизайном</a:t>
                      </a:r>
                      <a:endParaRPr lang="en-US" sz="1600" dirty="0">
                        <a:latin typeface="Arial" panose="020B0604020202020204" pitchFamily="34" charset="0"/>
                        <a:ea typeface="Quattrocento Sans" charset="0"/>
                        <a:cs typeface="Arial" panose="020B0604020202020204" pitchFamily="34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908050">
                <a:tc>
                  <a:txBody>
                    <a:bodyPr/>
                    <a:lstStyle/>
                    <a:p>
                      <a:pPr algn="ctr"/>
                      <a:r>
                        <a:rPr lang="ru-RU" sz="1600" dirty="0">
                          <a:solidFill>
                            <a:srgbClr val="2D3748"/>
                          </a:solidFill>
                          <a:latin typeface="Arial" panose="020B0604020202020204" pitchFamily="34" charset="0"/>
                          <a:ea typeface="Quattrocento Sans" charset="0"/>
                          <a:cs typeface="Arial" panose="020B0604020202020204" pitchFamily="34" charset="0"/>
                        </a:rPr>
                        <a:t>База данных</a:t>
                      </a:r>
                      <a:endParaRPr lang="en-US" sz="1600" dirty="0">
                        <a:latin typeface="Arial" panose="020B0604020202020204" pitchFamily="34" charset="0"/>
                        <a:ea typeface="Quattrocento Sans" charset="0"/>
                        <a:cs typeface="Arial" panose="020B0604020202020204" pitchFamily="34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rgbClr val="2D3748"/>
                          </a:solidFill>
                          <a:latin typeface="Arial" panose="020B0604020202020204" pitchFamily="34" charset="0"/>
                          <a:ea typeface="Quattrocento Sans" pitchFamily="34" charset="-122"/>
                          <a:cs typeface="Arial" panose="020B0604020202020204" pitchFamily="34" charset="0"/>
                        </a:rPr>
                        <a:t>Microsoft SQL Server</a:t>
                      </a:r>
                      <a:endParaRPr lang="en-US" sz="1600" dirty="0">
                        <a:latin typeface="Arial" panose="020B0604020202020204" pitchFamily="34" charset="0"/>
                        <a:ea typeface="Quattrocento Sans" charset="0"/>
                        <a:cs typeface="Arial" panose="020B0604020202020204" pitchFamily="34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600" dirty="0">
                          <a:solidFill>
                            <a:srgbClr val="2D3748"/>
                          </a:solidFill>
                          <a:latin typeface="Arial" panose="020B0604020202020204" pitchFamily="34" charset="0"/>
                          <a:ea typeface="Quattrocento Sans" pitchFamily="34" charset="-122"/>
                          <a:cs typeface="Arial" panose="020B0604020202020204" pitchFamily="34" charset="0"/>
                        </a:rPr>
                        <a:t>Реляционная СУБД для хранения данных</a:t>
                      </a:r>
                      <a:endParaRPr lang="en-US" sz="1600" dirty="0">
                        <a:latin typeface="Arial" panose="020B0604020202020204" pitchFamily="34" charset="0"/>
                        <a:ea typeface="Quattrocento Sans" charset="0"/>
                        <a:cs typeface="Arial" panose="020B0604020202020204" pitchFamily="34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908050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2D3748"/>
                          </a:solidFill>
                          <a:latin typeface="Arial" panose="020B0604020202020204" pitchFamily="34" charset="0"/>
                          <a:ea typeface="Quattrocento Sans" pitchFamily="34" charset="-122"/>
                          <a:cs typeface="Arial" panose="020B0604020202020204" pitchFamily="34" charset="0"/>
                        </a:rPr>
                        <a:t>ORM</a:t>
                      </a:r>
                      <a:endParaRPr lang="en-US" sz="1600" dirty="0">
                        <a:latin typeface="Arial" panose="020B0604020202020204" pitchFamily="34" charset="0"/>
                        <a:ea typeface="Quattrocento Sans" charset="0"/>
                        <a:cs typeface="Arial" panose="020B0604020202020204" pitchFamily="34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rgbClr val="2D3748"/>
                          </a:solidFill>
                          <a:latin typeface="Arial" panose="020B0604020202020204" pitchFamily="34" charset="0"/>
                          <a:ea typeface="Quattrocento Sans" pitchFamily="34" charset="-122"/>
                          <a:cs typeface="Arial" panose="020B0604020202020204" pitchFamily="34" charset="0"/>
                        </a:rPr>
                        <a:t>Entity Framework Core 8</a:t>
                      </a:r>
                      <a:endParaRPr lang="en-US" sz="1600" dirty="0">
                        <a:latin typeface="Arial" panose="020B0604020202020204" pitchFamily="34" charset="0"/>
                        <a:ea typeface="Quattrocento Sans" charset="0"/>
                        <a:cs typeface="Arial" panose="020B0604020202020204" pitchFamily="34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600" dirty="0">
                          <a:solidFill>
                            <a:srgbClr val="2D3748"/>
                          </a:solidFill>
                          <a:latin typeface="Arial" panose="020B0604020202020204" pitchFamily="34" charset="0"/>
                          <a:ea typeface="Quattrocento Sans" pitchFamily="34" charset="-122"/>
                          <a:cs typeface="Arial" panose="020B0604020202020204" pitchFamily="34" charset="0"/>
                        </a:rPr>
                        <a:t>Объектно-реляционное отображение данных</a:t>
                      </a:r>
                      <a:endParaRPr lang="en-US" sz="1600" dirty="0">
                        <a:latin typeface="Arial" panose="020B0604020202020204" pitchFamily="34" charset="0"/>
                        <a:ea typeface="Quattrocento Sans" charset="0"/>
                        <a:cs typeface="Arial" panose="020B0604020202020204" pitchFamily="34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908050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2D3748"/>
                          </a:solidFill>
                          <a:latin typeface="Arial" panose="020B0604020202020204" pitchFamily="34" charset="0"/>
                          <a:ea typeface="Quattrocento Sans" pitchFamily="34" charset="-122"/>
                          <a:cs typeface="Arial" panose="020B0604020202020204" pitchFamily="34" charset="0"/>
                        </a:rPr>
                        <a:t>Excel</a:t>
                      </a:r>
                      <a:endParaRPr lang="en-US" sz="1600" dirty="0">
                        <a:latin typeface="Arial" panose="020B0604020202020204" pitchFamily="34" charset="0"/>
                        <a:ea typeface="Quattrocento Sans" charset="0"/>
                        <a:cs typeface="Arial" panose="020B0604020202020204" pitchFamily="34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 err="1">
                          <a:solidFill>
                            <a:srgbClr val="2D3748"/>
                          </a:solidFill>
                          <a:latin typeface="Arial" panose="020B0604020202020204" pitchFamily="34" charset="0"/>
                          <a:ea typeface="Quattrocento Sans" pitchFamily="34" charset="-122"/>
                          <a:cs typeface="Arial" panose="020B0604020202020204" pitchFamily="34" charset="0"/>
                        </a:rPr>
                        <a:t>EPPlus</a:t>
                      </a:r>
                      <a:r>
                        <a:rPr lang="en-US" sz="1600" b="1" dirty="0">
                          <a:solidFill>
                            <a:srgbClr val="2D3748"/>
                          </a:solidFill>
                          <a:latin typeface="Arial" panose="020B0604020202020204" pitchFamily="34" charset="0"/>
                          <a:ea typeface="Quattrocento Sans" pitchFamily="34" charset="-122"/>
                          <a:cs typeface="Arial" panose="020B0604020202020204" pitchFamily="34" charset="0"/>
                        </a:rPr>
                        <a:t> 7.2.1</a:t>
                      </a:r>
                      <a:endParaRPr lang="en-US" sz="1600" dirty="0">
                        <a:latin typeface="Arial" panose="020B0604020202020204" pitchFamily="34" charset="0"/>
                        <a:ea typeface="Quattrocento Sans" charset="0"/>
                        <a:cs typeface="Arial" panose="020B0604020202020204" pitchFamily="34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600" dirty="0">
                          <a:solidFill>
                            <a:srgbClr val="2D3748"/>
                          </a:solidFill>
                          <a:latin typeface="Arial" panose="020B0604020202020204" pitchFamily="34" charset="0"/>
                          <a:ea typeface="Quattrocento Sans" pitchFamily="34" charset="-122"/>
                          <a:cs typeface="Arial" panose="020B0604020202020204" pitchFamily="34" charset="0"/>
                        </a:rPr>
                        <a:t>Импорт и экспорт данных в формате Excel</a:t>
                      </a:r>
                      <a:endParaRPr lang="en-US" sz="1600" dirty="0">
                        <a:latin typeface="Arial" panose="020B0604020202020204" pitchFamily="34" charset="0"/>
                        <a:ea typeface="Quattrocento Sans" charset="0"/>
                        <a:cs typeface="Arial" panose="020B0604020202020204" pitchFamily="34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838200">
                <a:tc>
                  <a:txBody>
                    <a:bodyPr/>
                    <a:lstStyle/>
                    <a:p>
                      <a:pPr algn="ctr"/>
                      <a:r>
                        <a:rPr lang="ru-RU" sz="1600" dirty="0">
                          <a:solidFill>
                            <a:srgbClr val="2D3748"/>
                          </a:solidFill>
                          <a:latin typeface="Arial" panose="020B0604020202020204" pitchFamily="34" charset="0"/>
                          <a:ea typeface="Quattrocento Sans" charset="0"/>
                          <a:cs typeface="Arial" panose="020B0604020202020204" pitchFamily="34" charset="0"/>
                        </a:rPr>
                        <a:t>Среда разработки</a:t>
                      </a:r>
                      <a:endParaRPr lang="en-US" sz="1600" dirty="0">
                        <a:latin typeface="Arial" panose="020B0604020202020204" pitchFamily="34" charset="0"/>
                        <a:ea typeface="Quattrocento Sans" charset="0"/>
                        <a:cs typeface="Arial" panose="020B0604020202020204" pitchFamily="34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rgbClr val="2D3748"/>
                          </a:solidFill>
                          <a:latin typeface="Arial" panose="020B0604020202020204" pitchFamily="34" charset="0"/>
                          <a:ea typeface="Quattrocento Sans" pitchFamily="34" charset="-122"/>
                          <a:cs typeface="Arial" panose="020B0604020202020204" pitchFamily="34" charset="0"/>
                        </a:rPr>
                        <a:t>Visual Studio 2022</a:t>
                      </a:r>
                      <a:endParaRPr lang="en-US" sz="1600" dirty="0">
                        <a:latin typeface="Arial" panose="020B0604020202020204" pitchFamily="34" charset="0"/>
                        <a:ea typeface="Quattrocento Sans" charset="0"/>
                        <a:cs typeface="Arial" panose="020B0604020202020204" pitchFamily="34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600" dirty="0">
                          <a:solidFill>
                            <a:srgbClr val="2D3748"/>
                          </a:solidFill>
                          <a:latin typeface="Arial" panose="020B0604020202020204" pitchFamily="34" charset="0"/>
                          <a:ea typeface="Quattrocento Sans" pitchFamily="34" charset="-122"/>
                          <a:cs typeface="Arial" panose="020B0604020202020204" pitchFamily="34" charset="0"/>
                        </a:rPr>
                        <a:t>Интегрированная среда разработки </a:t>
                      </a:r>
                      <a:r>
                        <a:rPr lang="en-US" sz="1600" dirty="0">
                          <a:solidFill>
                            <a:srgbClr val="2D3748"/>
                          </a:solidFill>
                          <a:latin typeface="Arial" panose="020B0604020202020204" pitchFamily="34" charset="0"/>
                          <a:ea typeface="Quattrocento Sans" pitchFamily="34" charset="-122"/>
                          <a:cs typeface="Arial" panose="020B0604020202020204" pitchFamily="34" charset="0"/>
                        </a:rPr>
                        <a:t>Microsoft</a:t>
                      </a:r>
                      <a:endParaRPr lang="en-US" sz="1600" dirty="0">
                        <a:latin typeface="Arial" panose="020B0604020202020204" pitchFamily="34" charset="0"/>
                        <a:ea typeface="Quattrocento Sans" charset="0"/>
                        <a:cs typeface="Arial" panose="020B0604020202020204" pitchFamily="34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</p:cSld>
  <p:clrMapOvr>
    <a:masterClrMapping/>
  </p:clrMapOvr>
  <p:transition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gradFill flip="none" rotWithShape="1">
          <a:gsLst>
            <a:gs pos="0">
              <a:srgbClr val="0F1525"/>
            </a:gs>
            <a:gs pos="50000">
              <a:srgbClr val="1A1F3C"/>
            </a:gs>
            <a:gs pos="100000">
              <a:srgbClr val="162044"/>
            </a:gs>
          </a:gsLst>
          <a:lin ang="81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2000" y="2286000"/>
            <a:ext cx="3810000" cy="1206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7200" dirty="0">
                <a:solidFill>
                  <a:srgbClr val="00ACC1"/>
                </a:solidFill>
                <a:latin typeface="Arial" panose="020B0604020202020204" pitchFamily="34" charset="0"/>
                <a:ea typeface="Liter" pitchFamily="34" charset="-122"/>
                <a:cs typeface="Arial" panose="020B0604020202020204" pitchFamily="34" charset="0"/>
              </a:rPr>
              <a:t>02</a:t>
            </a:r>
            <a:endParaRPr lang="en-US" sz="7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Shape 1"/>
          <p:cNvSpPr/>
          <p:nvPr/>
        </p:nvSpPr>
        <p:spPr>
          <a:xfrm>
            <a:off x="762000" y="3683000"/>
            <a:ext cx="1016000" cy="38100"/>
          </a:xfrm>
          <a:prstGeom prst="rect">
            <a:avLst/>
          </a:prstGeom>
          <a:solidFill>
            <a:srgbClr val="00ACC1"/>
          </a:solidFill>
          <a:ln/>
        </p:spPr>
        <p:txBody>
          <a:bodyPr/>
          <a:lstStyle/>
          <a:p>
            <a:endParaRPr lang="ru-R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Text 2"/>
          <p:cNvSpPr/>
          <p:nvPr/>
        </p:nvSpPr>
        <p:spPr>
          <a:xfrm>
            <a:off x="762000" y="3937000"/>
            <a:ext cx="8890000" cy="635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ru-RU" sz="3600" b="1" dirty="0">
                <a:solidFill>
                  <a:srgbClr val="FFFFFF"/>
                </a:solidFill>
                <a:latin typeface="Arial" panose="020B0604020202020204" pitchFamily="34" charset="0"/>
                <a:ea typeface="Liter" pitchFamily="34" charset="-122"/>
                <a:cs typeface="Arial" panose="020B0604020202020204" pitchFamily="34" charset="0"/>
              </a:rPr>
              <a:t>Архитектура системы</a:t>
            </a:r>
            <a:endParaRPr lang="en-US" sz="3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Text 3"/>
          <p:cNvSpPr/>
          <p:nvPr/>
        </p:nvSpPr>
        <p:spPr>
          <a:xfrm>
            <a:off x="762000" y="4699000"/>
            <a:ext cx="8890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ru-RU" dirty="0">
                <a:solidFill>
                  <a:srgbClr val="C0C5CE"/>
                </a:solidFill>
                <a:latin typeface="Arial" panose="020B0604020202020204" pitchFamily="34" charset="0"/>
                <a:ea typeface="Quattrocento Sans" pitchFamily="34" charset="-122"/>
                <a:cs typeface="Arial" panose="020B0604020202020204" pitchFamily="34" charset="0"/>
              </a:rPr>
              <a:t>Трёхуровневая архитектура, база данных и безопасность</a:t>
            </a:r>
            <a:endParaRPr lang="en-US" sz="1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Shape 4"/>
          <p:cNvSpPr/>
          <p:nvPr/>
        </p:nvSpPr>
        <p:spPr>
          <a:xfrm>
            <a:off x="13335000" y="5080000"/>
            <a:ext cx="1905000" cy="1905000"/>
          </a:xfrm>
          <a:prstGeom prst="ellipse">
            <a:avLst/>
          </a:prstGeom>
          <a:solidFill>
            <a:srgbClr val="00ACC2">
              <a:alpha val="6275"/>
            </a:srgbClr>
          </a:solidFill>
          <a:ln w="12700">
            <a:solidFill>
              <a:srgbClr val="00ACC1"/>
            </a:solidFill>
            <a:prstDash val="solid"/>
          </a:ln>
        </p:spPr>
        <p:txBody>
          <a:bodyPr/>
          <a:lstStyle/>
          <a:p>
            <a:endParaRPr lang="ru-R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Shape 5"/>
          <p:cNvSpPr/>
          <p:nvPr/>
        </p:nvSpPr>
        <p:spPr>
          <a:xfrm>
            <a:off x="13970000" y="1270000"/>
            <a:ext cx="1016000" cy="1016000"/>
          </a:xfrm>
          <a:prstGeom prst="ellipse">
            <a:avLst/>
          </a:prstGeom>
          <a:solidFill>
            <a:srgbClr val="00ACC2">
              <a:alpha val="8235"/>
            </a:srgbClr>
          </a:solidFill>
          <a:ln w="12700">
            <a:solidFill>
              <a:srgbClr val="00ACC1"/>
            </a:solidFill>
            <a:prstDash val="solid"/>
          </a:ln>
        </p:spPr>
        <p:txBody>
          <a:bodyPr/>
          <a:lstStyle/>
          <a:p>
            <a:endParaRPr lang="ru-R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  <p:transition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0F2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Shape 8">
            <a:extLst>
              <a:ext uri="{FF2B5EF4-FFF2-40B4-BE49-F238E27FC236}">
                <a16:creationId xmlns:a16="http://schemas.microsoft.com/office/drawing/2014/main" id="{711FB875-B8FA-F9A0-2099-B9907BD190BD}"/>
              </a:ext>
            </a:extLst>
          </p:cNvPr>
          <p:cNvSpPr/>
          <p:nvPr/>
        </p:nvSpPr>
        <p:spPr>
          <a:xfrm>
            <a:off x="7040179" y="1371600"/>
            <a:ext cx="6276428" cy="61341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  <a:effectLst>
            <a:outerShdw blurRad="152400" dist="38100" dir="5400000" algn="bl" rotWithShape="0">
              <a:srgbClr val="000000">
                <a:alpha val="8235"/>
              </a:srgbClr>
            </a:outerShdw>
          </a:effectLst>
        </p:spPr>
        <p:txBody>
          <a:bodyPr/>
          <a:lstStyle/>
          <a:p>
            <a:endParaRPr lang="ru-RU"/>
          </a:p>
        </p:txBody>
      </p:sp>
      <p:sp>
        <p:nvSpPr>
          <p:cNvPr id="2" name="Shape 0"/>
          <p:cNvSpPr/>
          <p:nvPr/>
        </p:nvSpPr>
        <p:spPr>
          <a:xfrm>
            <a:off x="0" y="0"/>
            <a:ext cx="16256000" cy="508000"/>
          </a:xfrm>
          <a:prstGeom prst="rect">
            <a:avLst/>
          </a:prstGeom>
          <a:solidFill>
            <a:srgbClr val="1A1F3C"/>
          </a:solidFill>
          <a:ln/>
        </p:spPr>
        <p:txBody>
          <a:bodyPr/>
          <a:lstStyle/>
          <a:p>
            <a:endParaRPr lang="ru-R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0" y="0"/>
            <a:ext cx="4064000" cy="508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ru-RU" sz="120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О проекте</a:t>
            </a:r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Text 2"/>
          <p:cNvSpPr/>
          <p:nvPr/>
        </p:nvSpPr>
        <p:spPr>
          <a:xfrm>
            <a:off x="4064000" y="0"/>
            <a:ext cx="4064000" cy="457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ru-RU" sz="1200" b="1" dirty="0">
                <a:solidFill>
                  <a:srgbClr val="FFFFFF"/>
                </a:solidFill>
                <a:latin typeface="Arial" panose="020B0604020202020204" pitchFamily="34" charset="0"/>
                <a:ea typeface="Quattrocento Sans" pitchFamily="34" charset="-122"/>
                <a:cs typeface="Arial" panose="020B0604020202020204" pitchFamily="34" charset="0"/>
              </a:rPr>
              <a:t>Архитектура</a:t>
            </a:r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Shape 3"/>
          <p:cNvSpPr/>
          <p:nvPr/>
        </p:nvSpPr>
        <p:spPr>
          <a:xfrm>
            <a:off x="5461000" y="469900"/>
            <a:ext cx="1270000" cy="38100"/>
          </a:xfrm>
          <a:prstGeom prst="rect">
            <a:avLst/>
          </a:prstGeom>
          <a:solidFill>
            <a:srgbClr val="00ACC1"/>
          </a:solidFill>
          <a:ln/>
        </p:spPr>
        <p:txBody>
          <a:bodyPr/>
          <a:lstStyle/>
          <a:p>
            <a:endParaRPr lang="ru-R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Text 4"/>
          <p:cNvSpPr/>
          <p:nvPr/>
        </p:nvSpPr>
        <p:spPr>
          <a:xfrm>
            <a:off x="8128000" y="0"/>
            <a:ext cx="4064000" cy="508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ru-RU" sz="1200" dirty="0">
                <a:solidFill>
                  <a:srgbClr val="FFFFFF"/>
                </a:solidFill>
                <a:latin typeface="Arial" panose="020B0604020202020204" pitchFamily="34" charset="0"/>
                <a:ea typeface="Quattrocento Sans" pitchFamily="34" charset="-122"/>
                <a:cs typeface="Arial" panose="020B0604020202020204" pitchFamily="34" charset="0"/>
              </a:rPr>
              <a:t>Функционал</a:t>
            </a:r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Text 5"/>
          <p:cNvSpPr/>
          <p:nvPr/>
        </p:nvSpPr>
        <p:spPr>
          <a:xfrm>
            <a:off x="12192000" y="0"/>
            <a:ext cx="4064000" cy="508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ru-RU" sz="1200" dirty="0">
                <a:solidFill>
                  <a:srgbClr val="FFFFFF"/>
                </a:solidFill>
                <a:latin typeface="Arial" panose="020B0604020202020204" pitchFamily="34" charset="0"/>
                <a:ea typeface="Quattrocento Sans" pitchFamily="34" charset="-122"/>
                <a:cs typeface="Arial" panose="020B0604020202020204" pitchFamily="34" charset="0"/>
              </a:rPr>
              <a:t>Документация</a:t>
            </a:r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Text 6"/>
          <p:cNvSpPr/>
          <p:nvPr/>
        </p:nvSpPr>
        <p:spPr>
          <a:xfrm>
            <a:off x="762000" y="698500"/>
            <a:ext cx="8890000" cy="482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ru-RU" sz="2800" b="1" dirty="0">
                <a:solidFill>
                  <a:srgbClr val="1A1F3C"/>
                </a:solidFill>
                <a:latin typeface="Arial" panose="020B0604020202020204" pitchFamily="34" charset="0"/>
                <a:ea typeface="Liter" pitchFamily="34" charset="-122"/>
                <a:cs typeface="Arial" panose="020B0604020202020204" pitchFamily="34" charset="0"/>
              </a:rPr>
              <a:t>Архитектура приложения</a:t>
            </a:r>
            <a:endParaRPr lang="en-US" sz="2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" name="Shape 7"/>
          <p:cNvSpPr/>
          <p:nvPr/>
        </p:nvSpPr>
        <p:spPr>
          <a:xfrm>
            <a:off x="762000" y="1206500"/>
            <a:ext cx="762000" cy="38100"/>
          </a:xfrm>
          <a:prstGeom prst="rect">
            <a:avLst/>
          </a:prstGeom>
          <a:solidFill>
            <a:srgbClr val="00ACC1"/>
          </a:solidFill>
          <a:ln/>
        </p:spPr>
        <p:txBody>
          <a:bodyPr/>
          <a:lstStyle/>
          <a:p>
            <a:endParaRPr lang="ru-R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" name="Text 8"/>
          <p:cNvSpPr/>
          <p:nvPr/>
        </p:nvSpPr>
        <p:spPr>
          <a:xfrm>
            <a:off x="762000" y="1460500"/>
            <a:ext cx="5080000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ru-RU" sz="2200" b="1" dirty="0">
                <a:solidFill>
                  <a:srgbClr val="1A1F3C"/>
                </a:solidFill>
                <a:latin typeface="Arial" panose="020B0604020202020204" pitchFamily="34" charset="0"/>
                <a:ea typeface="Liter" pitchFamily="34" charset="-122"/>
                <a:cs typeface="Arial" panose="020B0604020202020204" pitchFamily="34" charset="0"/>
              </a:rPr>
              <a:t>Трёхуровневая архитектура</a:t>
            </a:r>
            <a:endParaRPr lang="en-US" sz="2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762000" y="2006600"/>
            <a:ext cx="279400" cy="279400"/>
          </a:xfrm>
          <a:custGeom>
            <a:avLst/>
            <a:gdLst/>
            <a:ahLst/>
            <a:cxnLst/>
            <a:rect l="l" t="t" r="r" b="b"/>
            <a:pathLst>
              <a:path w="279400" h="279400">
                <a:moveTo>
                  <a:pt x="34925" y="17463"/>
                </a:moveTo>
                <a:cubicBezTo>
                  <a:pt x="15662" y="17463"/>
                  <a:pt x="0" y="33124"/>
                  <a:pt x="0" y="52388"/>
                </a:cubicBezTo>
                <a:lnTo>
                  <a:pt x="0" y="192088"/>
                </a:lnTo>
                <a:cubicBezTo>
                  <a:pt x="0" y="211351"/>
                  <a:pt x="15662" y="227013"/>
                  <a:pt x="34925" y="227013"/>
                </a:cubicBezTo>
                <a:lnTo>
                  <a:pt x="113506" y="227013"/>
                </a:lnTo>
                <a:lnTo>
                  <a:pt x="104775" y="253206"/>
                </a:lnTo>
                <a:lnTo>
                  <a:pt x="65484" y="253206"/>
                </a:lnTo>
                <a:cubicBezTo>
                  <a:pt x="58227" y="253206"/>
                  <a:pt x="52388" y="259045"/>
                  <a:pt x="52388" y="266303"/>
                </a:cubicBezTo>
                <a:cubicBezTo>
                  <a:pt x="52388" y="273561"/>
                  <a:pt x="58227" y="279400"/>
                  <a:pt x="65484" y="279400"/>
                </a:cubicBezTo>
                <a:lnTo>
                  <a:pt x="213916" y="279400"/>
                </a:lnTo>
                <a:cubicBezTo>
                  <a:pt x="221173" y="279400"/>
                  <a:pt x="227013" y="273561"/>
                  <a:pt x="227013" y="266303"/>
                </a:cubicBezTo>
                <a:cubicBezTo>
                  <a:pt x="227013" y="259045"/>
                  <a:pt x="221173" y="253206"/>
                  <a:pt x="213916" y="253206"/>
                </a:cubicBezTo>
                <a:lnTo>
                  <a:pt x="174625" y="253206"/>
                </a:lnTo>
                <a:lnTo>
                  <a:pt x="165894" y="227013"/>
                </a:lnTo>
                <a:lnTo>
                  <a:pt x="244475" y="227013"/>
                </a:lnTo>
                <a:cubicBezTo>
                  <a:pt x="263738" y="227013"/>
                  <a:pt x="279400" y="211351"/>
                  <a:pt x="279400" y="192088"/>
                </a:cubicBezTo>
                <a:lnTo>
                  <a:pt x="279400" y="52388"/>
                </a:lnTo>
                <a:cubicBezTo>
                  <a:pt x="279400" y="33124"/>
                  <a:pt x="263738" y="17463"/>
                  <a:pt x="244475" y="17463"/>
                </a:cubicBezTo>
                <a:lnTo>
                  <a:pt x="34925" y="17463"/>
                </a:lnTo>
                <a:close/>
                <a:moveTo>
                  <a:pt x="52388" y="52388"/>
                </a:moveTo>
                <a:lnTo>
                  <a:pt x="227013" y="52388"/>
                </a:lnTo>
                <a:cubicBezTo>
                  <a:pt x="236671" y="52388"/>
                  <a:pt x="244475" y="60191"/>
                  <a:pt x="244475" y="69850"/>
                </a:cubicBezTo>
                <a:lnTo>
                  <a:pt x="244475" y="157163"/>
                </a:lnTo>
                <a:cubicBezTo>
                  <a:pt x="244475" y="166821"/>
                  <a:pt x="236671" y="174625"/>
                  <a:pt x="227013" y="174625"/>
                </a:cubicBezTo>
                <a:lnTo>
                  <a:pt x="52388" y="174625"/>
                </a:lnTo>
                <a:cubicBezTo>
                  <a:pt x="42729" y="174625"/>
                  <a:pt x="34925" y="166821"/>
                  <a:pt x="34925" y="157163"/>
                </a:cubicBezTo>
                <a:lnTo>
                  <a:pt x="34925" y="69850"/>
                </a:lnTo>
                <a:cubicBezTo>
                  <a:pt x="34925" y="60191"/>
                  <a:pt x="42729" y="52388"/>
                  <a:pt x="52388" y="52388"/>
                </a:cubicBezTo>
                <a:close/>
              </a:path>
            </a:pathLst>
          </a:custGeom>
          <a:solidFill>
            <a:srgbClr val="00ACC1"/>
          </a:solidFill>
          <a:ln/>
        </p:spPr>
        <p:txBody>
          <a:bodyPr/>
          <a:lstStyle/>
          <a:p>
            <a:endParaRPr lang="ru-R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1168400" y="1943100"/>
            <a:ext cx="635000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40000"/>
              </a:lnSpc>
            </a:pPr>
            <a:r>
              <a:rPr lang="ru-RU" sz="1600" b="1" dirty="0" err="1">
                <a:solidFill>
                  <a:srgbClr val="2D3748"/>
                </a:solidFill>
                <a:latin typeface="Arial" panose="020B0604020202020204" pitchFamily="34" charset="0"/>
                <a:ea typeface="Quattrocento Sans" pitchFamily="34" charset="-122"/>
                <a:cs typeface="Arial" panose="020B0604020202020204" pitchFamily="34" charset="0"/>
              </a:rPr>
              <a:t>Presentation</a:t>
            </a:r>
            <a:r>
              <a:rPr lang="ru-RU" sz="1600" b="1" dirty="0">
                <a:solidFill>
                  <a:srgbClr val="2D3748"/>
                </a:solidFill>
                <a:latin typeface="Arial" panose="020B0604020202020204" pitchFamily="34" charset="0"/>
                <a:ea typeface="Quattrocento Sans" pitchFamily="34" charset="-122"/>
                <a:cs typeface="Arial" panose="020B0604020202020204" pitchFamily="34" charset="0"/>
              </a:rPr>
              <a:t> Layer </a:t>
            </a:r>
            <a:r>
              <a:rPr lang="ru-RU" sz="1600" dirty="0">
                <a:solidFill>
                  <a:srgbClr val="2D3748"/>
                </a:solidFill>
                <a:latin typeface="Arial" panose="020B0604020202020204" pitchFamily="34" charset="0"/>
                <a:ea typeface="Quattrocento Sans" pitchFamily="34" charset="-122"/>
                <a:cs typeface="Arial" panose="020B0604020202020204" pitchFamily="34" charset="0"/>
              </a:rPr>
              <a:t>—</a:t>
            </a:r>
            <a:r>
              <a:rPr lang="ru-RU" sz="1600" b="1" dirty="0">
                <a:solidFill>
                  <a:srgbClr val="2D3748"/>
                </a:solidFill>
                <a:latin typeface="Arial" panose="020B0604020202020204" pitchFamily="34" charset="0"/>
                <a:ea typeface="Quattrocento Sans" pitchFamily="34" charset="-122"/>
                <a:cs typeface="Arial" panose="020B0604020202020204" pitchFamily="34" charset="0"/>
              </a:rPr>
              <a:t> </a:t>
            </a:r>
            <a:r>
              <a:rPr lang="ru-RU" sz="1600" dirty="0">
                <a:solidFill>
                  <a:srgbClr val="2D3748"/>
                </a:solidFill>
                <a:latin typeface="Arial" panose="020B0604020202020204" pitchFamily="34" charset="0"/>
                <a:ea typeface="Quattrocento Sans" pitchFamily="34" charset="-122"/>
                <a:cs typeface="Arial" panose="020B0604020202020204" pitchFamily="34" charset="0"/>
              </a:rPr>
              <a:t>страницы и окна на XAML</a:t>
            </a:r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Shape 11"/>
          <p:cNvSpPr/>
          <p:nvPr/>
        </p:nvSpPr>
        <p:spPr>
          <a:xfrm>
            <a:off x="762000" y="2768600"/>
            <a:ext cx="279400" cy="279400"/>
          </a:xfrm>
          <a:custGeom>
            <a:avLst/>
            <a:gdLst/>
            <a:ahLst/>
            <a:cxnLst/>
            <a:rect l="l" t="t" r="r" b="b"/>
            <a:pathLst>
              <a:path w="279400" h="279400">
                <a:moveTo>
                  <a:pt x="181566" y="114871"/>
                </a:moveTo>
                <a:cubicBezTo>
                  <a:pt x="186892" y="113070"/>
                  <a:pt x="192480" y="116235"/>
                  <a:pt x="194881" y="122401"/>
                </a:cubicBezTo>
                <a:lnTo>
                  <a:pt x="203002" y="142920"/>
                </a:lnTo>
                <a:cubicBezTo>
                  <a:pt x="207498" y="143684"/>
                  <a:pt x="211907" y="145212"/>
                  <a:pt x="216055" y="147340"/>
                </a:cubicBezTo>
                <a:lnTo>
                  <a:pt x="231334" y="134625"/>
                </a:lnTo>
                <a:cubicBezTo>
                  <a:pt x="235918" y="130805"/>
                  <a:pt x="241987" y="131569"/>
                  <a:pt x="245872" y="136426"/>
                </a:cubicBezTo>
                <a:lnTo>
                  <a:pt x="254254" y="146903"/>
                </a:lnTo>
                <a:cubicBezTo>
                  <a:pt x="258139" y="151760"/>
                  <a:pt x="258751" y="159400"/>
                  <a:pt x="255695" y="165075"/>
                </a:cubicBezTo>
                <a:lnTo>
                  <a:pt x="245523" y="184120"/>
                </a:lnTo>
                <a:cubicBezTo>
                  <a:pt x="246352" y="186685"/>
                  <a:pt x="247094" y="189359"/>
                  <a:pt x="247706" y="192142"/>
                </a:cubicBezTo>
                <a:cubicBezTo>
                  <a:pt x="248317" y="194925"/>
                  <a:pt x="248710" y="197654"/>
                  <a:pt x="249015" y="200437"/>
                </a:cubicBezTo>
                <a:lnTo>
                  <a:pt x="265474" y="210587"/>
                </a:lnTo>
                <a:cubicBezTo>
                  <a:pt x="270407" y="213643"/>
                  <a:pt x="272939" y="220628"/>
                  <a:pt x="271498" y="227231"/>
                </a:cubicBezTo>
                <a:lnTo>
                  <a:pt x="268442" y="241528"/>
                </a:lnTo>
                <a:cubicBezTo>
                  <a:pt x="267002" y="248131"/>
                  <a:pt x="262068" y="252606"/>
                  <a:pt x="256568" y="252169"/>
                </a:cubicBezTo>
                <a:lnTo>
                  <a:pt x="238232" y="250696"/>
                </a:lnTo>
                <a:cubicBezTo>
                  <a:pt x="235482" y="255116"/>
                  <a:pt x="232295" y="259209"/>
                  <a:pt x="228671" y="262701"/>
                </a:cubicBezTo>
                <a:lnTo>
                  <a:pt x="229850" y="285566"/>
                </a:lnTo>
                <a:cubicBezTo>
                  <a:pt x="230199" y="292442"/>
                  <a:pt x="226620" y="298663"/>
                  <a:pt x="221337" y="300410"/>
                </a:cubicBezTo>
                <a:lnTo>
                  <a:pt x="209899" y="304229"/>
                </a:lnTo>
                <a:cubicBezTo>
                  <a:pt x="204573" y="306030"/>
                  <a:pt x="199029" y="302865"/>
                  <a:pt x="196584" y="296699"/>
                </a:cubicBezTo>
                <a:lnTo>
                  <a:pt x="188464" y="276180"/>
                </a:lnTo>
                <a:cubicBezTo>
                  <a:pt x="183967" y="275416"/>
                  <a:pt x="179558" y="273888"/>
                  <a:pt x="175411" y="271760"/>
                </a:cubicBezTo>
                <a:lnTo>
                  <a:pt x="160131" y="284475"/>
                </a:lnTo>
                <a:cubicBezTo>
                  <a:pt x="155547" y="288295"/>
                  <a:pt x="149479" y="287531"/>
                  <a:pt x="145594" y="282674"/>
                </a:cubicBezTo>
                <a:lnTo>
                  <a:pt x="137212" y="272197"/>
                </a:lnTo>
                <a:cubicBezTo>
                  <a:pt x="133326" y="267340"/>
                  <a:pt x="132715" y="259755"/>
                  <a:pt x="135771" y="254025"/>
                </a:cubicBezTo>
                <a:lnTo>
                  <a:pt x="145943" y="234925"/>
                </a:lnTo>
                <a:cubicBezTo>
                  <a:pt x="145113" y="232360"/>
                  <a:pt x="144371" y="229686"/>
                  <a:pt x="143760" y="226903"/>
                </a:cubicBezTo>
                <a:cubicBezTo>
                  <a:pt x="143149" y="224120"/>
                  <a:pt x="142756" y="221337"/>
                  <a:pt x="142450" y="218609"/>
                </a:cubicBezTo>
                <a:lnTo>
                  <a:pt x="125992" y="208459"/>
                </a:lnTo>
                <a:cubicBezTo>
                  <a:pt x="121059" y="205403"/>
                  <a:pt x="118570" y="198418"/>
                  <a:pt x="119967" y="191815"/>
                </a:cubicBezTo>
                <a:lnTo>
                  <a:pt x="123023" y="177517"/>
                </a:lnTo>
                <a:cubicBezTo>
                  <a:pt x="124464" y="170914"/>
                  <a:pt x="129397" y="166439"/>
                  <a:pt x="134898" y="166876"/>
                </a:cubicBezTo>
                <a:lnTo>
                  <a:pt x="153190" y="168349"/>
                </a:lnTo>
                <a:cubicBezTo>
                  <a:pt x="155940" y="163929"/>
                  <a:pt x="159127" y="159836"/>
                  <a:pt x="162750" y="156344"/>
                </a:cubicBezTo>
                <a:lnTo>
                  <a:pt x="161572" y="133534"/>
                </a:lnTo>
                <a:cubicBezTo>
                  <a:pt x="161223" y="126658"/>
                  <a:pt x="164802" y="120437"/>
                  <a:pt x="170085" y="118690"/>
                </a:cubicBezTo>
                <a:lnTo>
                  <a:pt x="181523" y="114871"/>
                </a:lnTo>
                <a:close/>
                <a:moveTo>
                  <a:pt x="195755" y="185539"/>
                </a:moveTo>
                <a:cubicBezTo>
                  <a:pt x="185153" y="185554"/>
                  <a:pt x="176556" y="196325"/>
                  <a:pt x="176568" y="209577"/>
                </a:cubicBezTo>
                <a:cubicBezTo>
                  <a:pt x="176580" y="222829"/>
                  <a:pt x="185197" y="233576"/>
                  <a:pt x="195798" y="233561"/>
                </a:cubicBezTo>
                <a:cubicBezTo>
                  <a:pt x="206400" y="233546"/>
                  <a:pt x="214997" y="222775"/>
                  <a:pt x="214985" y="209523"/>
                </a:cubicBezTo>
                <a:cubicBezTo>
                  <a:pt x="214973" y="196271"/>
                  <a:pt x="206356" y="185524"/>
                  <a:pt x="195755" y="185539"/>
                </a:cubicBezTo>
                <a:close/>
                <a:moveTo>
                  <a:pt x="98183" y="-24829"/>
                </a:moveTo>
                <a:lnTo>
                  <a:pt x="109621" y="-21010"/>
                </a:lnTo>
                <a:cubicBezTo>
                  <a:pt x="114903" y="-19209"/>
                  <a:pt x="118483" y="-12988"/>
                  <a:pt x="118134" y="-6166"/>
                </a:cubicBezTo>
                <a:lnTo>
                  <a:pt x="116955" y="16644"/>
                </a:lnTo>
                <a:cubicBezTo>
                  <a:pt x="120579" y="20136"/>
                  <a:pt x="123765" y="24175"/>
                  <a:pt x="126516" y="28649"/>
                </a:cubicBezTo>
                <a:lnTo>
                  <a:pt x="144851" y="27176"/>
                </a:lnTo>
                <a:cubicBezTo>
                  <a:pt x="150308" y="26739"/>
                  <a:pt x="155285" y="31214"/>
                  <a:pt x="156726" y="37817"/>
                </a:cubicBezTo>
                <a:lnTo>
                  <a:pt x="159782" y="52115"/>
                </a:lnTo>
                <a:cubicBezTo>
                  <a:pt x="161179" y="58718"/>
                  <a:pt x="158690" y="65703"/>
                  <a:pt x="153757" y="68759"/>
                </a:cubicBezTo>
                <a:lnTo>
                  <a:pt x="137299" y="78909"/>
                </a:lnTo>
                <a:cubicBezTo>
                  <a:pt x="136993" y="81692"/>
                  <a:pt x="136557" y="84475"/>
                  <a:pt x="135989" y="87203"/>
                </a:cubicBezTo>
                <a:cubicBezTo>
                  <a:pt x="135422" y="89932"/>
                  <a:pt x="134636" y="92660"/>
                  <a:pt x="133806" y="95225"/>
                </a:cubicBezTo>
                <a:lnTo>
                  <a:pt x="143978" y="114325"/>
                </a:lnTo>
                <a:cubicBezTo>
                  <a:pt x="147034" y="120055"/>
                  <a:pt x="146423" y="127640"/>
                  <a:pt x="142538" y="132497"/>
                </a:cubicBezTo>
                <a:lnTo>
                  <a:pt x="134156" y="142974"/>
                </a:lnTo>
                <a:cubicBezTo>
                  <a:pt x="130270" y="147831"/>
                  <a:pt x="124202" y="148595"/>
                  <a:pt x="119618" y="144775"/>
                </a:cubicBezTo>
                <a:lnTo>
                  <a:pt x="104338" y="132060"/>
                </a:lnTo>
                <a:cubicBezTo>
                  <a:pt x="100191" y="134188"/>
                  <a:pt x="95782" y="135716"/>
                  <a:pt x="91285" y="136480"/>
                </a:cubicBezTo>
                <a:lnTo>
                  <a:pt x="83165" y="156999"/>
                </a:lnTo>
                <a:cubicBezTo>
                  <a:pt x="80720" y="163165"/>
                  <a:pt x="75132" y="166276"/>
                  <a:pt x="69850" y="164529"/>
                </a:cubicBezTo>
                <a:lnTo>
                  <a:pt x="58412" y="160710"/>
                </a:lnTo>
                <a:cubicBezTo>
                  <a:pt x="53086" y="158909"/>
                  <a:pt x="49550" y="152688"/>
                  <a:pt x="49899" y="145866"/>
                </a:cubicBezTo>
                <a:lnTo>
                  <a:pt x="51078" y="123001"/>
                </a:lnTo>
                <a:cubicBezTo>
                  <a:pt x="47454" y="119509"/>
                  <a:pt x="44267" y="115471"/>
                  <a:pt x="41517" y="110996"/>
                </a:cubicBezTo>
                <a:lnTo>
                  <a:pt x="23181" y="112469"/>
                </a:lnTo>
                <a:cubicBezTo>
                  <a:pt x="17724" y="112906"/>
                  <a:pt x="12748" y="108431"/>
                  <a:pt x="11307" y="101828"/>
                </a:cubicBezTo>
                <a:lnTo>
                  <a:pt x="8251" y="87531"/>
                </a:lnTo>
                <a:cubicBezTo>
                  <a:pt x="6854" y="80928"/>
                  <a:pt x="9342" y="73943"/>
                  <a:pt x="14276" y="70887"/>
                </a:cubicBezTo>
                <a:lnTo>
                  <a:pt x="30734" y="60737"/>
                </a:lnTo>
                <a:cubicBezTo>
                  <a:pt x="31040" y="57954"/>
                  <a:pt x="31476" y="55225"/>
                  <a:pt x="32044" y="52442"/>
                </a:cubicBezTo>
                <a:cubicBezTo>
                  <a:pt x="32655" y="49659"/>
                  <a:pt x="33353" y="46985"/>
                  <a:pt x="34227" y="44420"/>
                </a:cubicBezTo>
                <a:lnTo>
                  <a:pt x="24055" y="25375"/>
                </a:lnTo>
                <a:cubicBezTo>
                  <a:pt x="20999" y="19645"/>
                  <a:pt x="21610" y="12060"/>
                  <a:pt x="25495" y="7203"/>
                </a:cubicBezTo>
                <a:lnTo>
                  <a:pt x="33877" y="-3274"/>
                </a:lnTo>
                <a:cubicBezTo>
                  <a:pt x="37763" y="-8131"/>
                  <a:pt x="43831" y="-8895"/>
                  <a:pt x="48415" y="-5075"/>
                </a:cubicBezTo>
                <a:lnTo>
                  <a:pt x="63694" y="7640"/>
                </a:lnTo>
                <a:cubicBezTo>
                  <a:pt x="67842" y="5512"/>
                  <a:pt x="72251" y="3984"/>
                  <a:pt x="76748" y="3220"/>
                </a:cubicBezTo>
                <a:lnTo>
                  <a:pt x="84868" y="-17299"/>
                </a:lnTo>
                <a:cubicBezTo>
                  <a:pt x="87313" y="-23465"/>
                  <a:pt x="92857" y="-26576"/>
                  <a:pt x="98183" y="-24829"/>
                </a:cubicBezTo>
                <a:close/>
                <a:moveTo>
                  <a:pt x="83995" y="45839"/>
                </a:moveTo>
                <a:cubicBezTo>
                  <a:pt x="73393" y="45839"/>
                  <a:pt x="64786" y="56598"/>
                  <a:pt x="64786" y="69850"/>
                </a:cubicBezTo>
                <a:cubicBezTo>
                  <a:pt x="64786" y="83102"/>
                  <a:pt x="73393" y="93861"/>
                  <a:pt x="83995" y="93861"/>
                </a:cubicBezTo>
                <a:cubicBezTo>
                  <a:pt x="94596" y="93861"/>
                  <a:pt x="103203" y="83102"/>
                  <a:pt x="103203" y="69850"/>
                </a:cubicBezTo>
                <a:cubicBezTo>
                  <a:pt x="103203" y="56598"/>
                  <a:pt x="94596" y="45839"/>
                  <a:pt x="83995" y="45839"/>
                </a:cubicBezTo>
                <a:close/>
              </a:path>
            </a:pathLst>
          </a:custGeom>
          <a:solidFill>
            <a:srgbClr val="00ACC1"/>
          </a:solidFill>
          <a:ln/>
        </p:spPr>
        <p:txBody>
          <a:bodyPr/>
          <a:lstStyle/>
          <a:p>
            <a:endParaRPr lang="ru-R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1168400" y="2705100"/>
            <a:ext cx="635000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40000"/>
              </a:lnSpc>
            </a:pPr>
            <a:r>
              <a:rPr lang="en-US" sz="1600" b="1" dirty="0">
                <a:solidFill>
                  <a:srgbClr val="2D3748"/>
                </a:solidFill>
                <a:latin typeface="Arial" panose="020B0604020202020204" pitchFamily="34" charset="0"/>
                <a:ea typeface="Quattrocento Sans" pitchFamily="34" charset="-122"/>
                <a:cs typeface="Arial" panose="020B0604020202020204" pitchFamily="34" charset="0"/>
              </a:rPr>
              <a:t>Business Logic / DAL </a:t>
            </a:r>
            <a:r>
              <a:rPr lang="en-US" sz="1600" dirty="0">
                <a:solidFill>
                  <a:srgbClr val="2D3748"/>
                </a:solidFill>
                <a:latin typeface="Arial" panose="020B0604020202020204" pitchFamily="34" charset="0"/>
                <a:ea typeface="Quattrocento Sans" pitchFamily="34" charset="-122"/>
                <a:cs typeface="Arial" panose="020B0604020202020204" pitchFamily="34" charset="0"/>
              </a:rPr>
              <a:t>—</a:t>
            </a:r>
            <a:r>
              <a:rPr lang="en-US" sz="1600" b="1" dirty="0">
                <a:solidFill>
                  <a:srgbClr val="2D3748"/>
                </a:solidFill>
                <a:latin typeface="Arial" panose="020B0604020202020204" pitchFamily="34" charset="0"/>
                <a:ea typeface="Quattrocento Sans" pitchFamily="34" charset="-122"/>
                <a:cs typeface="Arial" panose="020B0604020202020204" pitchFamily="34" charset="0"/>
              </a:rPr>
              <a:t> </a:t>
            </a:r>
            <a:r>
              <a:rPr lang="ru-RU" sz="1600" dirty="0">
                <a:solidFill>
                  <a:srgbClr val="2D3748"/>
                </a:solidFill>
                <a:latin typeface="Arial" panose="020B0604020202020204" pitchFamily="34" charset="0"/>
                <a:ea typeface="Quattrocento Sans" pitchFamily="34" charset="-122"/>
                <a:cs typeface="Arial" panose="020B0604020202020204" pitchFamily="34" charset="0"/>
              </a:rPr>
              <a:t>сервисы и </a:t>
            </a:r>
            <a:r>
              <a:rPr lang="en-US" sz="1600" dirty="0" err="1">
                <a:solidFill>
                  <a:srgbClr val="2D3748"/>
                </a:solidFill>
                <a:latin typeface="Arial" panose="020B0604020202020204" pitchFamily="34" charset="0"/>
                <a:ea typeface="Quattrocento Sans" pitchFamily="34" charset="-122"/>
                <a:cs typeface="Arial" panose="020B0604020202020204" pitchFamily="34" charset="0"/>
              </a:rPr>
              <a:t>DbContext</a:t>
            </a:r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5" name="Shape 13"/>
          <p:cNvSpPr/>
          <p:nvPr/>
        </p:nvSpPr>
        <p:spPr>
          <a:xfrm>
            <a:off x="762000" y="3530600"/>
            <a:ext cx="279400" cy="279400"/>
          </a:xfrm>
          <a:custGeom>
            <a:avLst/>
            <a:gdLst/>
            <a:ahLst/>
            <a:cxnLst/>
            <a:rect l="l" t="t" r="r" b="b"/>
            <a:pathLst>
              <a:path w="279400" h="279400">
                <a:moveTo>
                  <a:pt x="279400" y="112306"/>
                </a:moveTo>
                <a:cubicBezTo>
                  <a:pt x="270170" y="117654"/>
                  <a:pt x="259568" y="121965"/>
                  <a:pt x="248529" y="125403"/>
                </a:cubicBezTo>
                <a:cubicBezTo>
                  <a:pt x="219217" y="134570"/>
                  <a:pt x="180737" y="139700"/>
                  <a:pt x="139700" y="139700"/>
                </a:cubicBezTo>
                <a:cubicBezTo>
                  <a:pt x="98663" y="139700"/>
                  <a:pt x="60121" y="134516"/>
                  <a:pt x="30871" y="125403"/>
                </a:cubicBezTo>
                <a:cubicBezTo>
                  <a:pt x="19895" y="121965"/>
                  <a:pt x="9230" y="117654"/>
                  <a:pt x="0" y="112306"/>
                </a:cubicBezTo>
                <a:lnTo>
                  <a:pt x="0" y="157163"/>
                </a:lnTo>
                <a:cubicBezTo>
                  <a:pt x="0" y="181283"/>
                  <a:pt x="62553" y="200819"/>
                  <a:pt x="139700" y="200819"/>
                </a:cubicBezTo>
                <a:cubicBezTo>
                  <a:pt x="216847" y="200819"/>
                  <a:pt x="279400" y="181283"/>
                  <a:pt x="279400" y="157163"/>
                </a:cubicBezTo>
                <a:lnTo>
                  <a:pt x="279400" y="112306"/>
                </a:lnTo>
                <a:close/>
                <a:moveTo>
                  <a:pt x="279400" y="69850"/>
                </a:moveTo>
                <a:lnTo>
                  <a:pt x="279400" y="43656"/>
                </a:lnTo>
                <a:cubicBezTo>
                  <a:pt x="279400" y="19536"/>
                  <a:pt x="216847" y="0"/>
                  <a:pt x="139700" y="0"/>
                </a:cubicBezTo>
                <a:cubicBezTo>
                  <a:pt x="62553" y="0"/>
                  <a:pt x="0" y="19536"/>
                  <a:pt x="0" y="43656"/>
                </a:cubicBezTo>
                <a:lnTo>
                  <a:pt x="0" y="69850"/>
                </a:lnTo>
                <a:cubicBezTo>
                  <a:pt x="0" y="93970"/>
                  <a:pt x="62553" y="113506"/>
                  <a:pt x="139700" y="113506"/>
                </a:cubicBezTo>
                <a:cubicBezTo>
                  <a:pt x="216847" y="113506"/>
                  <a:pt x="279400" y="93970"/>
                  <a:pt x="279400" y="69850"/>
                </a:cubicBezTo>
                <a:close/>
                <a:moveTo>
                  <a:pt x="248529" y="212715"/>
                </a:moveTo>
                <a:cubicBezTo>
                  <a:pt x="219279" y="221828"/>
                  <a:pt x="180799" y="227013"/>
                  <a:pt x="139700" y="227013"/>
                </a:cubicBezTo>
                <a:cubicBezTo>
                  <a:pt x="98601" y="227013"/>
                  <a:pt x="60121" y="221828"/>
                  <a:pt x="30871" y="212715"/>
                </a:cubicBezTo>
                <a:cubicBezTo>
                  <a:pt x="19895" y="209277"/>
                  <a:pt x="9230" y="204966"/>
                  <a:pt x="0" y="199618"/>
                </a:cubicBezTo>
                <a:lnTo>
                  <a:pt x="0" y="235744"/>
                </a:lnTo>
                <a:cubicBezTo>
                  <a:pt x="0" y="259864"/>
                  <a:pt x="62553" y="279400"/>
                  <a:pt x="139700" y="279400"/>
                </a:cubicBezTo>
                <a:cubicBezTo>
                  <a:pt x="216847" y="279400"/>
                  <a:pt x="279400" y="259864"/>
                  <a:pt x="279400" y="235744"/>
                </a:cubicBezTo>
                <a:lnTo>
                  <a:pt x="279400" y="199618"/>
                </a:lnTo>
                <a:cubicBezTo>
                  <a:pt x="270170" y="204966"/>
                  <a:pt x="259568" y="209277"/>
                  <a:pt x="248529" y="212715"/>
                </a:cubicBezTo>
                <a:close/>
              </a:path>
            </a:pathLst>
          </a:custGeom>
          <a:solidFill>
            <a:srgbClr val="00ACC1"/>
          </a:solidFill>
          <a:ln/>
        </p:spPr>
        <p:txBody>
          <a:bodyPr/>
          <a:lstStyle/>
          <a:p>
            <a:endParaRPr lang="ru-R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1168400" y="3467100"/>
            <a:ext cx="635000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40000"/>
              </a:lnSpc>
            </a:pPr>
            <a:r>
              <a:rPr lang="en-US" sz="1600" b="1" dirty="0">
                <a:solidFill>
                  <a:srgbClr val="2D3748"/>
                </a:solidFill>
                <a:latin typeface="Arial" panose="020B0604020202020204" pitchFamily="34" charset="0"/>
                <a:ea typeface="Quattrocento Sans" pitchFamily="34" charset="-122"/>
                <a:cs typeface="Arial" panose="020B0604020202020204" pitchFamily="34" charset="0"/>
              </a:rPr>
              <a:t>Data Layer</a:t>
            </a:r>
            <a:r>
              <a:rPr lang="en-US" sz="1600" dirty="0">
                <a:solidFill>
                  <a:srgbClr val="2D3748"/>
                </a:solidFill>
                <a:latin typeface="Arial" panose="020B0604020202020204" pitchFamily="34" charset="0"/>
                <a:ea typeface="Quattrocento Sans" pitchFamily="34" charset="-122"/>
                <a:cs typeface="Arial" panose="020B0604020202020204" pitchFamily="34" charset="0"/>
              </a:rPr>
              <a:t> — Microsoft SQL Server</a:t>
            </a:r>
            <a:r>
              <a:rPr lang="ru-RU" sz="1600" dirty="0">
                <a:solidFill>
                  <a:srgbClr val="2D3748"/>
                </a:solidFill>
                <a:latin typeface="Arial" panose="020B0604020202020204" pitchFamily="34" charset="0"/>
                <a:ea typeface="Quattrocento Sans" pitchFamily="34" charset="-122"/>
                <a:cs typeface="Arial" panose="020B0604020202020204" pitchFamily="34" charset="0"/>
              </a:rPr>
              <a:t> </a:t>
            </a:r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762000" y="4254500"/>
            <a:ext cx="5080000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ru-RU" b="1" dirty="0">
                <a:solidFill>
                  <a:srgbClr val="1A1F3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Модели</a:t>
            </a:r>
            <a:endParaRPr lang="en-US" sz="1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762000" y="4673600"/>
            <a:ext cx="67310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40000"/>
              </a:lnSpc>
            </a:pPr>
            <a:r>
              <a:rPr lang="en-US" sz="1500" dirty="0">
                <a:solidFill>
                  <a:srgbClr val="2D3748"/>
                </a:solidFill>
                <a:latin typeface="Arial" panose="020B0604020202020204" pitchFamily="34" charset="0"/>
                <a:ea typeface="Quattrocento Sans" pitchFamily="34" charset="-122"/>
                <a:cs typeface="Arial" panose="020B0604020202020204" pitchFamily="34" charset="0"/>
              </a:rPr>
              <a:t>User, Activist, Cell, ActivistCell, Touch, </a:t>
            </a:r>
            <a:r>
              <a:rPr lang="en-US" sz="1500" dirty="0" err="1">
                <a:solidFill>
                  <a:srgbClr val="2D3748"/>
                </a:solidFill>
                <a:latin typeface="Arial" panose="020B0604020202020204" pitchFamily="34" charset="0"/>
                <a:ea typeface="Quattrocento Sans" pitchFamily="34" charset="-122"/>
                <a:cs typeface="Arial" panose="020B0604020202020204" pitchFamily="34" charset="0"/>
              </a:rPr>
              <a:t>TouchType</a:t>
            </a:r>
            <a:endParaRPr lang="en-US" sz="15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762000" y="5334000"/>
            <a:ext cx="5080000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ru-RU" sz="1800" b="1" dirty="0">
                <a:solidFill>
                  <a:srgbClr val="1A1F3C"/>
                </a:solidFill>
                <a:latin typeface="Arial" panose="020B0604020202020204" pitchFamily="34" charset="0"/>
                <a:ea typeface="Liter" pitchFamily="34" charset="-122"/>
                <a:cs typeface="Arial" panose="020B0604020202020204" pitchFamily="34" charset="0"/>
              </a:rPr>
              <a:t>Сервисы</a:t>
            </a:r>
            <a:endParaRPr lang="en-US" sz="1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762000" y="5753100"/>
            <a:ext cx="4699000" cy="101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40000"/>
              </a:lnSpc>
            </a:pPr>
            <a:r>
              <a:rPr lang="en-US" sz="1500" dirty="0" err="1">
                <a:solidFill>
                  <a:srgbClr val="2D3748"/>
                </a:solidFill>
                <a:latin typeface="Arial" panose="020B0604020202020204" pitchFamily="34" charset="0"/>
                <a:ea typeface="Quattrocento Sans" pitchFamily="34" charset="-122"/>
                <a:cs typeface="Arial" panose="020B0604020202020204" pitchFamily="34" charset="0"/>
              </a:rPr>
              <a:t>ActivistService</a:t>
            </a:r>
            <a:r>
              <a:rPr lang="en-US" sz="1500" dirty="0">
                <a:solidFill>
                  <a:srgbClr val="2D3748"/>
                </a:solidFill>
                <a:latin typeface="Arial" panose="020B0604020202020204" pitchFamily="34" charset="0"/>
                <a:ea typeface="Quattrocento Sans" pitchFamily="34" charset="-122"/>
                <a:cs typeface="Arial" panose="020B0604020202020204" pitchFamily="34" charset="0"/>
              </a:rPr>
              <a:t>, </a:t>
            </a:r>
            <a:r>
              <a:rPr lang="en-US" sz="1500" dirty="0" err="1">
                <a:solidFill>
                  <a:srgbClr val="2D3748"/>
                </a:solidFill>
                <a:latin typeface="Arial" panose="020B0604020202020204" pitchFamily="34" charset="0"/>
                <a:ea typeface="Quattrocento Sans" pitchFamily="34" charset="-122"/>
                <a:cs typeface="Arial" panose="020B0604020202020204" pitchFamily="34" charset="0"/>
              </a:rPr>
              <a:t>CellService</a:t>
            </a:r>
            <a:r>
              <a:rPr lang="en-US" sz="1500" dirty="0">
                <a:solidFill>
                  <a:srgbClr val="2D3748"/>
                </a:solidFill>
                <a:latin typeface="Arial" panose="020B0604020202020204" pitchFamily="34" charset="0"/>
                <a:ea typeface="Quattrocento Sans" pitchFamily="34" charset="-122"/>
                <a:cs typeface="Arial" panose="020B0604020202020204" pitchFamily="34" charset="0"/>
              </a:rPr>
              <a:t>, </a:t>
            </a:r>
            <a:r>
              <a:rPr lang="en-US" sz="1500" dirty="0" err="1">
                <a:solidFill>
                  <a:srgbClr val="2D3748"/>
                </a:solidFill>
                <a:latin typeface="Arial" panose="020B0604020202020204" pitchFamily="34" charset="0"/>
                <a:ea typeface="Quattrocento Sans" pitchFamily="34" charset="-122"/>
                <a:cs typeface="Arial" panose="020B0604020202020204" pitchFamily="34" charset="0"/>
              </a:rPr>
              <a:t>UserService</a:t>
            </a:r>
            <a:r>
              <a:rPr lang="en-US" sz="1500" dirty="0">
                <a:solidFill>
                  <a:srgbClr val="2D3748"/>
                </a:solidFill>
                <a:latin typeface="Arial" panose="020B0604020202020204" pitchFamily="34" charset="0"/>
                <a:ea typeface="Quattrocento Sans" pitchFamily="34" charset="-122"/>
                <a:cs typeface="Arial" panose="020B0604020202020204" pitchFamily="34" charset="0"/>
              </a:rPr>
              <a:t>, </a:t>
            </a:r>
            <a:r>
              <a:rPr lang="en-US" sz="1500" dirty="0" err="1">
                <a:solidFill>
                  <a:srgbClr val="2D3748"/>
                </a:solidFill>
                <a:latin typeface="Arial" panose="020B0604020202020204" pitchFamily="34" charset="0"/>
                <a:ea typeface="Quattrocento Sans" pitchFamily="34" charset="-122"/>
                <a:cs typeface="Arial" panose="020B0604020202020204" pitchFamily="34" charset="0"/>
              </a:rPr>
              <a:t>ExcelService</a:t>
            </a:r>
            <a:r>
              <a:rPr lang="en-US" sz="1500" dirty="0">
                <a:solidFill>
                  <a:srgbClr val="2D3748"/>
                </a:solidFill>
                <a:latin typeface="Arial" panose="020B0604020202020204" pitchFamily="34" charset="0"/>
                <a:ea typeface="Quattrocento Sans" pitchFamily="34" charset="-122"/>
                <a:cs typeface="Arial" panose="020B0604020202020204" pitchFamily="34" charset="0"/>
              </a:rPr>
              <a:t>, </a:t>
            </a:r>
            <a:r>
              <a:rPr lang="en-US" sz="1500" dirty="0" err="1">
                <a:solidFill>
                  <a:srgbClr val="2D3748"/>
                </a:solidFill>
                <a:latin typeface="Arial" panose="020B0604020202020204" pitchFamily="34" charset="0"/>
                <a:ea typeface="Quattrocento Sans" pitchFamily="34" charset="-122"/>
                <a:cs typeface="Arial" panose="020B0604020202020204" pitchFamily="34" charset="0"/>
              </a:rPr>
              <a:t>PasswordService</a:t>
            </a:r>
            <a:r>
              <a:rPr lang="en-US" sz="1500" dirty="0">
                <a:solidFill>
                  <a:srgbClr val="2D3748"/>
                </a:solidFill>
                <a:latin typeface="Arial" panose="020B0604020202020204" pitchFamily="34" charset="0"/>
                <a:ea typeface="Quattrocento Sans" pitchFamily="34" charset="-122"/>
                <a:cs typeface="Arial" panose="020B0604020202020204" pitchFamily="34" charset="0"/>
              </a:rPr>
              <a:t>, </a:t>
            </a:r>
            <a:r>
              <a:rPr lang="en-US" sz="1500" dirty="0" err="1">
                <a:solidFill>
                  <a:srgbClr val="2D3748"/>
                </a:solidFill>
                <a:latin typeface="Arial" panose="020B0604020202020204" pitchFamily="34" charset="0"/>
                <a:ea typeface="Quattrocento Sans" pitchFamily="34" charset="-122"/>
                <a:cs typeface="Arial" panose="020B0604020202020204" pitchFamily="34" charset="0"/>
              </a:rPr>
              <a:t>DBService</a:t>
            </a:r>
            <a:endParaRPr lang="en-US" sz="15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22" name="Рисунок 21">
            <a:extLst>
              <a:ext uri="{FF2B5EF4-FFF2-40B4-BE49-F238E27FC236}">
                <a16:creationId xmlns:a16="http://schemas.microsoft.com/office/drawing/2014/main" id="{711B734C-C11A-DD05-3350-7C52EF237F6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18400" y="1671364"/>
            <a:ext cx="5619750" cy="5543550"/>
          </a:xfrm>
          <a:prstGeom prst="rect">
            <a:avLst/>
          </a:prstGeom>
        </p:spPr>
      </p:pic>
    </p:spTree>
  </p:cSld>
  <p:clrMapOvr>
    <a:masterClrMapping/>
  </p:clrMapOvr>
  <p:transition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0F2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256000" cy="508000"/>
          </a:xfrm>
          <a:prstGeom prst="rect">
            <a:avLst/>
          </a:prstGeom>
          <a:solidFill>
            <a:srgbClr val="1A1F3C"/>
          </a:solidFill>
          <a:ln/>
        </p:spPr>
        <p:txBody>
          <a:bodyPr/>
          <a:lstStyle/>
          <a:p>
            <a:endParaRPr lang="ru-R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0" y="0"/>
            <a:ext cx="4064000" cy="508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ru-RU" sz="120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О проекте</a:t>
            </a:r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Text 2"/>
          <p:cNvSpPr/>
          <p:nvPr/>
        </p:nvSpPr>
        <p:spPr>
          <a:xfrm>
            <a:off x="4064000" y="0"/>
            <a:ext cx="4064000" cy="457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ru-RU" sz="1200" b="1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Архитектура</a:t>
            </a:r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Shape 3"/>
          <p:cNvSpPr/>
          <p:nvPr/>
        </p:nvSpPr>
        <p:spPr>
          <a:xfrm>
            <a:off x="5461000" y="469900"/>
            <a:ext cx="1270000" cy="38100"/>
          </a:xfrm>
          <a:prstGeom prst="rect">
            <a:avLst/>
          </a:prstGeom>
          <a:solidFill>
            <a:srgbClr val="00ACC1"/>
          </a:solidFill>
          <a:ln/>
        </p:spPr>
        <p:txBody>
          <a:bodyPr/>
          <a:lstStyle/>
          <a:p>
            <a:endParaRPr lang="ru-R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Text 4"/>
          <p:cNvSpPr/>
          <p:nvPr/>
        </p:nvSpPr>
        <p:spPr>
          <a:xfrm>
            <a:off x="8128000" y="0"/>
            <a:ext cx="4064000" cy="508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ru-RU" sz="1200" dirty="0">
                <a:solidFill>
                  <a:srgbClr val="FFFFFF"/>
                </a:solidFill>
                <a:latin typeface="Arial" panose="020B0604020202020204" pitchFamily="34" charset="0"/>
                <a:ea typeface="Quattrocento Sans" pitchFamily="34" charset="-122"/>
                <a:cs typeface="Arial" panose="020B0604020202020204" pitchFamily="34" charset="0"/>
              </a:rPr>
              <a:t>Функционал</a:t>
            </a:r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Text 5"/>
          <p:cNvSpPr/>
          <p:nvPr/>
        </p:nvSpPr>
        <p:spPr>
          <a:xfrm>
            <a:off x="12192000" y="0"/>
            <a:ext cx="4064000" cy="508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ru-RU" sz="1200" dirty="0">
                <a:solidFill>
                  <a:srgbClr val="FFFFFF"/>
                </a:solidFill>
                <a:latin typeface="Arial" panose="020B0604020202020204" pitchFamily="34" charset="0"/>
                <a:ea typeface="Quattrocento Sans" pitchFamily="34" charset="-122"/>
                <a:cs typeface="Arial" panose="020B0604020202020204" pitchFamily="34" charset="0"/>
              </a:rPr>
              <a:t>Документация</a:t>
            </a:r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Text 6"/>
          <p:cNvSpPr/>
          <p:nvPr/>
        </p:nvSpPr>
        <p:spPr>
          <a:xfrm>
            <a:off x="762000" y="698500"/>
            <a:ext cx="8890000" cy="482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ru-RU" sz="2800" b="1" dirty="0">
                <a:solidFill>
                  <a:srgbClr val="1A1F3C"/>
                </a:solidFill>
                <a:latin typeface="Arial" panose="020B0604020202020204" pitchFamily="34" charset="0"/>
                <a:ea typeface="Liter" pitchFamily="34" charset="-122"/>
                <a:cs typeface="Arial" panose="020B0604020202020204" pitchFamily="34" charset="0"/>
              </a:rPr>
              <a:t>База данных</a:t>
            </a:r>
            <a:endParaRPr lang="en-US" sz="2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" name="Shape 7"/>
          <p:cNvSpPr/>
          <p:nvPr/>
        </p:nvSpPr>
        <p:spPr>
          <a:xfrm>
            <a:off x="762000" y="1206500"/>
            <a:ext cx="762000" cy="38100"/>
          </a:xfrm>
          <a:prstGeom prst="rect">
            <a:avLst/>
          </a:prstGeom>
          <a:solidFill>
            <a:srgbClr val="00ACC1"/>
          </a:solidFill>
          <a:ln/>
        </p:spPr>
        <p:txBody>
          <a:bodyPr/>
          <a:lstStyle/>
          <a:p>
            <a:endParaRPr lang="ru-R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762000" y="1460500"/>
            <a:ext cx="7874000" cy="7302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  <a:effectLst>
            <a:outerShdw blurRad="152400" dist="38100" dir="5400000" algn="bl" rotWithShape="0">
              <a:srgbClr val="000000">
                <a:alpha val="8235"/>
              </a:srgbClr>
            </a:outerShdw>
          </a:effectLst>
        </p:spPr>
        <p:txBody>
          <a:bodyPr/>
          <a:lstStyle/>
          <a:p>
            <a:endParaRPr lang="ru-R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2" name="Text 9"/>
          <p:cNvSpPr/>
          <p:nvPr/>
        </p:nvSpPr>
        <p:spPr>
          <a:xfrm>
            <a:off x="952500" y="8286750"/>
            <a:ext cx="7493000" cy="317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400" dirty="0">
                <a:solidFill>
                  <a:srgbClr val="64748B"/>
                </a:solidFill>
                <a:latin typeface="Arial" panose="020B0604020202020204" pitchFamily="34" charset="0"/>
                <a:ea typeface="Quattrocento Sans" pitchFamily="34" charset="-122"/>
                <a:cs typeface="Arial" panose="020B0604020202020204" pitchFamily="34" charset="0"/>
              </a:rPr>
              <a:t>ER-</a:t>
            </a:r>
            <a:r>
              <a:rPr lang="ru-RU" sz="1400" dirty="0">
                <a:solidFill>
                  <a:srgbClr val="64748B"/>
                </a:solidFill>
                <a:latin typeface="Arial" panose="020B0604020202020204" pitchFamily="34" charset="0"/>
                <a:ea typeface="Quattrocento Sans" pitchFamily="34" charset="-122"/>
                <a:cs typeface="Arial" panose="020B0604020202020204" pitchFamily="34" charset="0"/>
              </a:rPr>
              <a:t>диаграмма базы данных</a:t>
            </a:r>
            <a:endParaRPr 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Text 10"/>
          <p:cNvSpPr/>
          <p:nvPr/>
        </p:nvSpPr>
        <p:spPr>
          <a:xfrm>
            <a:off x="9144000" y="1460500"/>
            <a:ext cx="6350000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ru-RU" sz="2200" b="1" dirty="0">
                <a:solidFill>
                  <a:srgbClr val="1A1F3C"/>
                </a:solidFill>
                <a:latin typeface="Arial" panose="020B0604020202020204" pitchFamily="34" charset="0"/>
                <a:ea typeface="Liter" pitchFamily="34" charset="-122"/>
                <a:cs typeface="Arial" panose="020B0604020202020204" pitchFamily="34" charset="0"/>
              </a:rPr>
              <a:t>Таблицы</a:t>
            </a:r>
            <a:endParaRPr lang="en-US" sz="2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4" name="Shape 11"/>
          <p:cNvSpPr/>
          <p:nvPr/>
        </p:nvSpPr>
        <p:spPr>
          <a:xfrm>
            <a:off x="9144000" y="1879600"/>
            <a:ext cx="508000" cy="25400"/>
          </a:xfrm>
          <a:prstGeom prst="rect">
            <a:avLst/>
          </a:prstGeom>
          <a:solidFill>
            <a:srgbClr val="00ACC1"/>
          </a:solidFill>
          <a:ln/>
        </p:spPr>
        <p:txBody>
          <a:bodyPr/>
          <a:lstStyle/>
          <a:p>
            <a:endParaRPr lang="ru-R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5" name="Shape 12"/>
          <p:cNvSpPr/>
          <p:nvPr/>
        </p:nvSpPr>
        <p:spPr>
          <a:xfrm>
            <a:off x="9144000" y="2133600"/>
            <a:ext cx="254000" cy="254000"/>
          </a:xfrm>
          <a:custGeom>
            <a:avLst/>
            <a:gdLst/>
            <a:ahLst/>
            <a:cxnLst/>
            <a:rect l="l" t="t" r="r" b="b"/>
            <a:pathLst>
              <a:path w="254000" h="254000">
                <a:moveTo>
                  <a:pt x="127000" y="123031"/>
                </a:moveTo>
                <a:cubicBezTo>
                  <a:pt x="164550" y="123031"/>
                  <a:pt x="195036" y="96356"/>
                  <a:pt x="195036" y="63500"/>
                </a:cubicBezTo>
                <a:cubicBezTo>
                  <a:pt x="195036" y="30644"/>
                  <a:pt x="164550" y="3969"/>
                  <a:pt x="127000" y="3969"/>
                </a:cubicBezTo>
                <a:cubicBezTo>
                  <a:pt x="89450" y="3969"/>
                  <a:pt x="58964" y="30644"/>
                  <a:pt x="58964" y="63500"/>
                </a:cubicBezTo>
                <a:cubicBezTo>
                  <a:pt x="58964" y="96356"/>
                  <a:pt x="89450" y="123031"/>
                  <a:pt x="127000" y="123031"/>
                </a:cubicBezTo>
                <a:close/>
                <a:moveTo>
                  <a:pt x="110161" y="150813"/>
                </a:moveTo>
                <a:cubicBezTo>
                  <a:pt x="54315" y="150813"/>
                  <a:pt x="9071" y="190401"/>
                  <a:pt x="9071" y="239266"/>
                </a:cubicBezTo>
                <a:cubicBezTo>
                  <a:pt x="9071" y="247402"/>
                  <a:pt x="16612" y="254000"/>
                  <a:pt x="25910" y="254000"/>
                </a:cubicBezTo>
                <a:lnTo>
                  <a:pt x="228090" y="254000"/>
                </a:lnTo>
                <a:cubicBezTo>
                  <a:pt x="237388" y="254000"/>
                  <a:pt x="244929" y="247402"/>
                  <a:pt x="244929" y="239266"/>
                </a:cubicBezTo>
                <a:cubicBezTo>
                  <a:pt x="244929" y="190401"/>
                  <a:pt x="199685" y="150813"/>
                  <a:pt x="143839" y="150813"/>
                </a:cubicBezTo>
                <a:lnTo>
                  <a:pt x="110161" y="150813"/>
                </a:lnTo>
                <a:close/>
              </a:path>
            </a:pathLst>
          </a:custGeom>
          <a:solidFill>
            <a:srgbClr val="00ACC1"/>
          </a:solidFill>
          <a:ln/>
        </p:spPr>
        <p:txBody>
          <a:bodyPr/>
          <a:lstStyle/>
          <a:p>
            <a:endParaRPr lang="ru-R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6" name="Text 13"/>
          <p:cNvSpPr/>
          <p:nvPr/>
        </p:nvSpPr>
        <p:spPr>
          <a:xfrm>
            <a:off x="9525000" y="2095500"/>
            <a:ext cx="59690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40000"/>
              </a:lnSpc>
            </a:pPr>
            <a:r>
              <a:rPr lang="en-US" sz="1600" b="1" dirty="0">
                <a:solidFill>
                  <a:srgbClr val="2D3748"/>
                </a:solidFill>
                <a:latin typeface="Arial" panose="020B0604020202020204" pitchFamily="34" charset="0"/>
                <a:ea typeface="Quattrocento Sans" pitchFamily="34" charset="-122"/>
                <a:cs typeface="Arial" panose="020B0604020202020204" pitchFamily="34" charset="0"/>
              </a:rPr>
              <a:t>Users</a:t>
            </a:r>
            <a:r>
              <a:rPr lang="en-US" sz="1600" dirty="0">
                <a:solidFill>
                  <a:srgbClr val="2D3748"/>
                </a:solidFill>
                <a:latin typeface="Arial" panose="020B0604020202020204" pitchFamily="34" charset="0"/>
                <a:ea typeface="Quattrocento Sans" pitchFamily="34" charset="-122"/>
                <a:cs typeface="Arial" panose="020B0604020202020204" pitchFamily="34" charset="0"/>
              </a:rPr>
              <a:t> —</a:t>
            </a:r>
            <a:r>
              <a:rPr lang="ru-RU" sz="1600" dirty="0">
                <a:solidFill>
                  <a:srgbClr val="2D3748"/>
                </a:solidFill>
                <a:latin typeface="Arial" panose="020B0604020202020204" pitchFamily="34" charset="0"/>
                <a:ea typeface="Quattrocento Sans" pitchFamily="34" charset="-122"/>
                <a:cs typeface="Arial" panose="020B0604020202020204" pitchFamily="34" charset="0"/>
              </a:rPr>
              <a:t> пользователи системы</a:t>
            </a:r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7" name="Shape 14"/>
          <p:cNvSpPr/>
          <p:nvPr/>
        </p:nvSpPr>
        <p:spPr>
          <a:xfrm>
            <a:off x="9144000" y="2819400"/>
            <a:ext cx="254000" cy="254000"/>
          </a:xfrm>
          <a:custGeom>
            <a:avLst/>
            <a:gdLst/>
            <a:ahLst/>
            <a:cxnLst/>
            <a:rect l="l" t="t" r="r" b="b"/>
            <a:pathLst>
              <a:path w="254000" h="254000">
                <a:moveTo>
                  <a:pt x="127000" y="7938"/>
                </a:moveTo>
                <a:cubicBezTo>
                  <a:pt x="149780" y="7938"/>
                  <a:pt x="168275" y="31056"/>
                  <a:pt x="168275" y="59531"/>
                </a:cubicBezTo>
                <a:cubicBezTo>
                  <a:pt x="168275" y="88007"/>
                  <a:pt x="149780" y="111125"/>
                  <a:pt x="127000" y="111125"/>
                </a:cubicBezTo>
                <a:cubicBezTo>
                  <a:pt x="104220" y="111125"/>
                  <a:pt x="85725" y="88007"/>
                  <a:pt x="85725" y="59531"/>
                </a:cubicBezTo>
                <a:cubicBezTo>
                  <a:pt x="85725" y="31056"/>
                  <a:pt x="104220" y="7938"/>
                  <a:pt x="127000" y="7938"/>
                </a:cubicBezTo>
                <a:close/>
                <a:moveTo>
                  <a:pt x="38100" y="43656"/>
                </a:moveTo>
                <a:cubicBezTo>
                  <a:pt x="53871" y="43656"/>
                  <a:pt x="66675" y="59661"/>
                  <a:pt x="66675" y="79375"/>
                </a:cubicBezTo>
                <a:cubicBezTo>
                  <a:pt x="66675" y="99089"/>
                  <a:pt x="53871" y="115094"/>
                  <a:pt x="38100" y="115094"/>
                </a:cubicBezTo>
                <a:cubicBezTo>
                  <a:pt x="22329" y="115094"/>
                  <a:pt x="9525" y="99089"/>
                  <a:pt x="9525" y="79375"/>
                </a:cubicBezTo>
                <a:cubicBezTo>
                  <a:pt x="9525" y="59661"/>
                  <a:pt x="22329" y="43656"/>
                  <a:pt x="38100" y="43656"/>
                </a:cubicBezTo>
                <a:close/>
                <a:moveTo>
                  <a:pt x="0" y="206375"/>
                </a:moveTo>
                <a:cubicBezTo>
                  <a:pt x="0" y="171301"/>
                  <a:pt x="22741" y="142875"/>
                  <a:pt x="50800" y="142875"/>
                </a:cubicBezTo>
                <a:cubicBezTo>
                  <a:pt x="55880" y="142875"/>
                  <a:pt x="60801" y="143818"/>
                  <a:pt x="65445" y="145554"/>
                </a:cubicBezTo>
                <a:cubicBezTo>
                  <a:pt x="52388" y="163810"/>
                  <a:pt x="44450" y="187920"/>
                  <a:pt x="44450" y="214313"/>
                </a:cubicBezTo>
                <a:lnTo>
                  <a:pt x="44450" y="222250"/>
                </a:lnTo>
                <a:cubicBezTo>
                  <a:pt x="44450" y="227905"/>
                  <a:pt x="45403" y="233263"/>
                  <a:pt x="47109" y="238125"/>
                </a:cubicBezTo>
                <a:lnTo>
                  <a:pt x="12700" y="238125"/>
                </a:lnTo>
                <a:cubicBezTo>
                  <a:pt x="5675" y="238125"/>
                  <a:pt x="0" y="231031"/>
                  <a:pt x="0" y="222250"/>
                </a:cubicBezTo>
                <a:lnTo>
                  <a:pt x="0" y="206375"/>
                </a:lnTo>
                <a:close/>
                <a:moveTo>
                  <a:pt x="206891" y="238125"/>
                </a:moveTo>
                <a:cubicBezTo>
                  <a:pt x="208597" y="233263"/>
                  <a:pt x="209550" y="227905"/>
                  <a:pt x="209550" y="222250"/>
                </a:cubicBezTo>
                <a:lnTo>
                  <a:pt x="209550" y="214313"/>
                </a:lnTo>
                <a:cubicBezTo>
                  <a:pt x="209550" y="187920"/>
                  <a:pt x="201613" y="163810"/>
                  <a:pt x="188555" y="145554"/>
                </a:cubicBezTo>
                <a:cubicBezTo>
                  <a:pt x="193199" y="143818"/>
                  <a:pt x="198120" y="142875"/>
                  <a:pt x="203200" y="142875"/>
                </a:cubicBezTo>
                <a:cubicBezTo>
                  <a:pt x="231259" y="142875"/>
                  <a:pt x="254000" y="171301"/>
                  <a:pt x="254000" y="206375"/>
                </a:cubicBezTo>
                <a:lnTo>
                  <a:pt x="254000" y="222250"/>
                </a:lnTo>
                <a:cubicBezTo>
                  <a:pt x="254000" y="231031"/>
                  <a:pt x="248325" y="238125"/>
                  <a:pt x="241300" y="238125"/>
                </a:cubicBezTo>
                <a:lnTo>
                  <a:pt x="206891" y="238125"/>
                </a:lnTo>
                <a:close/>
                <a:moveTo>
                  <a:pt x="187325" y="79375"/>
                </a:moveTo>
                <a:cubicBezTo>
                  <a:pt x="187325" y="59661"/>
                  <a:pt x="200129" y="43656"/>
                  <a:pt x="215900" y="43656"/>
                </a:cubicBezTo>
                <a:cubicBezTo>
                  <a:pt x="231671" y="43656"/>
                  <a:pt x="244475" y="59661"/>
                  <a:pt x="244475" y="79375"/>
                </a:cubicBezTo>
                <a:cubicBezTo>
                  <a:pt x="244475" y="99089"/>
                  <a:pt x="231671" y="115094"/>
                  <a:pt x="215900" y="115094"/>
                </a:cubicBezTo>
                <a:cubicBezTo>
                  <a:pt x="200129" y="115094"/>
                  <a:pt x="187325" y="99089"/>
                  <a:pt x="187325" y="79375"/>
                </a:cubicBezTo>
                <a:close/>
                <a:moveTo>
                  <a:pt x="63500" y="214313"/>
                </a:moveTo>
                <a:cubicBezTo>
                  <a:pt x="63500" y="170458"/>
                  <a:pt x="91916" y="134938"/>
                  <a:pt x="127000" y="134938"/>
                </a:cubicBezTo>
                <a:cubicBezTo>
                  <a:pt x="162084" y="134938"/>
                  <a:pt x="190500" y="170458"/>
                  <a:pt x="190500" y="214313"/>
                </a:cubicBezTo>
                <a:lnTo>
                  <a:pt x="190500" y="222250"/>
                </a:lnTo>
                <a:cubicBezTo>
                  <a:pt x="190500" y="231031"/>
                  <a:pt x="184825" y="238125"/>
                  <a:pt x="177800" y="238125"/>
                </a:cubicBezTo>
                <a:lnTo>
                  <a:pt x="76200" y="238125"/>
                </a:lnTo>
                <a:cubicBezTo>
                  <a:pt x="69175" y="238125"/>
                  <a:pt x="63500" y="231031"/>
                  <a:pt x="63500" y="222250"/>
                </a:cubicBezTo>
                <a:lnTo>
                  <a:pt x="63500" y="214313"/>
                </a:lnTo>
                <a:close/>
              </a:path>
            </a:pathLst>
          </a:custGeom>
          <a:solidFill>
            <a:srgbClr val="00ACC1"/>
          </a:solidFill>
          <a:ln/>
        </p:spPr>
        <p:txBody>
          <a:bodyPr/>
          <a:lstStyle/>
          <a:p>
            <a:endParaRPr lang="ru-R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8" name="Text 15"/>
          <p:cNvSpPr/>
          <p:nvPr/>
        </p:nvSpPr>
        <p:spPr>
          <a:xfrm>
            <a:off x="9525000" y="2781300"/>
            <a:ext cx="59690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40000"/>
              </a:lnSpc>
            </a:pPr>
            <a:r>
              <a:rPr lang="en-US" sz="1600" b="1" dirty="0">
                <a:solidFill>
                  <a:srgbClr val="2D3748"/>
                </a:solidFill>
                <a:latin typeface="Arial" panose="020B0604020202020204" pitchFamily="34" charset="0"/>
                <a:ea typeface="Quattrocento Sans" pitchFamily="34" charset="-122"/>
                <a:cs typeface="Arial" panose="020B0604020202020204" pitchFamily="34" charset="0"/>
              </a:rPr>
              <a:t>Activists</a:t>
            </a:r>
            <a:r>
              <a:rPr lang="en-US" sz="1600" dirty="0">
                <a:solidFill>
                  <a:srgbClr val="2D3748"/>
                </a:solidFill>
                <a:latin typeface="Arial" panose="020B0604020202020204" pitchFamily="34" charset="0"/>
                <a:ea typeface="Quattrocento Sans" pitchFamily="34" charset="-122"/>
                <a:cs typeface="Arial" panose="020B0604020202020204" pitchFamily="34" charset="0"/>
              </a:rPr>
              <a:t> —</a:t>
            </a:r>
            <a:r>
              <a:rPr lang="ru-RU" sz="1600" dirty="0">
                <a:solidFill>
                  <a:srgbClr val="2D3748"/>
                </a:solidFill>
                <a:latin typeface="Arial" panose="020B0604020202020204" pitchFamily="34" charset="0"/>
                <a:ea typeface="Quattrocento Sans" pitchFamily="34" charset="-122"/>
                <a:cs typeface="Arial" panose="020B0604020202020204" pitchFamily="34" charset="0"/>
              </a:rPr>
              <a:t> активисты </a:t>
            </a:r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9" name="Shape 16"/>
          <p:cNvSpPr/>
          <p:nvPr/>
        </p:nvSpPr>
        <p:spPr>
          <a:xfrm>
            <a:off x="9144000" y="3505200"/>
            <a:ext cx="254000" cy="254000"/>
          </a:xfrm>
          <a:custGeom>
            <a:avLst/>
            <a:gdLst/>
            <a:ahLst/>
            <a:cxnLst/>
            <a:rect l="l" t="t" r="r" b="b"/>
            <a:pathLst>
              <a:path w="254000" h="254000">
                <a:moveTo>
                  <a:pt x="95250" y="31750"/>
                </a:moveTo>
                <a:cubicBezTo>
                  <a:pt x="95250" y="22969"/>
                  <a:pt x="102344" y="15875"/>
                  <a:pt x="111125" y="15875"/>
                </a:cubicBezTo>
                <a:lnTo>
                  <a:pt x="142875" y="15875"/>
                </a:lnTo>
                <a:cubicBezTo>
                  <a:pt x="151656" y="15875"/>
                  <a:pt x="158750" y="22969"/>
                  <a:pt x="158750" y="31750"/>
                </a:cubicBezTo>
                <a:lnTo>
                  <a:pt x="158750" y="63500"/>
                </a:lnTo>
                <a:cubicBezTo>
                  <a:pt x="158750" y="72281"/>
                  <a:pt x="151656" y="79375"/>
                  <a:pt x="142875" y="79375"/>
                </a:cubicBezTo>
                <a:lnTo>
                  <a:pt x="138906" y="79375"/>
                </a:lnTo>
                <a:lnTo>
                  <a:pt x="138906" y="111125"/>
                </a:lnTo>
                <a:lnTo>
                  <a:pt x="198438" y="111125"/>
                </a:lnTo>
                <a:cubicBezTo>
                  <a:pt x="218182" y="111125"/>
                  <a:pt x="234156" y="127099"/>
                  <a:pt x="234156" y="146844"/>
                </a:cubicBezTo>
                <a:lnTo>
                  <a:pt x="234156" y="174625"/>
                </a:lnTo>
                <a:lnTo>
                  <a:pt x="238125" y="174625"/>
                </a:lnTo>
                <a:cubicBezTo>
                  <a:pt x="246906" y="174625"/>
                  <a:pt x="254000" y="181719"/>
                  <a:pt x="254000" y="190500"/>
                </a:cubicBezTo>
                <a:lnTo>
                  <a:pt x="254000" y="222250"/>
                </a:lnTo>
                <a:cubicBezTo>
                  <a:pt x="254000" y="231031"/>
                  <a:pt x="246906" y="238125"/>
                  <a:pt x="238125" y="238125"/>
                </a:cubicBezTo>
                <a:lnTo>
                  <a:pt x="206375" y="238125"/>
                </a:lnTo>
                <a:cubicBezTo>
                  <a:pt x="197594" y="238125"/>
                  <a:pt x="190500" y="231031"/>
                  <a:pt x="190500" y="222250"/>
                </a:cubicBezTo>
                <a:lnTo>
                  <a:pt x="190500" y="190500"/>
                </a:lnTo>
                <a:cubicBezTo>
                  <a:pt x="190500" y="181719"/>
                  <a:pt x="197594" y="174625"/>
                  <a:pt x="206375" y="174625"/>
                </a:cubicBezTo>
                <a:lnTo>
                  <a:pt x="210344" y="174625"/>
                </a:lnTo>
                <a:lnTo>
                  <a:pt x="210344" y="146844"/>
                </a:lnTo>
                <a:cubicBezTo>
                  <a:pt x="210344" y="140246"/>
                  <a:pt x="205036" y="134938"/>
                  <a:pt x="198438" y="134938"/>
                </a:cubicBezTo>
                <a:lnTo>
                  <a:pt x="138906" y="134938"/>
                </a:lnTo>
                <a:lnTo>
                  <a:pt x="138906" y="174625"/>
                </a:lnTo>
                <a:lnTo>
                  <a:pt x="142875" y="174625"/>
                </a:lnTo>
                <a:cubicBezTo>
                  <a:pt x="151656" y="174625"/>
                  <a:pt x="158750" y="181719"/>
                  <a:pt x="158750" y="190500"/>
                </a:cubicBezTo>
                <a:lnTo>
                  <a:pt x="158750" y="222250"/>
                </a:lnTo>
                <a:cubicBezTo>
                  <a:pt x="158750" y="231031"/>
                  <a:pt x="151656" y="238125"/>
                  <a:pt x="142875" y="238125"/>
                </a:cubicBezTo>
                <a:lnTo>
                  <a:pt x="111125" y="238125"/>
                </a:lnTo>
                <a:cubicBezTo>
                  <a:pt x="102344" y="238125"/>
                  <a:pt x="95250" y="231031"/>
                  <a:pt x="95250" y="222250"/>
                </a:cubicBezTo>
                <a:lnTo>
                  <a:pt x="95250" y="190500"/>
                </a:lnTo>
                <a:cubicBezTo>
                  <a:pt x="95250" y="181719"/>
                  <a:pt x="102344" y="174625"/>
                  <a:pt x="111125" y="174625"/>
                </a:cubicBezTo>
                <a:lnTo>
                  <a:pt x="115094" y="174625"/>
                </a:lnTo>
                <a:lnTo>
                  <a:pt x="115094" y="134938"/>
                </a:lnTo>
                <a:lnTo>
                  <a:pt x="55563" y="134938"/>
                </a:lnTo>
                <a:cubicBezTo>
                  <a:pt x="48964" y="134938"/>
                  <a:pt x="43656" y="140246"/>
                  <a:pt x="43656" y="146844"/>
                </a:cubicBezTo>
                <a:lnTo>
                  <a:pt x="43656" y="174625"/>
                </a:lnTo>
                <a:lnTo>
                  <a:pt x="47625" y="174625"/>
                </a:lnTo>
                <a:cubicBezTo>
                  <a:pt x="56406" y="174625"/>
                  <a:pt x="63500" y="181719"/>
                  <a:pt x="63500" y="190500"/>
                </a:cubicBezTo>
                <a:lnTo>
                  <a:pt x="63500" y="222250"/>
                </a:lnTo>
                <a:cubicBezTo>
                  <a:pt x="63500" y="231031"/>
                  <a:pt x="56406" y="238125"/>
                  <a:pt x="47625" y="238125"/>
                </a:cubicBezTo>
                <a:lnTo>
                  <a:pt x="15875" y="238125"/>
                </a:lnTo>
                <a:cubicBezTo>
                  <a:pt x="7094" y="238125"/>
                  <a:pt x="0" y="231031"/>
                  <a:pt x="0" y="222250"/>
                </a:cubicBezTo>
                <a:lnTo>
                  <a:pt x="0" y="190500"/>
                </a:lnTo>
                <a:cubicBezTo>
                  <a:pt x="0" y="181719"/>
                  <a:pt x="7094" y="174625"/>
                  <a:pt x="15875" y="174625"/>
                </a:cubicBezTo>
                <a:lnTo>
                  <a:pt x="19844" y="174625"/>
                </a:lnTo>
                <a:lnTo>
                  <a:pt x="19844" y="146844"/>
                </a:lnTo>
                <a:cubicBezTo>
                  <a:pt x="19844" y="127099"/>
                  <a:pt x="35818" y="111125"/>
                  <a:pt x="55563" y="111125"/>
                </a:cubicBezTo>
                <a:lnTo>
                  <a:pt x="115094" y="111125"/>
                </a:lnTo>
                <a:lnTo>
                  <a:pt x="115094" y="79375"/>
                </a:lnTo>
                <a:lnTo>
                  <a:pt x="111125" y="79375"/>
                </a:lnTo>
                <a:cubicBezTo>
                  <a:pt x="102344" y="79375"/>
                  <a:pt x="95250" y="72281"/>
                  <a:pt x="95250" y="63500"/>
                </a:cubicBezTo>
                <a:lnTo>
                  <a:pt x="95250" y="31750"/>
                </a:lnTo>
                <a:close/>
              </a:path>
            </a:pathLst>
          </a:custGeom>
          <a:solidFill>
            <a:srgbClr val="00ACC1"/>
          </a:solidFill>
          <a:ln/>
        </p:spPr>
        <p:txBody>
          <a:bodyPr/>
          <a:lstStyle/>
          <a:p>
            <a:endParaRPr lang="ru-R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0" name="Text 17"/>
          <p:cNvSpPr/>
          <p:nvPr/>
        </p:nvSpPr>
        <p:spPr>
          <a:xfrm>
            <a:off x="9525000" y="3467100"/>
            <a:ext cx="59690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40000"/>
              </a:lnSpc>
            </a:pPr>
            <a:r>
              <a:rPr lang="en-US" sz="1600" b="1" dirty="0">
                <a:solidFill>
                  <a:srgbClr val="2D3748"/>
                </a:solidFill>
                <a:latin typeface="Arial" panose="020B0604020202020204" pitchFamily="34" charset="0"/>
                <a:ea typeface="Quattrocento Sans" pitchFamily="34" charset="-122"/>
                <a:cs typeface="Arial" panose="020B0604020202020204" pitchFamily="34" charset="0"/>
              </a:rPr>
              <a:t>Cells </a:t>
            </a:r>
            <a:r>
              <a:rPr lang="en-US" sz="1600" dirty="0">
                <a:solidFill>
                  <a:srgbClr val="2D3748"/>
                </a:solidFill>
                <a:latin typeface="Arial" panose="020B0604020202020204" pitchFamily="34" charset="0"/>
                <a:ea typeface="Quattrocento Sans" pitchFamily="34" charset="-122"/>
                <a:cs typeface="Arial" panose="020B0604020202020204" pitchFamily="34" charset="0"/>
              </a:rPr>
              <a:t>—</a:t>
            </a:r>
            <a:r>
              <a:rPr lang="en-US" sz="1600" b="1" dirty="0">
                <a:solidFill>
                  <a:srgbClr val="2D3748"/>
                </a:solidFill>
                <a:latin typeface="Arial" panose="020B0604020202020204" pitchFamily="34" charset="0"/>
                <a:ea typeface="Quattrocento Sans" pitchFamily="34" charset="-122"/>
                <a:cs typeface="Arial" panose="020B0604020202020204" pitchFamily="34" charset="0"/>
              </a:rPr>
              <a:t> </a:t>
            </a:r>
            <a:r>
              <a:rPr lang="ru-RU" sz="1600" dirty="0">
                <a:solidFill>
                  <a:srgbClr val="2D3748"/>
                </a:solidFill>
                <a:latin typeface="Arial" panose="020B0604020202020204" pitchFamily="34" charset="0"/>
                <a:ea typeface="Quattrocento Sans" pitchFamily="34" charset="-122"/>
                <a:cs typeface="Arial" panose="020B0604020202020204" pitchFamily="34" charset="0"/>
              </a:rPr>
              <a:t>ячейки (группы)</a:t>
            </a:r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1" name="Shape 18"/>
          <p:cNvSpPr/>
          <p:nvPr/>
        </p:nvSpPr>
        <p:spPr>
          <a:xfrm>
            <a:off x="9144000" y="4191000"/>
            <a:ext cx="254000" cy="254000"/>
          </a:xfrm>
          <a:custGeom>
            <a:avLst/>
            <a:gdLst/>
            <a:ahLst/>
            <a:cxnLst/>
            <a:rect l="l" t="t" r="r" b="b"/>
            <a:pathLst>
              <a:path w="254000" h="254000">
                <a:moveTo>
                  <a:pt x="184988" y="47625"/>
                </a:moveTo>
                <a:cubicBezTo>
                  <a:pt x="177668" y="47625"/>
                  <a:pt x="170568" y="49857"/>
                  <a:pt x="164350" y="53925"/>
                </a:cubicBezTo>
                <a:cubicBezTo>
                  <a:pt x="157383" y="45988"/>
                  <a:pt x="149269" y="39340"/>
                  <a:pt x="140317" y="34330"/>
                </a:cubicBezTo>
                <a:cubicBezTo>
                  <a:pt x="152753" y="22423"/>
                  <a:pt x="168584" y="15875"/>
                  <a:pt x="184988" y="15875"/>
                </a:cubicBezTo>
                <a:cubicBezTo>
                  <a:pt x="223088" y="15875"/>
                  <a:pt x="254000" y="50602"/>
                  <a:pt x="254000" y="93514"/>
                </a:cubicBezTo>
                <a:cubicBezTo>
                  <a:pt x="254000" y="114102"/>
                  <a:pt x="246724" y="133846"/>
                  <a:pt x="233803" y="148382"/>
                </a:cubicBezTo>
                <a:lnTo>
                  <a:pt x="202450" y="183654"/>
                </a:lnTo>
                <a:cubicBezTo>
                  <a:pt x="189530" y="198189"/>
                  <a:pt x="171979" y="206375"/>
                  <a:pt x="153679" y="206375"/>
                </a:cubicBezTo>
                <a:cubicBezTo>
                  <a:pt x="115579" y="206375"/>
                  <a:pt x="84667" y="171648"/>
                  <a:pt x="84667" y="128736"/>
                </a:cubicBezTo>
                <a:cubicBezTo>
                  <a:pt x="84667" y="127992"/>
                  <a:pt x="84667" y="127248"/>
                  <a:pt x="84711" y="126504"/>
                </a:cubicBezTo>
                <a:cubicBezTo>
                  <a:pt x="84931" y="117723"/>
                  <a:pt x="91414" y="110827"/>
                  <a:pt x="99219" y="111075"/>
                </a:cubicBezTo>
                <a:cubicBezTo>
                  <a:pt x="107024" y="111323"/>
                  <a:pt x="113153" y="118616"/>
                  <a:pt x="112933" y="127397"/>
                </a:cubicBezTo>
                <a:cubicBezTo>
                  <a:pt x="112933" y="127843"/>
                  <a:pt x="112933" y="128290"/>
                  <a:pt x="112933" y="128687"/>
                </a:cubicBezTo>
                <a:cubicBezTo>
                  <a:pt x="112933" y="154037"/>
                  <a:pt x="131189" y="174575"/>
                  <a:pt x="153723" y="174575"/>
                </a:cubicBezTo>
                <a:cubicBezTo>
                  <a:pt x="164527" y="174575"/>
                  <a:pt x="174890" y="169763"/>
                  <a:pt x="182563" y="161131"/>
                </a:cubicBezTo>
                <a:lnTo>
                  <a:pt x="213916" y="125859"/>
                </a:lnTo>
                <a:cubicBezTo>
                  <a:pt x="221544" y="117277"/>
                  <a:pt x="225866" y="105569"/>
                  <a:pt x="225866" y="93414"/>
                </a:cubicBezTo>
                <a:cubicBezTo>
                  <a:pt x="225866" y="68064"/>
                  <a:pt x="207610" y="47526"/>
                  <a:pt x="185076" y="47526"/>
                </a:cubicBezTo>
                <a:close/>
                <a:moveTo>
                  <a:pt x="121356" y="85973"/>
                </a:moveTo>
                <a:cubicBezTo>
                  <a:pt x="120518" y="85576"/>
                  <a:pt x="119680" y="85030"/>
                  <a:pt x="118930" y="84435"/>
                </a:cubicBezTo>
                <a:cubicBezTo>
                  <a:pt x="113374" y="81211"/>
                  <a:pt x="107024" y="79375"/>
                  <a:pt x="100365" y="79375"/>
                </a:cubicBezTo>
                <a:cubicBezTo>
                  <a:pt x="89561" y="79375"/>
                  <a:pt x="79199" y="84187"/>
                  <a:pt x="71526" y="92819"/>
                </a:cubicBezTo>
                <a:lnTo>
                  <a:pt x="40173" y="128091"/>
                </a:lnTo>
                <a:cubicBezTo>
                  <a:pt x="32544" y="136674"/>
                  <a:pt x="28222" y="148382"/>
                  <a:pt x="28222" y="160536"/>
                </a:cubicBezTo>
                <a:cubicBezTo>
                  <a:pt x="28222" y="185886"/>
                  <a:pt x="46478" y="206425"/>
                  <a:pt x="69012" y="206425"/>
                </a:cubicBezTo>
                <a:cubicBezTo>
                  <a:pt x="76288" y="206425"/>
                  <a:pt x="83388" y="204242"/>
                  <a:pt x="89606" y="200174"/>
                </a:cubicBezTo>
                <a:cubicBezTo>
                  <a:pt x="96573" y="208111"/>
                  <a:pt x="104687" y="214759"/>
                  <a:pt x="113683" y="219770"/>
                </a:cubicBezTo>
                <a:cubicBezTo>
                  <a:pt x="101247" y="231626"/>
                  <a:pt x="85460" y="238224"/>
                  <a:pt x="69012" y="238224"/>
                </a:cubicBezTo>
                <a:cubicBezTo>
                  <a:pt x="30912" y="238224"/>
                  <a:pt x="0" y="203498"/>
                  <a:pt x="0" y="160586"/>
                </a:cubicBezTo>
                <a:cubicBezTo>
                  <a:pt x="0" y="139998"/>
                  <a:pt x="7276" y="120253"/>
                  <a:pt x="20197" y="105718"/>
                </a:cubicBezTo>
                <a:lnTo>
                  <a:pt x="51550" y="70445"/>
                </a:lnTo>
                <a:cubicBezTo>
                  <a:pt x="64470" y="55910"/>
                  <a:pt x="82021" y="47724"/>
                  <a:pt x="100321" y="47724"/>
                </a:cubicBezTo>
                <a:cubicBezTo>
                  <a:pt x="138509" y="47724"/>
                  <a:pt x="169333" y="82748"/>
                  <a:pt x="169333" y="125561"/>
                </a:cubicBezTo>
                <a:cubicBezTo>
                  <a:pt x="169333" y="126206"/>
                  <a:pt x="169333" y="126851"/>
                  <a:pt x="169333" y="127496"/>
                </a:cubicBezTo>
                <a:cubicBezTo>
                  <a:pt x="169157" y="136277"/>
                  <a:pt x="162675" y="143173"/>
                  <a:pt x="154869" y="142974"/>
                </a:cubicBezTo>
                <a:cubicBezTo>
                  <a:pt x="147064" y="142776"/>
                  <a:pt x="140935" y="135483"/>
                  <a:pt x="141111" y="126702"/>
                </a:cubicBezTo>
                <a:cubicBezTo>
                  <a:pt x="141111" y="126305"/>
                  <a:pt x="141111" y="125958"/>
                  <a:pt x="141111" y="125561"/>
                </a:cubicBezTo>
                <a:cubicBezTo>
                  <a:pt x="141111" y="108843"/>
                  <a:pt x="133174" y="94159"/>
                  <a:pt x="121356" y="86072"/>
                </a:cubicBezTo>
                <a:close/>
              </a:path>
            </a:pathLst>
          </a:custGeom>
          <a:solidFill>
            <a:srgbClr val="00ACC1"/>
          </a:solidFill>
          <a:ln/>
        </p:spPr>
        <p:txBody>
          <a:bodyPr/>
          <a:lstStyle/>
          <a:p>
            <a:endParaRPr lang="ru-R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2" name="Text 19"/>
          <p:cNvSpPr/>
          <p:nvPr/>
        </p:nvSpPr>
        <p:spPr>
          <a:xfrm>
            <a:off x="9525000" y="4152900"/>
            <a:ext cx="59690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40000"/>
              </a:lnSpc>
            </a:pPr>
            <a:r>
              <a:rPr lang="ru-RU" sz="1600" b="1" dirty="0" err="1">
                <a:solidFill>
                  <a:srgbClr val="2D3748"/>
                </a:solidFill>
                <a:latin typeface="Arial" panose="020B0604020202020204" pitchFamily="34" charset="0"/>
                <a:ea typeface="Quattrocento Sans" pitchFamily="34" charset="-122"/>
                <a:cs typeface="Arial" panose="020B0604020202020204" pitchFamily="34" charset="0"/>
              </a:rPr>
              <a:t>ActivistCells</a:t>
            </a:r>
            <a:r>
              <a:rPr lang="ru-RU" sz="1600" dirty="0">
                <a:solidFill>
                  <a:srgbClr val="2D3748"/>
                </a:solidFill>
                <a:latin typeface="Arial" panose="020B0604020202020204" pitchFamily="34" charset="0"/>
                <a:ea typeface="Quattrocento Sans" pitchFamily="34" charset="-122"/>
                <a:cs typeface="Arial" panose="020B0604020202020204" pitchFamily="34" charset="0"/>
              </a:rPr>
              <a:t> — связь активистов и ячеек</a:t>
            </a:r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3" name="Shape 20"/>
          <p:cNvSpPr/>
          <p:nvPr/>
        </p:nvSpPr>
        <p:spPr>
          <a:xfrm>
            <a:off x="9144000" y="4876800"/>
            <a:ext cx="254000" cy="254000"/>
          </a:xfrm>
          <a:custGeom>
            <a:avLst/>
            <a:gdLst/>
            <a:ahLst/>
            <a:cxnLst/>
            <a:rect l="l" t="t" r="r" b="b"/>
            <a:pathLst>
              <a:path w="254000" h="254000">
                <a:moveTo>
                  <a:pt x="118577" y="42267"/>
                </a:moveTo>
                <a:lnTo>
                  <a:pt x="67160" y="106561"/>
                </a:lnTo>
                <a:cubicBezTo>
                  <a:pt x="65132" y="109091"/>
                  <a:pt x="65220" y="113010"/>
                  <a:pt x="67381" y="115441"/>
                </a:cubicBezTo>
                <a:cubicBezTo>
                  <a:pt x="80830" y="130572"/>
                  <a:pt x="102658" y="130572"/>
                  <a:pt x="116108" y="115441"/>
                </a:cubicBezTo>
                <a:lnTo>
                  <a:pt x="130131" y="99665"/>
                </a:lnTo>
                <a:cubicBezTo>
                  <a:pt x="131983" y="97582"/>
                  <a:pt x="134320" y="96441"/>
                  <a:pt x="136701" y="96242"/>
                </a:cubicBezTo>
                <a:cubicBezTo>
                  <a:pt x="139700" y="95945"/>
                  <a:pt x="142787" y="97086"/>
                  <a:pt x="145080" y="99665"/>
                </a:cubicBezTo>
                <a:lnTo>
                  <a:pt x="222956" y="186531"/>
                </a:lnTo>
                <a:lnTo>
                  <a:pt x="254000" y="158750"/>
                </a:lnTo>
                <a:lnTo>
                  <a:pt x="254000" y="15875"/>
                </a:lnTo>
                <a:lnTo>
                  <a:pt x="204611" y="47625"/>
                </a:lnTo>
                <a:lnTo>
                  <a:pt x="194116" y="39737"/>
                </a:lnTo>
                <a:cubicBezTo>
                  <a:pt x="187149" y="34528"/>
                  <a:pt x="178991" y="31750"/>
                  <a:pt x="170612" y="31750"/>
                </a:cubicBezTo>
                <a:lnTo>
                  <a:pt x="139568" y="31750"/>
                </a:lnTo>
                <a:cubicBezTo>
                  <a:pt x="139083" y="31750"/>
                  <a:pt x="138553" y="31750"/>
                  <a:pt x="138068" y="31800"/>
                </a:cubicBezTo>
                <a:cubicBezTo>
                  <a:pt x="130616" y="32246"/>
                  <a:pt x="123605" y="36016"/>
                  <a:pt x="118577" y="42267"/>
                </a:cubicBezTo>
                <a:close/>
                <a:moveTo>
                  <a:pt x="51417" y="90636"/>
                </a:moveTo>
                <a:lnTo>
                  <a:pt x="98513" y="31750"/>
                </a:lnTo>
                <a:lnTo>
                  <a:pt x="81051" y="31750"/>
                </a:lnTo>
                <a:cubicBezTo>
                  <a:pt x="69806" y="31750"/>
                  <a:pt x="59046" y="36761"/>
                  <a:pt x="51109" y="45690"/>
                </a:cubicBezTo>
                <a:lnTo>
                  <a:pt x="49389" y="47625"/>
                </a:lnTo>
                <a:lnTo>
                  <a:pt x="0" y="15875"/>
                </a:lnTo>
                <a:lnTo>
                  <a:pt x="0" y="158750"/>
                </a:lnTo>
                <a:lnTo>
                  <a:pt x="68968" y="223391"/>
                </a:lnTo>
                <a:cubicBezTo>
                  <a:pt x="79110" y="232916"/>
                  <a:pt x="91899" y="238125"/>
                  <a:pt x="105084" y="238125"/>
                </a:cubicBezTo>
                <a:lnTo>
                  <a:pt x="112007" y="238125"/>
                </a:lnTo>
                <a:lnTo>
                  <a:pt x="108920" y="234652"/>
                </a:lnTo>
                <a:cubicBezTo>
                  <a:pt x="104775" y="229989"/>
                  <a:pt x="104775" y="222448"/>
                  <a:pt x="108920" y="217835"/>
                </a:cubicBezTo>
                <a:cubicBezTo>
                  <a:pt x="113065" y="213221"/>
                  <a:pt x="119768" y="213171"/>
                  <a:pt x="123869" y="217835"/>
                </a:cubicBezTo>
                <a:lnTo>
                  <a:pt x="141949" y="238175"/>
                </a:lnTo>
                <a:lnTo>
                  <a:pt x="145918" y="238175"/>
                </a:lnTo>
                <a:cubicBezTo>
                  <a:pt x="154340" y="238175"/>
                  <a:pt x="162586" y="236041"/>
                  <a:pt x="170083" y="232073"/>
                </a:cubicBezTo>
                <a:lnTo>
                  <a:pt x="158309" y="218777"/>
                </a:lnTo>
                <a:cubicBezTo>
                  <a:pt x="154164" y="214114"/>
                  <a:pt x="154164" y="206573"/>
                  <a:pt x="158309" y="201960"/>
                </a:cubicBezTo>
                <a:cubicBezTo>
                  <a:pt x="162454" y="197346"/>
                  <a:pt x="169157" y="197296"/>
                  <a:pt x="173258" y="201960"/>
                </a:cubicBezTo>
                <a:lnTo>
                  <a:pt x="187369" y="217835"/>
                </a:lnTo>
                <a:lnTo>
                  <a:pt x="195086" y="209153"/>
                </a:lnTo>
                <a:cubicBezTo>
                  <a:pt x="199011" y="204738"/>
                  <a:pt x="200157" y="198338"/>
                  <a:pt x="198438" y="192732"/>
                </a:cubicBezTo>
                <a:lnTo>
                  <a:pt x="137627" y="124867"/>
                </a:lnTo>
                <a:lnTo>
                  <a:pt x="131057" y="132259"/>
                </a:lnTo>
                <a:cubicBezTo>
                  <a:pt x="109317" y="156716"/>
                  <a:pt x="74127" y="156716"/>
                  <a:pt x="52388" y="132259"/>
                </a:cubicBezTo>
                <a:cubicBezTo>
                  <a:pt x="42245" y="120848"/>
                  <a:pt x="41848" y="102543"/>
                  <a:pt x="51417" y="90587"/>
                </a:cubicBezTo>
                <a:close/>
              </a:path>
            </a:pathLst>
          </a:custGeom>
          <a:solidFill>
            <a:srgbClr val="00ACC1"/>
          </a:solidFill>
          <a:ln/>
        </p:spPr>
        <p:txBody>
          <a:bodyPr/>
          <a:lstStyle/>
          <a:p>
            <a:endParaRPr lang="ru-R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4" name="Text 21"/>
          <p:cNvSpPr/>
          <p:nvPr/>
        </p:nvSpPr>
        <p:spPr>
          <a:xfrm>
            <a:off x="9525000" y="4838700"/>
            <a:ext cx="59690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40000"/>
              </a:lnSpc>
            </a:pPr>
            <a:r>
              <a:rPr lang="en-US" sz="1600" b="1" dirty="0">
                <a:solidFill>
                  <a:srgbClr val="2D3748"/>
                </a:solidFill>
                <a:latin typeface="Arial" panose="020B0604020202020204" pitchFamily="34" charset="0"/>
                <a:ea typeface="Quattrocento Sans" pitchFamily="34" charset="-122"/>
                <a:cs typeface="Arial" panose="020B0604020202020204" pitchFamily="34" charset="0"/>
              </a:rPr>
              <a:t>Touches </a:t>
            </a:r>
            <a:r>
              <a:rPr lang="en-US" sz="1600" dirty="0">
                <a:solidFill>
                  <a:srgbClr val="2D3748"/>
                </a:solidFill>
                <a:latin typeface="Arial" panose="020B0604020202020204" pitchFamily="34" charset="0"/>
                <a:ea typeface="Quattrocento Sans" pitchFamily="34" charset="-122"/>
                <a:cs typeface="Arial" panose="020B0604020202020204" pitchFamily="34" charset="0"/>
              </a:rPr>
              <a:t>— </a:t>
            </a:r>
            <a:r>
              <a:rPr lang="ru-RU" sz="1600" dirty="0">
                <a:solidFill>
                  <a:srgbClr val="2D3748"/>
                </a:solidFill>
                <a:latin typeface="Arial" panose="020B0604020202020204" pitchFamily="34" charset="0"/>
                <a:ea typeface="Quattrocento Sans" pitchFamily="34" charset="-122"/>
                <a:cs typeface="Arial" panose="020B0604020202020204" pitchFamily="34" charset="0"/>
              </a:rPr>
              <a:t>контакты (касания)</a:t>
            </a:r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5" name="Shape 22"/>
          <p:cNvSpPr/>
          <p:nvPr/>
        </p:nvSpPr>
        <p:spPr>
          <a:xfrm>
            <a:off x="9144000" y="5562600"/>
            <a:ext cx="254000" cy="254000"/>
          </a:xfrm>
          <a:custGeom>
            <a:avLst/>
            <a:gdLst/>
            <a:ahLst/>
            <a:cxnLst/>
            <a:rect l="l" t="t" r="r" b="b"/>
            <a:pathLst>
              <a:path w="254000" h="254000">
                <a:moveTo>
                  <a:pt x="176918" y="19397"/>
                </a:moveTo>
                <a:lnTo>
                  <a:pt x="242270" y="93960"/>
                </a:lnTo>
                <a:cubicBezTo>
                  <a:pt x="254485" y="107900"/>
                  <a:pt x="254485" y="130225"/>
                  <a:pt x="242270" y="144165"/>
                </a:cubicBezTo>
                <a:lnTo>
                  <a:pt x="173302" y="222696"/>
                </a:lnTo>
                <a:cubicBezTo>
                  <a:pt x="169201" y="227360"/>
                  <a:pt x="162498" y="227409"/>
                  <a:pt x="158353" y="222796"/>
                </a:cubicBezTo>
                <a:cubicBezTo>
                  <a:pt x="154208" y="218182"/>
                  <a:pt x="154164" y="210641"/>
                  <a:pt x="158265" y="205978"/>
                </a:cubicBezTo>
                <a:lnTo>
                  <a:pt x="227233" y="127397"/>
                </a:lnTo>
                <a:cubicBezTo>
                  <a:pt x="231290" y="122783"/>
                  <a:pt x="231290" y="115292"/>
                  <a:pt x="227233" y="110679"/>
                </a:cubicBezTo>
                <a:lnTo>
                  <a:pt x="161837" y="36165"/>
                </a:lnTo>
                <a:cubicBezTo>
                  <a:pt x="157736" y="31502"/>
                  <a:pt x="157780" y="23961"/>
                  <a:pt x="161925" y="19348"/>
                </a:cubicBezTo>
                <a:cubicBezTo>
                  <a:pt x="166070" y="14734"/>
                  <a:pt x="172773" y="14784"/>
                  <a:pt x="176874" y="19447"/>
                </a:cubicBezTo>
                <a:close/>
                <a:moveTo>
                  <a:pt x="14155" y="113854"/>
                </a:moveTo>
                <a:lnTo>
                  <a:pt x="14155" y="47625"/>
                </a:lnTo>
                <a:cubicBezTo>
                  <a:pt x="14155" y="30113"/>
                  <a:pt x="26811" y="15875"/>
                  <a:pt x="42377" y="15875"/>
                </a:cubicBezTo>
                <a:lnTo>
                  <a:pt x="101247" y="15875"/>
                </a:lnTo>
                <a:cubicBezTo>
                  <a:pt x="108744" y="15875"/>
                  <a:pt x="115932" y="19199"/>
                  <a:pt x="121223" y="25152"/>
                </a:cubicBezTo>
                <a:lnTo>
                  <a:pt x="184723" y="96589"/>
                </a:lnTo>
                <a:cubicBezTo>
                  <a:pt x="195748" y="108992"/>
                  <a:pt x="195748" y="129084"/>
                  <a:pt x="184723" y="141486"/>
                </a:cubicBezTo>
                <a:lnTo>
                  <a:pt x="125853" y="207714"/>
                </a:lnTo>
                <a:cubicBezTo>
                  <a:pt x="114829" y="220117"/>
                  <a:pt x="96970" y="220117"/>
                  <a:pt x="85945" y="207714"/>
                </a:cubicBezTo>
                <a:lnTo>
                  <a:pt x="22445" y="136277"/>
                </a:lnTo>
                <a:cubicBezTo>
                  <a:pt x="17154" y="130324"/>
                  <a:pt x="14199" y="122238"/>
                  <a:pt x="14199" y="113804"/>
                </a:cubicBezTo>
                <a:close/>
                <a:moveTo>
                  <a:pt x="77655" y="71438"/>
                </a:moveTo>
                <a:cubicBezTo>
                  <a:pt x="77655" y="62676"/>
                  <a:pt x="71332" y="55563"/>
                  <a:pt x="63544" y="55563"/>
                </a:cubicBezTo>
                <a:cubicBezTo>
                  <a:pt x="55756" y="55563"/>
                  <a:pt x="49433" y="62676"/>
                  <a:pt x="49433" y="71438"/>
                </a:cubicBezTo>
                <a:cubicBezTo>
                  <a:pt x="49433" y="80199"/>
                  <a:pt x="55756" y="87313"/>
                  <a:pt x="63544" y="87313"/>
                </a:cubicBezTo>
                <a:cubicBezTo>
                  <a:pt x="71332" y="87313"/>
                  <a:pt x="77655" y="80199"/>
                  <a:pt x="77655" y="71438"/>
                </a:cubicBezTo>
                <a:close/>
              </a:path>
            </a:pathLst>
          </a:custGeom>
          <a:solidFill>
            <a:srgbClr val="00ACC1"/>
          </a:solidFill>
          <a:ln/>
        </p:spPr>
        <p:txBody>
          <a:bodyPr/>
          <a:lstStyle/>
          <a:p>
            <a:endParaRPr lang="ru-R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6" name="Text 23"/>
          <p:cNvSpPr/>
          <p:nvPr/>
        </p:nvSpPr>
        <p:spPr>
          <a:xfrm>
            <a:off x="9525000" y="5524500"/>
            <a:ext cx="59690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40000"/>
              </a:lnSpc>
            </a:pPr>
            <a:r>
              <a:rPr lang="en-US" sz="1600" b="1" dirty="0" err="1">
                <a:solidFill>
                  <a:srgbClr val="2D3748"/>
                </a:solidFill>
                <a:latin typeface="Arial" panose="020B0604020202020204" pitchFamily="34" charset="0"/>
                <a:ea typeface="Quattrocento Sans" pitchFamily="34" charset="-122"/>
                <a:cs typeface="Arial" panose="020B0604020202020204" pitchFamily="34" charset="0"/>
              </a:rPr>
              <a:t>TouchTypes</a:t>
            </a:r>
            <a:r>
              <a:rPr lang="en-US" sz="1600" b="1" dirty="0">
                <a:solidFill>
                  <a:srgbClr val="2D3748"/>
                </a:solidFill>
                <a:latin typeface="Arial" panose="020B0604020202020204" pitchFamily="34" charset="0"/>
                <a:ea typeface="Quattrocento Sans" pitchFamily="34" charset="-122"/>
                <a:cs typeface="Arial" panose="020B0604020202020204" pitchFamily="34" charset="0"/>
              </a:rPr>
              <a:t> </a:t>
            </a:r>
            <a:r>
              <a:rPr lang="en-US" sz="1600" dirty="0">
                <a:solidFill>
                  <a:srgbClr val="2D3748"/>
                </a:solidFill>
                <a:latin typeface="Arial" panose="020B0604020202020204" pitchFamily="34" charset="0"/>
                <a:ea typeface="Quattrocento Sans" pitchFamily="34" charset="-122"/>
                <a:cs typeface="Arial" panose="020B0604020202020204" pitchFamily="34" charset="0"/>
              </a:rPr>
              <a:t>— </a:t>
            </a:r>
            <a:r>
              <a:rPr lang="ru-RU" sz="1600" dirty="0">
                <a:solidFill>
                  <a:srgbClr val="2D3748"/>
                </a:solidFill>
                <a:latin typeface="Arial" panose="020B0604020202020204" pitchFamily="34" charset="0"/>
                <a:ea typeface="Quattrocento Sans" pitchFamily="34" charset="-122"/>
                <a:cs typeface="Arial" panose="020B0604020202020204" pitchFamily="34" charset="0"/>
              </a:rPr>
              <a:t>типы контактов</a:t>
            </a:r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7" name="Text 24"/>
          <p:cNvSpPr/>
          <p:nvPr/>
        </p:nvSpPr>
        <p:spPr>
          <a:xfrm>
            <a:off x="9144000" y="6413500"/>
            <a:ext cx="6350000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ru-RU" sz="1800" b="1" dirty="0">
                <a:solidFill>
                  <a:srgbClr val="1A1F3C"/>
                </a:solidFill>
                <a:latin typeface="Arial" panose="020B0604020202020204" pitchFamily="34" charset="0"/>
                <a:ea typeface="Liter" pitchFamily="34" charset="-122"/>
                <a:cs typeface="Arial" panose="020B0604020202020204" pitchFamily="34" charset="0"/>
              </a:rPr>
              <a:t>Подход разработки</a:t>
            </a:r>
            <a:endParaRPr lang="en-US" sz="1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8" name="Text 25"/>
          <p:cNvSpPr/>
          <p:nvPr/>
        </p:nvSpPr>
        <p:spPr>
          <a:xfrm>
            <a:off x="9144000" y="6858000"/>
            <a:ext cx="6350000" cy="101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50000"/>
              </a:lnSpc>
            </a:pPr>
            <a:r>
              <a:rPr lang="ru-RU" sz="1600" dirty="0">
                <a:solidFill>
                  <a:srgbClr val="2D3748"/>
                </a:solidFill>
                <a:latin typeface="Arial" panose="020B0604020202020204" pitchFamily="34" charset="0"/>
                <a:ea typeface="Quattrocento Sans" pitchFamily="34" charset="-122"/>
                <a:cs typeface="Arial" panose="020B0604020202020204" pitchFamily="34" charset="0"/>
              </a:rPr>
              <a:t>Code First подход с миграциями </a:t>
            </a:r>
            <a:r>
              <a:rPr lang="ru-RU" sz="1600" dirty="0" err="1">
                <a:solidFill>
                  <a:srgbClr val="2D3748"/>
                </a:solidFill>
                <a:latin typeface="Arial" panose="020B0604020202020204" pitchFamily="34" charset="0"/>
                <a:ea typeface="Quattrocento Sans" pitchFamily="34" charset="-122"/>
                <a:cs typeface="Arial" panose="020B0604020202020204" pitchFamily="34" charset="0"/>
              </a:rPr>
              <a:t>Entity</a:t>
            </a:r>
            <a:r>
              <a:rPr lang="ru-RU" sz="1600" dirty="0">
                <a:solidFill>
                  <a:srgbClr val="2D3748"/>
                </a:solidFill>
                <a:latin typeface="Arial" panose="020B0604020202020204" pitchFamily="34" charset="0"/>
                <a:ea typeface="Quattrocento Sans" pitchFamily="34" charset="-122"/>
                <a:cs typeface="Arial" panose="020B0604020202020204" pitchFamily="34" charset="0"/>
              </a:rPr>
              <a:t> Framework Core. Модели описываются в коде C#, а схема БД генерируется автоматически.</a:t>
            </a:r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33" name="Рисунок 32">
            <a:extLst>
              <a:ext uri="{FF2B5EF4-FFF2-40B4-BE49-F238E27FC236}">
                <a16:creationId xmlns:a16="http://schemas.microsoft.com/office/drawing/2014/main" id="{AFD5AECB-4525-B28C-A9D0-944974F5753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3324" y="1639614"/>
            <a:ext cx="6924675" cy="6685236"/>
          </a:xfrm>
          <a:prstGeom prst="rect">
            <a:avLst/>
          </a:prstGeom>
        </p:spPr>
      </p:pic>
    </p:spTree>
  </p:cSld>
  <p:clrMapOvr>
    <a:masterClrMapping/>
  </p:clrMapOvr>
  <p:transition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0F2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256000" cy="508000"/>
          </a:xfrm>
          <a:prstGeom prst="rect">
            <a:avLst/>
          </a:prstGeom>
          <a:solidFill>
            <a:srgbClr val="1A1F3C"/>
          </a:solidFill>
          <a:ln/>
        </p:spPr>
        <p:txBody>
          <a:bodyPr/>
          <a:lstStyle/>
          <a:p>
            <a:endParaRPr lang="ru-R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0" y="0"/>
            <a:ext cx="4064000" cy="508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ru-RU" sz="1200" dirty="0">
                <a:solidFill>
                  <a:srgbClr val="FFFFFF"/>
                </a:solidFill>
                <a:latin typeface="Arial" panose="020B0604020202020204" pitchFamily="34" charset="0"/>
                <a:ea typeface="Quattrocento Sans" pitchFamily="34" charset="-122"/>
                <a:cs typeface="Arial" panose="020B0604020202020204" pitchFamily="34" charset="0"/>
              </a:rPr>
              <a:t>О проекте</a:t>
            </a:r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Text 2"/>
          <p:cNvSpPr/>
          <p:nvPr/>
        </p:nvSpPr>
        <p:spPr>
          <a:xfrm>
            <a:off x="4064000" y="0"/>
            <a:ext cx="4064000" cy="457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ru-RU" sz="1200" b="1" dirty="0">
                <a:solidFill>
                  <a:srgbClr val="FFFFFF"/>
                </a:solidFill>
                <a:latin typeface="Arial" panose="020B0604020202020204" pitchFamily="34" charset="0"/>
                <a:ea typeface="Quattrocento Sans" pitchFamily="34" charset="-122"/>
                <a:cs typeface="Arial" panose="020B0604020202020204" pitchFamily="34" charset="0"/>
              </a:rPr>
              <a:t>Архитектура</a:t>
            </a:r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Shape 3"/>
          <p:cNvSpPr/>
          <p:nvPr/>
        </p:nvSpPr>
        <p:spPr>
          <a:xfrm>
            <a:off x="5461000" y="469900"/>
            <a:ext cx="1270000" cy="38100"/>
          </a:xfrm>
          <a:prstGeom prst="rect">
            <a:avLst/>
          </a:prstGeom>
          <a:solidFill>
            <a:srgbClr val="00ACC1"/>
          </a:solidFill>
          <a:ln/>
        </p:spPr>
        <p:txBody>
          <a:bodyPr/>
          <a:lstStyle/>
          <a:p>
            <a:endParaRPr lang="ru-R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Text 4"/>
          <p:cNvSpPr/>
          <p:nvPr/>
        </p:nvSpPr>
        <p:spPr>
          <a:xfrm>
            <a:off x="8128000" y="0"/>
            <a:ext cx="4064000" cy="508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ru-RU" sz="1200" dirty="0">
                <a:solidFill>
                  <a:srgbClr val="FFFFFF"/>
                </a:solidFill>
                <a:latin typeface="Arial" panose="020B0604020202020204" pitchFamily="34" charset="0"/>
                <a:ea typeface="Quattrocento Sans" pitchFamily="34" charset="-122"/>
                <a:cs typeface="Arial" panose="020B0604020202020204" pitchFamily="34" charset="0"/>
              </a:rPr>
              <a:t>Функционал</a:t>
            </a:r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Text 5"/>
          <p:cNvSpPr/>
          <p:nvPr/>
        </p:nvSpPr>
        <p:spPr>
          <a:xfrm>
            <a:off x="12192000" y="0"/>
            <a:ext cx="4064000" cy="508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ru-RU" sz="1200" dirty="0">
                <a:solidFill>
                  <a:srgbClr val="FFFFFF"/>
                </a:solidFill>
                <a:latin typeface="Arial" panose="020B0604020202020204" pitchFamily="34" charset="0"/>
                <a:ea typeface="Quattrocento Sans" pitchFamily="34" charset="-122"/>
                <a:cs typeface="Arial" panose="020B0604020202020204" pitchFamily="34" charset="0"/>
              </a:rPr>
              <a:t>Документация</a:t>
            </a:r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Text 6"/>
          <p:cNvSpPr/>
          <p:nvPr/>
        </p:nvSpPr>
        <p:spPr>
          <a:xfrm>
            <a:off x="762000" y="698500"/>
            <a:ext cx="8890000" cy="482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ru-RU" sz="2800" b="1" dirty="0">
                <a:solidFill>
                  <a:srgbClr val="1A1F3C"/>
                </a:solidFill>
                <a:latin typeface="Arial" panose="020B0604020202020204" pitchFamily="34" charset="0"/>
                <a:ea typeface="Liter" pitchFamily="34" charset="-122"/>
                <a:cs typeface="Arial" panose="020B0604020202020204" pitchFamily="34" charset="0"/>
              </a:rPr>
              <a:t>Авторизация и безопасность</a:t>
            </a:r>
            <a:endParaRPr lang="en-US" sz="2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" name="Shape 7"/>
          <p:cNvSpPr/>
          <p:nvPr/>
        </p:nvSpPr>
        <p:spPr>
          <a:xfrm>
            <a:off x="762000" y="1206500"/>
            <a:ext cx="762000" cy="38100"/>
          </a:xfrm>
          <a:prstGeom prst="rect">
            <a:avLst/>
          </a:prstGeom>
          <a:solidFill>
            <a:srgbClr val="00ACC1"/>
          </a:solidFill>
          <a:ln/>
        </p:spPr>
        <p:txBody>
          <a:bodyPr/>
          <a:lstStyle/>
          <a:p>
            <a:endParaRPr lang="ru-R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762000" y="1460500"/>
            <a:ext cx="6350000" cy="6858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  <a:effectLst>
            <a:outerShdw blurRad="152400" dist="38100" dir="5400000" algn="bl" rotWithShape="0">
              <a:srgbClr val="000000">
                <a:alpha val="8235"/>
              </a:srgbClr>
            </a:outerShdw>
          </a:effectLst>
        </p:spPr>
        <p:txBody>
          <a:bodyPr/>
          <a:lstStyle/>
          <a:p>
            <a:endParaRPr lang="ru-R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2" name="Text 9"/>
          <p:cNvSpPr/>
          <p:nvPr/>
        </p:nvSpPr>
        <p:spPr>
          <a:xfrm>
            <a:off x="952500" y="7747000"/>
            <a:ext cx="5969000" cy="317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ru-RU" sz="1400" dirty="0">
                <a:solidFill>
                  <a:srgbClr val="64748B"/>
                </a:solidFill>
                <a:latin typeface="Arial" panose="020B0604020202020204" pitchFamily="34" charset="0"/>
                <a:ea typeface="Quattrocento Sans" pitchFamily="34" charset="-122"/>
                <a:cs typeface="Arial" panose="020B0604020202020204" pitchFamily="34" charset="0"/>
              </a:rPr>
              <a:t>Форма авторизации</a:t>
            </a:r>
            <a:endParaRPr 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Text 10"/>
          <p:cNvSpPr/>
          <p:nvPr/>
        </p:nvSpPr>
        <p:spPr>
          <a:xfrm>
            <a:off x="7747000" y="1460500"/>
            <a:ext cx="6350000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ru-RU" sz="2200" b="1" dirty="0">
                <a:solidFill>
                  <a:srgbClr val="1A1F3C"/>
                </a:solidFill>
                <a:latin typeface="Arial" panose="020B0604020202020204" pitchFamily="34" charset="0"/>
                <a:ea typeface="Liter" pitchFamily="34" charset="-122"/>
                <a:cs typeface="Arial" panose="020B0604020202020204" pitchFamily="34" charset="0"/>
              </a:rPr>
              <a:t>Механизмы безопасности</a:t>
            </a:r>
            <a:endParaRPr lang="en-US" sz="2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4" name="Shape 11"/>
          <p:cNvSpPr/>
          <p:nvPr/>
        </p:nvSpPr>
        <p:spPr>
          <a:xfrm>
            <a:off x="7747000" y="1879600"/>
            <a:ext cx="508000" cy="25400"/>
          </a:xfrm>
          <a:prstGeom prst="rect">
            <a:avLst/>
          </a:prstGeom>
          <a:solidFill>
            <a:srgbClr val="00ACC1"/>
          </a:solidFill>
          <a:ln/>
        </p:spPr>
        <p:txBody>
          <a:bodyPr/>
          <a:lstStyle/>
          <a:p>
            <a:endParaRPr lang="ru-R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5" name="Shape 12"/>
          <p:cNvSpPr/>
          <p:nvPr/>
        </p:nvSpPr>
        <p:spPr>
          <a:xfrm>
            <a:off x="7747000" y="2159000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304800" h="304800">
                <a:moveTo>
                  <a:pt x="200025" y="209550"/>
                </a:moveTo>
                <a:cubicBezTo>
                  <a:pt x="257889" y="209550"/>
                  <a:pt x="304800" y="162639"/>
                  <a:pt x="304800" y="104775"/>
                </a:cubicBezTo>
                <a:cubicBezTo>
                  <a:pt x="304800" y="46911"/>
                  <a:pt x="257889" y="0"/>
                  <a:pt x="200025" y="0"/>
                </a:cubicBezTo>
                <a:cubicBezTo>
                  <a:pt x="142161" y="0"/>
                  <a:pt x="95250" y="46911"/>
                  <a:pt x="95250" y="104775"/>
                </a:cubicBezTo>
                <a:cubicBezTo>
                  <a:pt x="95250" y="115907"/>
                  <a:pt x="96976" y="126683"/>
                  <a:pt x="100191" y="136743"/>
                </a:cubicBezTo>
                <a:lnTo>
                  <a:pt x="4167" y="232767"/>
                </a:lnTo>
                <a:cubicBezTo>
                  <a:pt x="1488" y="235446"/>
                  <a:pt x="0" y="239078"/>
                  <a:pt x="0" y="242888"/>
                </a:cubicBezTo>
                <a:lnTo>
                  <a:pt x="0" y="290513"/>
                </a:lnTo>
                <a:cubicBezTo>
                  <a:pt x="0" y="298430"/>
                  <a:pt x="6370" y="304800"/>
                  <a:pt x="14288" y="304800"/>
                </a:cubicBezTo>
                <a:lnTo>
                  <a:pt x="61912" y="304800"/>
                </a:lnTo>
                <a:cubicBezTo>
                  <a:pt x="69830" y="304800"/>
                  <a:pt x="76200" y="298430"/>
                  <a:pt x="76200" y="290513"/>
                </a:cubicBezTo>
                <a:lnTo>
                  <a:pt x="76200" y="266700"/>
                </a:lnTo>
                <a:lnTo>
                  <a:pt x="100013" y="266700"/>
                </a:lnTo>
                <a:cubicBezTo>
                  <a:pt x="107930" y="266700"/>
                  <a:pt x="114300" y="260330"/>
                  <a:pt x="114300" y="252413"/>
                </a:cubicBezTo>
                <a:lnTo>
                  <a:pt x="114300" y="228600"/>
                </a:lnTo>
                <a:lnTo>
                  <a:pt x="138113" y="228600"/>
                </a:lnTo>
                <a:cubicBezTo>
                  <a:pt x="141923" y="228600"/>
                  <a:pt x="145554" y="227112"/>
                  <a:pt x="148233" y="224433"/>
                </a:cubicBezTo>
                <a:lnTo>
                  <a:pt x="168057" y="204609"/>
                </a:lnTo>
                <a:cubicBezTo>
                  <a:pt x="178117" y="207824"/>
                  <a:pt x="188893" y="209550"/>
                  <a:pt x="200025" y="209550"/>
                </a:cubicBezTo>
                <a:close/>
                <a:moveTo>
                  <a:pt x="223838" y="57150"/>
                </a:moveTo>
                <a:cubicBezTo>
                  <a:pt x="236980" y="57150"/>
                  <a:pt x="247650" y="67820"/>
                  <a:pt x="247650" y="80962"/>
                </a:cubicBezTo>
                <a:cubicBezTo>
                  <a:pt x="247650" y="94105"/>
                  <a:pt x="236980" y="104775"/>
                  <a:pt x="223838" y="104775"/>
                </a:cubicBezTo>
                <a:cubicBezTo>
                  <a:pt x="210695" y="104775"/>
                  <a:pt x="200025" y="94105"/>
                  <a:pt x="200025" y="80962"/>
                </a:cubicBezTo>
                <a:cubicBezTo>
                  <a:pt x="200025" y="67820"/>
                  <a:pt x="210695" y="57150"/>
                  <a:pt x="223838" y="57150"/>
                </a:cubicBezTo>
                <a:close/>
              </a:path>
            </a:pathLst>
          </a:custGeom>
          <a:solidFill>
            <a:srgbClr val="00ACC1"/>
          </a:solidFill>
          <a:ln/>
        </p:spPr>
        <p:txBody>
          <a:bodyPr/>
          <a:lstStyle/>
          <a:p>
            <a:endParaRPr lang="ru-R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6" name="Text 13"/>
          <p:cNvSpPr/>
          <p:nvPr/>
        </p:nvSpPr>
        <p:spPr>
          <a:xfrm>
            <a:off x="8178800" y="2095500"/>
            <a:ext cx="731520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40000"/>
              </a:lnSpc>
            </a:pPr>
            <a:r>
              <a:rPr lang="ru-RU" sz="1600" b="1" dirty="0">
                <a:solidFill>
                  <a:srgbClr val="2D3748"/>
                </a:solidFill>
                <a:latin typeface="Arial" panose="020B0604020202020204" pitchFamily="34" charset="0"/>
                <a:ea typeface="Quattrocento Sans" pitchFamily="34" charset="-122"/>
                <a:cs typeface="Arial" panose="020B0604020202020204" pitchFamily="34" charset="0"/>
              </a:rPr>
              <a:t>Аутентификация </a:t>
            </a:r>
            <a:r>
              <a:rPr lang="ru-RU" sz="1600" dirty="0">
                <a:solidFill>
                  <a:srgbClr val="2D3748"/>
                </a:solidFill>
                <a:latin typeface="Arial" panose="020B0604020202020204" pitchFamily="34" charset="0"/>
                <a:ea typeface="Quattrocento Sans" pitchFamily="34" charset="-122"/>
                <a:cs typeface="Arial" panose="020B0604020202020204" pitchFamily="34" charset="0"/>
              </a:rPr>
              <a:t>— вход по логину и паролю</a:t>
            </a:r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7" name="Shape 14"/>
          <p:cNvSpPr/>
          <p:nvPr/>
        </p:nvSpPr>
        <p:spPr>
          <a:xfrm>
            <a:off x="7747000" y="2921000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304800" h="304800">
                <a:moveTo>
                  <a:pt x="101600" y="57150"/>
                </a:moveTo>
                <a:lnTo>
                  <a:pt x="101600" y="95250"/>
                </a:lnTo>
                <a:lnTo>
                  <a:pt x="203200" y="95250"/>
                </a:lnTo>
                <a:lnTo>
                  <a:pt x="203200" y="57150"/>
                </a:lnTo>
                <a:cubicBezTo>
                  <a:pt x="203200" y="36135"/>
                  <a:pt x="180419" y="19050"/>
                  <a:pt x="152400" y="19050"/>
                </a:cubicBezTo>
                <a:cubicBezTo>
                  <a:pt x="124381" y="19050"/>
                  <a:pt x="101600" y="36135"/>
                  <a:pt x="101600" y="57150"/>
                </a:cubicBezTo>
                <a:close/>
                <a:moveTo>
                  <a:pt x="50800" y="95250"/>
                </a:moveTo>
                <a:lnTo>
                  <a:pt x="50800" y="57150"/>
                </a:lnTo>
                <a:cubicBezTo>
                  <a:pt x="50800" y="15061"/>
                  <a:pt x="96282" y="-19050"/>
                  <a:pt x="152400" y="-19050"/>
                </a:cubicBezTo>
                <a:cubicBezTo>
                  <a:pt x="208518" y="-19050"/>
                  <a:pt x="254000" y="15061"/>
                  <a:pt x="254000" y="57150"/>
                </a:cubicBezTo>
                <a:lnTo>
                  <a:pt x="254000" y="95250"/>
                </a:lnTo>
                <a:cubicBezTo>
                  <a:pt x="282019" y="95250"/>
                  <a:pt x="304800" y="112335"/>
                  <a:pt x="304800" y="133350"/>
                </a:cubicBezTo>
                <a:lnTo>
                  <a:pt x="304800" y="266700"/>
                </a:lnTo>
                <a:cubicBezTo>
                  <a:pt x="304800" y="287715"/>
                  <a:pt x="282019" y="304800"/>
                  <a:pt x="254000" y="304800"/>
                </a:cubicBezTo>
                <a:lnTo>
                  <a:pt x="50800" y="304800"/>
                </a:lnTo>
                <a:cubicBezTo>
                  <a:pt x="22781" y="304800"/>
                  <a:pt x="0" y="287715"/>
                  <a:pt x="0" y="266700"/>
                </a:cubicBezTo>
                <a:lnTo>
                  <a:pt x="0" y="133350"/>
                </a:lnTo>
                <a:cubicBezTo>
                  <a:pt x="0" y="112335"/>
                  <a:pt x="22781" y="95250"/>
                  <a:pt x="50800" y="95250"/>
                </a:cubicBezTo>
                <a:close/>
              </a:path>
            </a:pathLst>
          </a:custGeom>
          <a:solidFill>
            <a:srgbClr val="00ACC1"/>
          </a:solidFill>
          <a:ln/>
        </p:spPr>
        <p:txBody>
          <a:bodyPr/>
          <a:lstStyle/>
          <a:p>
            <a:endParaRPr lang="ru-R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8" name="Text 15"/>
          <p:cNvSpPr/>
          <p:nvPr/>
        </p:nvSpPr>
        <p:spPr>
          <a:xfrm>
            <a:off x="8178800" y="2857500"/>
            <a:ext cx="731520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40000"/>
              </a:lnSpc>
            </a:pPr>
            <a:r>
              <a:rPr lang="en-US" sz="1600" b="1" dirty="0">
                <a:solidFill>
                  <a:srgbClr val="2D3748"/>
                </a:solidFill>
                <a:latin typeface="Arial" panose="020B0604020202020204" pitchFamily="34" charset="0"/>
                <a:ea typeface="Quattrocento Sans" pitchFamily="34" charset="-122"/>
                <a:cs typeface="Arial" panose="020B0604020202020204" pitchFamily="34" charset="0"/>
              </a:rPr>
              <a:t>PBKDF2-HMAC-SHA256 </a:t>
            </a:r>
            <a:r>
              <a:rPr lang="en-US" sz="1600" dirty="0">
                <a:solidFill>
                  <a:srgbClr val="2D3748"/>
                </a:solidFill>
                <a:latin typeface="Arial" panose="020B0604020202020204" pitchFamily="34" charset="0"/>
                <a:ea typeface="Quattrocento Sans" pitchFamily="34" charset="-122"/>
                <a:cs typeface="Arial" panose="020B0604020202020204" pitchFamily="34" charset="0"/>
              </a:rPr>
              <a:t>— </a:t>
            </a:r>
            <a:r>
              <a:rPr lang="ru-RU" sz="1600" dirty="0">
                <a:solidFill>
                  <a:srgbClr val="2D3748"/>
                </a:solidFill>
                <a:latin typeface="Arial" panose="020B0604020202020204" pitchFamily="34" charset="0"/>
                <a:ea typeface="Quattrocento Sans" pitchFamily="34" charset="-122"/>
                <a:cs typeface="Arial" panose="020B0604020202020204" pitchFamily="34" charset="0"/>
              </a:rPr>
              <a:t>алгоритм хеширования паролей</a:t>
            </a:r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9" name="Shape 16"/>
          <p:cNvSpPr/>
          <p:nvPr/>
        </p:nvSpPr>
        <p:spPr>
          <a:xfrm>
            <a:off x="7747000" y="3683000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304800" h="304800">
                <a:moveTo>
                  <a:pt x="152400" y="0"/>
                </a:moveTo>
                <a:cubicBezTo>
                  <a:pt x="155138" y="0"/>
                  <a:pt x="157877" y="595"/>
                  <a:pt x="160377" y="1726"/>
                </a:cubicBezTo>
                <a:lnTo>
                  <a:pt x="272534" y="49292"/>
                </a:lnTo>
                <a:cubicBezTo>
                  <a:pt x="285631" y="54828"/>
                  <a:pt x="295394" y="67747"/>
                  <a:pt x="295335" y="83344"/>
                </a:cubicBezTo>
                <a:cubicBezTo>
                  <a:pt x="295037" y="142399"/>
                  <a:pt x="270748" y="250448"/>
                  <a:pt x="168176" y="299561"/>
                </a:cubicBezTo>
                <a:cubicBezTo>
                  <a:pt x="158234" y="304324"/>
                  <a:pt x="146685" y="304324"/>
                  <a:pt x="136743" y="299561"/>
                </a:cubicBezTo>
                <a:cubicBezTo>
                  <a:pt x="34111" y="250448"/>
                  <a:pt x="9882" y="142399"/>
                  <a:pt x="9585" y="83344"/>
                </a:cubicBezTo>
                <a:cubicBezTo>
                  <a:pt x="9525" y="67747"/>
                  <a:pt x="19288" y="54828"/>
                  <a:pt x="32385" y="49292"/>
                </a:cubicBezTo>
                <a:lnTo>
                  <a:pt x="144482" y="1726"/>
                </a:lnTo>
                <a:cubicBezTo>
                  <a:pt x="146983" y="595"/>
                  <a:pt x="149662" y="0"/>
                  <a:pt x="152400" y="0"/>
                </a:cubicBezTo>
                <a:close/>
                <a:moveTo>
                  <a:pt x="152400" y="39767"/>
                </a:moveTo>
                <a:lnTo>
                  <a:pt x="152400" y="264855"/>
                </a:lnTo>
                <a:cubicBezTo>
                  <a:pt x="234553" y="225088"/>
                  <a:pt x="256639" y="136981"/>
                  <a:pt x="257175" y="84237"/>
                </a:cubicBezTo>
                <a:lnTo>
                  <a:pt x="152400" y="39826"/>
                </a:lnTo>
                <a:lnTo>
                  <a:pt x="152400" y="39826"/>
                </a:lnTo>
                <a:close/>
              </a:path>
            </a:pathLst>
          </a:custGeom>
          <a:solidFill>
            <a:srgbClr val="00ACC1"/>
          </a:solidFill>
          <a:ln/>
        </p:spPr>
        <p:txBody>
          <a:bodyPr/>
          <a:lstStyle/>
          <a:p>
            <a:endParaRPr lang="ru-R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0" name="Text 17"/>
          <p:cNvSpPr/>
          <p:nvPr/>
        </p:nvSpPr>
        <p:spPr>
          <a:xfrm>
            <a:off x="8178800" y="3619500"/>
            <a:ext cx="731520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40000"/>
              </a:lnSpc>
            </a:pPr>
            <a:r>
              <a:rPr lang="ru-RU" sz="1600" b="1" dirty="0">
                <a:solidFill>
                  <a:srgbClr val="2D3748"/>
                </a:solidFill>
                <a:latin typeface="Arial" panose="020B0604020202020204" pitchFamily="34" charset="0"/>
                <a:ea typeface="Quattrocento Sans" pitchFamily="34" charset="-122"/>
                <a:cs typeface="Arial" panose="020B0604020202020204" pitchFamily="34" charset="0"/>
              </a:rPr>
              <a:t>Случайная соль </a:t>
            </a:r>
            <a:r>
              <a:rPr lang="ru-RU" sz="1600" dirty="0">
                <a:solidFill>
                  <a:srgbClr val="2D3748"/>
                </a:solidFill>
                <a:latin typeface="Arial" panose="020B0604020202020204" pitchFamily="34" charset="0"/>
                <a:ea typeface="Quattrocento Sans" pitchFamily="34" charset="-122"/>
                <a:cs typeface="Arial" panose="020B0604020202020204" pitchFamily="34" charset="0"/>
              </a:rPr>
              <a:t>— 16 байт для каждого пароля</a:t>
            </a:r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1" name="Shape 18"/>
          <p:cNvSpPr/>
          <p:nvPr/>
        </p:nvSpPr>
        <p:spPr>
          <a:xfrm>
            <a:off x="7747000" y="4445000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304800" h="304800">
                <a:moveTo>
                  <a:pt x="285810" y="114300"/>
                </a:moveTo>
                <a:lnTo>
                  <a:pt x="290513" y="114300"/>
                </a:lnTo>
                <a:cubicBezTo>
                  <a:pt x="298430" y="114300"/>
                  <a:pt x="304800" y="107930"/>
                  <a:pt x="304800" y="100013"/>
                </a:cubicBezTo>
                <a:lnTo>
                  <a:pt x="304800" y="14288"/>
                </a:lnTo>
                <a:cubicBezTo>
                  <a:pt x="304800" y="8513"/>
                  <a:pt x="301347" y="3274"/>
                  <a:pt x="295989" y="1072"/>
                </a:cubicBezTo>
                <a:cubicBezTo>
                  <a:pt x="290632" y="-1131"/>
                  <a:pt x="284500" y="119"/>
                  <a:pt x="280392" y="4167"/>
                </a:cubicBezTo>
                <a:lnTo>
                  <a:pt x="249615" y="35004"/>
                </a:lnTo>
                <a:cubicBezTo>
                  <a:pt x="223242" y="13156"/>
                  <a:pt x="189309" y="0"/>
                  <a:pt x="152400" y="0"/>
                </a:cubicBezTo>
                <a:cubicBezTo>
                  <a:pt x="75605" y="0"/>
                  <a:pt x="12085" y="56793"/>
                  <a:pt x="1548" y="130671"/>
                </a:cubicBezTo>
                <a:cubicBezTo>
                  <a:pt x="60" y="141089"/>
                  <a:pt x="7263" y="150733"/>
                  <a:pt x="17681" y="152221"/>
                </a:cubicBezTo>
                <a:cubicBezTo>
                  <a:pt x="28099" y="153710"/>
                  <a:pt x="37743" y="146447"/>
                  <a:pt x="39231" y="136088"/>
                </a:cubicBezTo>
                <a:cubicBezTo>
                  <a:pt x="47149" y="80665"/>
                  <a:pt x="94833" y="38100"/>
                  <a:pt x="152400" y="38100"/>
                </a:cubicBezTo>
                <a:cubicBezTo>
                  <a:pt x="178832" y="38100"/>
                  <a:pt x="203121" y="47030"/>
                  <a:pt x="222468" y="62091"/>
                </a:cubicBezTo>
                <a:lnTo>
                  <a:pt x="194667" y="89892"/>
                </a:lnTo>
                <a:cubicBezTo>
                  <a:pt x="190560" y="94000"/>
                  <a:pt x="189369" y="100132"/>
                  <a:pt x="191572" y="105489"/>
                </a:cubicBezTo>
                <a:cubicBezTo>
                  <a:pt x="193774" y="110847"/>
                  <a:pt x="199013" y="114300"/>
                  <a:pt x="204787" y="114300"/>
                </a:cubicBezTo>
                <a:lnTo>
                  <a:pt x="285810" y="114300"/>
                </a:lnTo>
                <a:close/>
                <a:moveTo>
                  <a:pt x="303312" y="174129"/>
                </a:moveTo>
                <a:cubicBezTo>
                  <a:pt x="304800" y="163711"/>
                  <a:pt x="297537" y="154067"/>
                  <a:pt x="287179" y="152579"/>
                </a:cubicBezTo>
                <a:cubicBezTo>
                  <a:pt x="276820" y="151090"/>
                  <a:pt x="267117" y="158353"/>
                  <a:pt x="265628" y="168712"/>
                </a:cubicBezTo>
                <a:cubicBezTo>
                  <a:pt x="257711" y="224076"/>
                  <a:pt x="210026" y="266640"/>
                  <a:pt x="152460" y="266640"/>
                </a:cubicBezTo>
                <a:cubicBezTo>
                  <a:pt x="126028" y="266640"/>
                  <a:pt x="101739" y="257711"/>
                  <a:pt x="82391" y="242649"/>
                </a:cubicBezTo>
                <a:lnTo>
                  <a:pt x="110133" y="214908"/>
                </a:lnTo>
                <a:cubicBezTo>
                  <a:pt x="114240" y="210800"/>
                  <a:pt x="115431" y="204668"/>
                  <a:pt x="113228" y="199311"/>
                </a:cubicBezTo>
                <a:cubicBezTo>
                  <a:pt x="111026" y="193953"/>
                  <a:pt x="105787" y="190500"/>
                  <a:pt x="100013" y="190500"/>
                </a:cubicBezTo>
                <a:lnTo>
                  <a:pt x="14288" y="190500"/>
                </a:lnTo>
                <a:cubicBezTo>
                  <a:pt x="6370" y="190500"/>
                  <a:pt x="0" y="196870"/>
                  <a:pt x="0" y="204787"/>
                </a:cubicBezTo>
                <a:lnTo>
                  <a:pt x="0" y="290513"/>
                </a:lnTo>
                <a:cubicBezTo>
                  <a:pt x="0" y="296287"/>
                  <a:pt x="3453" y="301526"/>
                  <a:pt x="8811" y="303728"/>
                </a:cubicBezTo>
                <a:cubicBezTo>
                  <a:pt x="14168" y="305931"/>
                  <a:pt x="20300" y="304681"/>
                  <a:pt x="24408" y="300633"/>
                </a:cubicBezTo>
                <a:lnTo>
                  <a:pt x="55245" y="269796"/>
                </a:lnTo>
                <a:cubicBezTo>
                  <a:pt x="81558" y="291644"/>
                  <a:pt x="115491" y="304800"/>
                  <a:pt x="152400" y="304800"/>
                </a:cubicBezTo>
                <a:cubicBezTo>
                  <a:pt x="229195" y="304800"/>
                  <a:pt x="292715" y="248007"/>
                  <a:pt x="303252" y="174129"/>
                </a:cubicBezTo>
                <a:close/>
              </a:path>
            </a:pathLst>
          </a:custGeom>
          <a:solidFill>
            <a:srgbClr val="00ACC1"/>
          </a:solidFill>
          <a:ln/>
        </p:spPr>
        <p:txBody>
          <a:bodyPr/>
          <a:lstStyle/>
          <a:p>
            <a:endParaRPr lang="ru-R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2" name="Text 19"/>
          <p:cNvSpPr/>
          <p:nvPr/>
        </p:nvSpPr>
        <p:spPr>
          <a:xfrm>
            <a:off x="8178800" y="4381500"/>
            <a:ext cx="731520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40000"/>
              </a:lnSpc>
            </a:pPr>
            <a:r>
              <a:rPr lang="ru-RU" sz="1600" b="1" dirty="0">
                <a:solidFill>
                  <a:srgbClr val="2D3748"/>
                </a:solidFill>
                <a:latin typeface="Arial" panose="020B0604020202020204" pitchFamily="34" charset="0"/>
                <a:ea typeface="Quattrocento Sans" pitchFamily="34" charset="-122"/>
                <a:cs typeface="Arial" panose="020B0604020202020204" pitchFamily="34" charset="0"/>
              </a:rPr>
              <a:t>10 000 итераций </a:t>
            </a:r>
            <a:r>
              <a:rPr lang="ru-RU" sz="1600" dirty="0">
                <a:solidFill>
                  <a:srgbClr val="2D3748"/>
                </a:solidFill>
                <a:latin typeface="Arial" panose="020B0604020202020204" pitchFamily="34" charset="0"/>
                <a:ea typeface="Quattrocento Sans" pitchFamily="34" charset="-122"/>
                <a:cs typeface="Arial" panose="020B0604020202020204" pitchFamily="34" charset="0"/>
              </a:rPr>
              <a:t>— хеширования для защиты от </a:t>
            </a:r>
            <a:r>
              <a:rPr lang="ru-RU" sz="1600" dirty="0" err="1">
                <a:solidFill>
                  <a:srgbClr val="2D3748"/>
                </a:solidFill>
                <a:latin typeface="Arial" panose="020B0604020202020204" pitchFamily="34" charset="0"/>
                <a:ea typeface="Quattrocento Sans" pitchFamily="34" charset="-122"/>
                <a:cs typeface="Arial" panose="020B0604020202020204" pitchFamily="34" charset="0"/>
              </a:rPr>
              <a:t>брутфорса</a:t>
            </a:r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3" name="Shape 20"/>
          <p:cNvSpPr/>
          <p:nvPr/>
        </p:nvSpPr>
        <p:spPr>
          <a:xfrm>
            <a:off x="7747000" y="5207000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304800" h="304800">
                <a:moveTo>
                  <a:pt x="118533" y="147638"/>
                </a:moveTo>
                <a:cubicBezTo>
                  <a:pt x="153580" y="147638"/>
                  <a:pt x="182033" y="115627"/>
                  <a:pt x="182033" y="76200"/>
                </a:cubicBezTo>
                <a:cubicBezTo>
                  <a:pt x="182033" y="36773"/>
                  <a:pt x="153580" y="4763"/>
                  <a:pt x="118533" y="4763"/>
                </a:cubicBezTo>
                <a:cubicBezTo>
                  <a:pt x="83487" y="4763"/>
                  <a:pt x="55033" y="36773"/>
                  <a:pt x="55033" y="76200"/>
                </a:cubicBezTo>
                <a:cubicBezTo>
                  <a:pt x="55033" y="115627"/>
                  <a:pt x="83487" y="147638"/>
                  <a:pt x="118533" y="147638"/>
                </a:cubicBezTo>
                <a:close/>
                <a:moveTo>
                  <a:pt x="102817" y="180975"/>
                </a:moveTo>
                <a:cubicBezTo>
                  <a:pt x="50694" y="180975"/>
                  <a:pt x="8467" y="228481"/>
                  <a:pt x="8467" y="287119"/>
                </a:cubicBezTo>
                <a:cubicBezTo>
                  <a:pt x="8467" y="296882"/>
                  <a:pt x="15505" y="304800"/>
                  <a:pt x="24183" y="304800"/>
                </a:cubicBezTo>
                <a:lnTo>
                  <a:pt x="157268" y="304800"/>
                </a:lnTo>
                <a:cubicBezTo>
                  <a:pt x="138113" y="279440"/>
                  <a:pt x="127000" y="246757"/>
                  <a:pt x="127000" y="212169"/>
                </a:cubicBezTo>
                <a:lnTo>
                  <a:pt x="127000" y="193655"/>
                </a:lnTo>
                <a:cubicBezTo>
                  <a:pt x="127000" y="189309"/>
                  <a:pt x="127529" y="185023"/>
                  <a:pt x="128535" y="180975"/>
                </a:cubicBezTo>
                <a:lnTo>
                  <a:pt x="102817" y="180975"/>
                </a:lnTo>
                <a:close/>
                <a:moveTo>
                  <a:pt x="235638" y="290810"/>
                </a:moveTo>
                <a:lnTo>
                  <a:pt x="228600" y="294561"/>
                </a:lnTo>
                <a:lnTo>
                  <a:pt x="228600" y="182582"/>
                </a:lnTo>
                <a:lnTo>
                  <a:pt x="279400" y="201632"/>
                </a:lnTo>
                <a:lnTo>
                  <a:pt x="279400" y="213300"/>
                </a:lnTo>
                <a:cubicBezTo>
                  <a:pt x="279400" y="246519"/>
                  <a:pt x="262361" y="276701"/>
                  <a:pt x="235638" y="290870"/>
                </a:cubicBezTo>
                <a:close/>
                <a:moveTo>
                  <a:pt x="223255" y="154484"/>
                </a:moveTo>
                <a:lnTo>
                  <a:pt x="163989" y="176689"/>
                </a:lnTo>
                <a:cubicBezTo>
                  <a:pt x="157057" y="179308"/>
                  <a:pt x="152400" y="186571"/>
                  <a:pt x="152400" y="194786"/>
                </a:cubicBezTo>
                <a:lnTo>
                  <a:pt x="152400" y="213300"/>
                </a:lnTo>
                <a:cubicBezTo>
                  <a:pt x="152400" y="257592"/>
                  <a:pt x="175154" y="297894"/>
                  <a:pt x="210714" y="316706"/>
                </a:cubicBezTo>
                <a:lnTo>
                  <a:pt x="220504" y="321885"/>
                </a:lnTo>
                <a:cubicBezTo>
                  <a:pt x="223044" y="323195"/>
                  <a:pt x="225795" y="323910"/>
                  <a:pt x="228547" y="323910"/>
                </a:cubicBezTo>
                <a:cubicBezTo>
                  <a:pt x="231299" y="323910"/>
                  <a:pt x="234103" y="323195"/>
                  <a:pt x="236590" y="321885"/>
                </a:cubicBezTo>
                <a:lnTo>
                  <a:pt x="246380" y="316706"/>
                </a:lnTo>
                <a:cubicBezTo>
                  <a:pt x="282046" y="297835"/>
                  <a:pt x="304800" y="257532"/>
                  <a:pt x="304800" y="213241"/>
                </a:cubicBezTo>
                <a:lnTo>
                  <a:pt x="304800" y="194727"/>
                </a:lnTo>
                <a:cubicBezTo>
                  <a:pt x="304800" y="186511"/>
                  <a:pt x="300143" y="179249"/>
                  <a:pt x="293211" y="176629"/>
                </a:cubicBezTo>
                <a:lnTo>
                  <a:pt x="233945" y="154424"/>
                </a:lnTo>
                <a:cubicBezTo>
                  <a:pt x="230452" y="153114"/>
                  <a:pt x="226695" y="153114"/>
                  <a:pt x="223255" y="154424"/>
                </a:cubicBezTo>
                <a:close/>
              </a:path>
            </a:pathLst>
          </a:custGeom>
          <a:solidFill>
            <a:srgbClr val="00ACC1"/>
          </a:solidFill>
          <a:ln/>
        </p:spPr>
        <p:txBody>
          <a:bodyPr/>
          <a:lstStyle/>
          <a:p>
            <a:endParaRPr lang="ru-R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4" name="Text 21"/>
          <p:cNvSpPr/>
          <p:nvPr/>
        </p:nvSpPr>
        <p:spPr>
          <a:xfrm>
            <a:off x="8178800" y="5143500"/>
            <a:ext cx="731520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40000"/>
              </a:lnSpc>
            </a:pPr>
            <a:r>
              <a:rPr lang="ru-RU" sz="1600" b="1" dirty="0">
                <a:solidFill>
                  <a:srgbClr val="2D3748"/>
                </a:solidFill>
                <a:latin typeface="Arial" panose="020B0604020202020204" pitchFamily="34" charset="0"/>
                <a:ea typeface="Quattrocento Sans" pitchFamily="34" charset="-122"/>
                <a:cs typeface="Arial" panose="020B0604020202020204" pitchFamily="34" charset="0"/>
              </a:rPr>
              <a:t>Разграничение ролей </a:t>
            </a:r>
            <a:r>
              <a:rPr lang="ru-RU" sz="1600" dirty="0">
                <a:solidFill>
                  <a:srgbClr val="2D3748"/>
                </a:solidFill>
                <a:latin typeface="Arial" panose="020B0604020202020204" pitchFamily="34" charset="0"/>
                <a:ea typeface="Quattrocento Sans" pitchFamily="34" charset="-122"/>
                <a:cs typeface="Arial" panose="020B0604020202020204" pitchFamily="34" charset="0"/>
              </a:rPr>
              <a:t>— администратор и пользователь</a:t>
            </a:r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5" name="Shape 22"/>
          <p:cNvSpPr/>
          <p:nvPr/>
        </p:nvSpPr>
        <p:spPr>
          <a:xfrm>
            <a:off x="7747000" y="5969000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304800" h="304800">
                <a:moveTo>
                  <a:pt x="21696" y="-14823"/>
                </a:moveTo>
                <a:cubicBezTo>
                  <a:pt x="16722" y="-20419"/>
                  <a:pt x="8678" y="-20419"/>
                  <a:pt x="3757" y="-14823"/>
                </a:cubicBezTo>
                <a:cubicBezTo>
                  <a:pt x="-1164" y="-9227"/>
                  <a:pt x="-1217" y="-179"/>
                  <a:pt x="3704" y="5417"/>
                </a:cubicBezTo>
                <a:lnTo>
                  <a:pt x="283104" y="319742"/>
                </a:lnTo>
                <a:cubicBezTo>
                  <a:pt x="288078" y="325338"/>
                  <a:pt x="296122" y="325338"/>
                  <a:pt x="301043" y="319742"/>
                </a:cubicBezTo>
                <a:cubicBezTo>
                  <a:pt x="305964" y="314146"/>
                  <a:pt x="306017" y="305098"/>
                  <a:pt x="301043" y="299561"/>
                </a:cubicBezTo>
                <a:lnTo>
                  <a:pt x="250031" y="242173"/>
                </a:lnTo>
                <a:cubicBezTo>
                  <a:pt x="251460" y="240744"/>
                  <a:pt x="252889" y="239316"/>
                  <a:pt x="254265" y="237887"/>
                </a:cubicBezTo>
                <a:cubicBezTo>
                  <a:pt x="279030" y="211991"/>
                  <a:pt x="295593" y="181094"/>
                  <a:pt x="303477" y="159841"/>
                </a:cubicBezTo>
                <a:cubicBezTo>
                  <a:pt x="305223" y="155138"/>
                  <a:pt x="305223" y="149900"/>
                  <a:pt x="303477" y="145197"/>
                </a:cubicBezTo>
                <a:cubicBezTo>
                  <a:pt x="295593" y="123944"/>
                  <a:pt x="279030" y="92988"/>
                  <a:pt x="254265" y="67151"/>
                </a:cubicBezTo>
                <a:cubicBezTo>
                  <a:pt x="229341" y="41136"/>
                  <a:pt x="195104" y="19169"/>
                  <a:pt x="152347" y="19169"/>
                </a:cubicBezTo>
                <a:cubicBezTo>
                  <a:pt x="122290" y="19169"/>
                  <a:pt x="96467" y="30004"/>
                  <a:pt x="75089" y="45482"/>
                </a:cubicBezTo>
                <a:lnTo>
                  <a:pt x="21696" y="-14823"/>
                </a:lnTo>
                <a:close/>
                <a:moveTo>
                  <a:pt x="108215" y="82570"/>
                </a:moveTo>
                <a:cubicBezTo>
                  <a:pt x="120650" y="72569"/>
                  <a:pt x="135943" y="66675"/>
                  <a:pt x="152400" y="66675"/>
                </a:cubicBezTo>
                <a:cubicBezTo>
                  <a:pt x="194469" y="66675"/>
                  <a:pt x="228600" y="105073"/>
                  <a:pt x="228600" y="152400"/>
                </a:cubicBezTo>
                <a:cubicBezTo>
                  <a:pt x="228600" y="170914"/>
                  <a:pt x="223361" y="188059"/>
                  <a:pt x="214471" y="202109"/>
                </a:cubicBezTo>
                <a:lnTo>
                  <a:pt x="196109" y="181451"/>
                </a:lnTo>
                <a:cubicBezTo>
                  <a:pt x="202830" y="168712"/>
                  <a:pt x="205105" y="153055"/>
                  <a:pt x="201454" y="137577"/>
                </a:cubicBezTo>
                <a:cubicBezTo>
                  <a:pt x="194204" y="107097"/>
                  <a:pt x="166317" y="88999"/>
                  <a:pt x="139224" y="97155"/>
                </a:cubicBezTo>
                <a:cubicBezTo>
                  <a:pt x="134673" y="98524"/>
                  <a:pt x="130387" y="100548"/>
                  <a:pt x="126524" y="103108"/>
                </a:cubicBezTo>
                <a:lnTo>
                  <a:pt x="108162" y="82451"/>
                </a:lnTo>
                <a:close/>
                <a:moveTo>
                  <a:pt x="172138" y="235208"/>
                </a:moveTo>
                <a:cubicBezTo>
                  <a:pt x="165841" y="237113"/>
                  <a:pt x="159226" y="238125"/>
                  <a:pt x="152400" y="238125"/>
                </a:cubicBezTo>
                <a:cubicBezTo>
                  <a:pt x="110331" y="238125"/>
                  <a:pt x="76200" y="199727"/>
                  <a:pt x="76200" y="152400"/>
                </a:cubicBezTo>
                <a:cubicBezTo>
                  <a:pt x="76200" y="144720"/>
                  <a:pt x="77100" y="137279"/>
                  <a:pt x="78793" y="130195"/>
                </a:cubicBezTo>
                <a:lnTo>
                  <a:pt x="36724" y="82867"/>
                </a:lnTo>
                <a:cubicBezTo>
                  <a:pt x="19473" y="104775"/>
                  <a:pt x="7620" y="127992"/>
                  <a:pt x="1323" y="145078"/>
                </a:cubicBezTo>
                <a:cubicBezTo>
                  <a:pt x="-423" y="149781"/>
                  <a:pt x="-423" y="155019"/>
                  <a:pt x="1323" y="159722"/>
                </a:cubicBezTo>
                <a:cubicBezTo>
                  <a:pt x="9207" y="180975"/>
                  <a:pt x="25770" y="211931"/>
                  <a:pt x="50535" y="237768"/>
                </a:cubicBezTo>
                <a:cubicBezTo>
                  <a:pt x="75459" y="263783"/>
                  <a:pt x="109696" y="285750"/>
                  <a:pt x="152453" y="285750"/>
                </a:cubicBezTo>
                <a:cubicBezTo>
                  <a:pt x="172191" y="285750"/>
                  <a:pt x="190130" y="281047"/>
                  <a:pt x="206163" y="273487"/>
                </a:cubicBezTo>
                <a:lnTo>
                  <a:pt x="172191" y="235268"/>
                </a:lnTo>
                <a:close/>
              </a:path>
            </a:pathLst>
          </a:custGeom>
          <a:solidFill>
            <a:srgbClr val="00ACC1"/>
          </a:solidFill>
          <a:ln/>
        </p:spPr>
        <p:txBody>
          <a:bodyPr/>
          <a:lstStyle/>
          <a:p>
            <a:endParaRPr lang="ru-R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6" name="Text 23"/>
          <p:cNvSpPr/>
          <p:nvPr/>
        </p:nvSpPr>
        <p:spPr>
          <a:xfrm>
            <a:off x="8178800" y="5905500"/>
            <a:ext cx="731520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40000"/>
              </a:lnSpc>
            </a:pPr>
            <a:r>
              <a:rPr lang="ru-RU" sz="1600" b="1" dirty="0">
                <a:solidFill>
                  <a:srgbClr val="2D3748"/>
                </a:solidFill>
                <a:latin typeface="Arial" panose="020B0604020202020204" pitchFamily="34" charset="0"/>
                <a:ea typeface="Quattrocento Sans" pitchFamily="34" charset="-122"/>
                <a:cs typeface="Arial" panose="020B0604020202020204" pitchFamily="34" charset="0"/>
              </a:rPr>
              <a:t>Пароли не хранятся в открытом виде в базе данных</a:t>
            </a:r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29" name="Рисунок 28">
            <a:extLst>
              <a:ext uri="{FF2B5EF4-FFF2-40B4-BE49-F238E27FC236}">
                <a16:creationId xmlns:a16="http://schemas.microsoft.com/office/drawing/2014/main" id="{44DAAE6D-F8FD-0E30-2837-A811ED5EC1C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5847" r="27580"/>
          <a:stretch>
            <a:fillRect/>
          </a:stretch>
        </p:blipFill>
        <p:spPr>
          <a:xfrm>
            <a:off x="1524000" y="1754643"/>
            <a:ext cx="4897821" cy="5928857"/>
          </a:xfrm>
          <a:prstGeom prst="rect">
            <a:avLst/>
          </a:prstGeom>
        </p:spPr>
      </p:pic>
    </p:spTree>
  </p:cSld>
  <p:clrMapOvr>
    <a:masterClrMapping/>
  </p:clrMapOvr>
  <p:transition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gradFill flip="none" rotWithShape="1">
          <a:gsLst>
            <a:gs pos="0">
              <a:srgbClr val="0F1525"/>
            </a:gs>
            <a:gs pos="50000">
              <a:srgbClr val="1A1F3C"/>
            </a:gs>
            <a:gs pos="100000">
              <a:srgbClr val="162044"/>
            </a:gs>
          </a:gsLst>
          <a:lin ang="81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2000" y="2286000"/>
            <a:ext cx="3810000" cy="1206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7200" dirty="0">
                <a:solidFill>
                  <a:srgbClr val="00ACC1"/>
                </a:solidFill>
                <a:latin typeface="Arial" panose="020B0604020202020204" pitchFamily="34" charset="0"/>
                <a:ea typeface="Liter" pitchFamily="34" charset="-122"/>
                <a:cs typeface="Arial" panose="020B0604020202020204" pitchFamily="34" charset="0"/>
              </a:rPr>
              <a:t>03</a:t>
            </a:r>
            <a:endParaRPr lang="en-US" sz="7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Shape 1"/>
          <p:cNvSpPr/>
          <p:nvPr/>
        </p:nvSpPr>
        <p:spPr>
          <a:xfrm>
            <a:off x="762000" y="3683000"/>
            <a:ext cx="1016000" cy="38100"/>
          </a:xfrm>
          <a:prstGeom prst="rect">
            <a:avLst/>
          </a:prstGeom>
          <a:solidFill>
            <a:srgbClr val="00ACC1"/>
          </a:solidFill>
          <a:ln/>
        </p:spPr>
        <p:txBody>
          <a:bodyPr/>
          <a:lstStyle/>
          <a:p>
            <a:endParaRPr lang="ru-R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Text 2"/>
          <p:cNvSpPr/>
          <p:nvPr/>
        </p:nvSpPr>
        <p:spPr>
          <a:xfrm>
            <a:off x="762000" y="3937000"/>
            <a:ext cx="10160000" cy="635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ru-RU" sz="3600" b="1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Функционал приложения</a:t>
            </a:r>
            <a:endParaRPr lang="en-US" sz="3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Text 3"/>
          <p:cNvSpPr/>
          <p:nvPr/>
        </p:nvSpPr>
        <p:spPr>
          <a:xfrm>
            <a:off x="762000" y="4699000"/>
            <a:ext cx="8890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ru-RU" dirty="0">
                <a:solidFill>
                  <a:srgbClr val="C0C5CE"/>
                </a:solidFill>
                <a:latin typeface="Arial" panose="020B0604020202020204" pitchFamily="34" charset="0"/>
                <a:ea typeface="Quattrocento Sans" pitchFamily="34" charset="-122"/>
                <a:cs typeface="Arial" panose="020B0604020202020204" pitchFamily="34" charset="0"/>
              </a:rPr>
              <a:t>Интерфейс, разделы и возможности системы</a:t>
            </a:r>
            <a:endParaRPr lang="en-US" sz="1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Shape 4"/>
          <p:cNvSpPr/>
          <p:nvPr/>
        </p:nvSpPr>
        <p:spPr>
          <a:xfrm>
            <a:off x="13335000" y="5080000"/>
            <a:ext cx="1905000" cy="1905000"/>
          </a:xfrm>
          <a:prstGeom prst="ellipse">
            <a:avLst/>
          </a:prstGeom>
          <a:solidFill>
            <a:srgbClr val="00ACC2">
              <a:alpha val="6275"/>
            </a:srgbClr>
          </a:solidFill>
          <a:ln w="12700">
            <a:solidFill>
              <a:srgbClr val="00ACC1"/>
            </a:solidFill>
            <a:prstDash val="solid"/>
          </a:ln>
        </p:spPr>
        <p:txBody>
          <a:bodyPr/>
          <a:lstStyle/>
          <a:p>
            <a:endParaRPr lang="ru-R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Shape 5"/>
          <p:cNvSpPr/>
          <p:nvPr/>
        </p:nvSpPr>
        <p:spPr>
          <a:xfrm>
            <a:off x="13970000" y="1270000"/>
            <a:ext cx="1016000" cy="1016000"/>
          </a:xfrm>
          <a:prstGeom prst="ellipse">
            <a:avLst/>
          </a:prstGeom>
          <a:solidFill>
            <a:srgbClr val="00ACC2">
              <a:alpha val="8235"/>
            </a:srgbClr>
          </a:solidFill>
          <a:ln w="12700">
            <a:solidFill>
              <a:srgbClr val="00ACC1"/>
            </a:solidFill>
            <a:prstDash val="solid"/>
          </a:ln>
        </p:spPr>
        <p:txBody>
          <a:bodyPr/>
          <a:lstStyle/>
          <a:p>
            <a:endParaRPr lang="ru-R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  <p:transition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0F2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256000" cy="508000"/>
          </a:xfrm>
          <a:prstGeom prst="rect">
            <a:avLst/>
          </a:prstGeom>
          <a:solidFill>
            <a:srgbClr val="1A1F3C"/>
          </a:solidFill>
          <a:ln/>
        </p:spPr>
        <p:txBody>
          <a:bodyPr/>
          <a:lstStyle/>
          <a:p>
            <a:endParaRPr lang="ru-R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0" y="0"/>
            <a:ext cx="4064000" cy="508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ru-RU" sz="1200" dirty="0">
                <a:solidFill>
                  <a:srgbClr val="FFFFFF"/>
                </a:solidFill>
                <a:latin typeface="Arial" panose="020B0604020202020204" pitchFamily="34" charset="0"/>
                <a:ea typeface="Quattrocento Sans" pitchFamily="34" charset="-122"/>
                <a:cs typeface="Arial" panose="020B0604020202020204" pitchFamily="34" charset="0"/>
              </a:rPr>
              <a:t>О проекте</a:t>
            </a:r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Text 2"/>
          <p:cNvSpPr/>
          <p:nvPr/>
        </p:nvSpPr>
        <p:spPr>
          <a:xfrm>
            <a:off x="4064000" y="0"/>
            <a:ext cx="4064000" cy="508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ru-RU" sz="1200" dirty="0">
                <a:solidFill>
                  <a:srgbClr val="FFFFFF"/>
                </a:solidFill>
                <a:latin typeface="Arial" panose="020B0604020202020204" pitchFamily="34" charset="0"/>
                <a:ea typeface="Quattrocento Sans" pitchFamily="34" charset="-122"/>
                <a:cs typeface="Arial" panose="020B0604020202020204" pitchFamily="34" charset="0"/>
              </a:rPr>
              <a:t>Архитектура</a:t>
            </a:r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Text 3"/>
          <p:cNvSpPr/>
          <p:nvPr/>
        </p:nvSpPr>
        <p:spPr>
          <a:xfrm>
            <a:off x="8128000" y="0"/>
            <a:ext cx="4064000" cy="457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ru-RU" sz="1200" b="1" dirty="0">
                <a:solidFill>
                  <a:srgbClr val="FFFFFF"/>
                </a:solidFill>
                <a:latin typeface="Arial" panose="020B0604020202020204" pitchFamily="34" charset="0"/>
                <a:ea typeface="Quattrocento Sans" pitchFamily="34" charset="-122"/>
                <a:cs typeface="Arial" panose="020B0604020202020204" pitchFamily="34" charset="0"/>
              </a:rPr>
              <a:t>Функционал</a:t>
            </a:r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Shape 4"/>
          <p:cNvSpPr/>
          <p:nvPr/>
        </p:nvSpPr>
        <p:spPr>
          <a:xfrm>
            <a:off x="9525000" y="469900"/>
            <a:ext cx="1270000" cy="38100"/>
          </a:xfrm>
          <a:prstGeom prst="rect">
            <a:avLst/>
          </a:prstGeom>
          <a:solidFill>
            <a:srgbClr val="00ACC1"/>
          </a:solidFill>
          <a:ln/>
        </p:spPr>
        <p:txBody>
          <a:bodyPr/>
          <a:lstStyle/>
          <a:p>
            <a:endParaRPr lang="ru-R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Text 5"/>
          <p:cNvSpPr/>
          <p:nvPr/>
        </p:nvSpPr>
        <p:spPr>
          <a:xfrm>
            <a:off x="12192000" y="0"/>
            <a:ext cx="4064000" cy="508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ru-RU" sz="1200" dirty="0">
                <a:solidFill>
                  <a:srgbClr val="FFFFFF"/>
                </a:solidFill>
                <a:latin typeface="Arial" panose="020B0604020202020204" pitchFamily="34" charset="0"/>
                <a:ea typeface="Quattrocento Sans" pitchFamily="34" charset="-122"/>
                <a:cs typeface="Arial" panose="020B0604020202020204" pitchFamily="34" charset="0"/>
              </a:rPr>
              <a:t>Документация</a:t>
            </a:r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Text 6"/>
          <p:cNvSpPr/>
          <p:nvPr/>
        </p:nvSpPr>
        <p:spPr>
          <a:xfrm>
            <a:off x="762000" y="698500"/>
            <a:ext cx="10160000" cy="482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ru-RU" sz="2800" b="1" dirty="0">
                <a:solidFill>
                  <a:srgbClr val="1A1F3C"/>
                </a:solidFill>
                <a:latin typeface="Arial" panose="020B0604020202020204" pitchFamily="34" charset="0"/>
                <a:ea typeface="Liter" pitchFamily="34" charset="-122"/>
                <a:cs typeface="Arial" panose="020B0604020202020204" pitchFamily="34" charset="0"/>
              </a:rPr>
              <a:t>Активисты и Касания</a:t>
            </a:r>
            <a:endParaRPr lang="en-US" sz="2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" name="Shape 7"/>
          <p:cNvSpPr/>
          <p:nvPr/>
        </p:nvSpPr>
        <p:spPr>
          <a:xfrm>
            <a:off x="762000" y="1206500"/>
            <a:ext cx="762000" cy="38100"/>
          </a:xfrm>
          <a:prstGeom prst="rect">
            <a:avLst/>
          </a:prstGeom>
          <a:solidFill>
            <a:srgbClr val="00ACC1"/>
          </a:solidFill>
          <a:ln/>
        </p:spPr>
        <p:txBody>
          <a:bodyPr/>
          <a:lstStyle/>
          <a:p>
            <a:endParaRPr lang="ru-R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762000" y="2217244"/>
            <a:ext cx="7239000" cy="5270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  <a:effectLst>
            <a:outerShdw blurRad="152400" dist="38100" dir="5400000" algn="bl" rotWithShape="0">
              <a:srgbClr val="000000">
                <a:alpha val="8235"/>
              </a:srgbClr>
            </a:outerShdw>
          </a:effectLst>
        </p:spPr>
        <p:txBody>
          <a:bodyPr/>
          <a:lstStyle/>
          <a:p>
            <a:endParaRPr lang="ru-R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2" name="Text 9"/>
          <p:cNvSpPr/>
          <p:nvPr/>
        </p:nvSpPr>
        <p:spPr>
          <a:xfrm>
            <a:off x="906955" y="6497499"/>
            <a:ext cx="6858000" cy="317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ru-RU" sz="1800" b="1" dirty="0">
                <a:solidFill>
                  <a:srgbClr val="1A1F3C"/>
                </a:solidFill>
                <a:latin typeface="Arial" panose="020B0604020202020204" pitchFamily="34" charset="0"/>
                <a:ea typeface="Liter" pitchFamily="34" charset="-122"/>
                <a:cs typeface="Arial" panose="020B0604020202020204" pitchFamily="34" charset="0"/>
              </a:rPr>
              <a:t>Раздел «Активисты»</a:t>
            </a:r>
            <a:endParaRPr lang="en-US" sz="1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Text 10"/>
          <p:cNvSpPr/>
          <p:nvPr/>
        </p:nvSpPr>
        <p:spPr>
          <a:xfrm>
            <a:off x="906955" y="6861336"/>
            <a:ext cx="6858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40000"/>
              </a:lnSpc>
            </a:pPr>
            <a:r>
              <a:rPr lang="ru-RU" sz="1400" dirty="0">
                <a:solidFill>
                  <a:srgbClr val="64748B"/>
                </a:solidFill>
                <a:latin typeface="Arial" panose="020B0604020202020204" pitchFamily="34" charset="0"/>
                <a:ea typeface="Quattrocento Sans" pitchFamily="34" charset="-122"/>
                <a:cs typeface="Arial" panose="020B0604020202020204" pitchFamily="34" charset="0"/>
              </a:rPr>
              <a:t>Список активистов с поиском, фильтрами, пагинацией и экспортом в Excel</a:t>
            </a:r>
            <a:endParaRPr 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20" name="Рисунок 19">
            <a:extLst>
              <a:ext uri="{FF2B5EF4-FFF2-40B4-BE49-F238E27FC236}">
                <a16:creationId xmlns:a16="http://schemas.microsoft.com/office/drawing/2014/main" id="{12B60244-541B-F18B-79B8-2EC7811666C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6955" y="2407744"/>
            <a:ext cx="6949090" cy="3825683"/>
          </a:xfrm>
          <a:prstGeom prst="rect">
            <a:avLst/>
          </a:prstGeom>
        </p:spPr>
      </p:pic>
      <p:sp>
        <p:nvSpPr>
          <p:cNvPr id="22" name="Shape 8">
            <a:extLst>
              <a:ext uri="{FF2B5EF4-FFF2-40B4-BE49-F238E27FC236}">
                <a16:creationId xmlns:a16="http://schemas.microsoft.com/office/drawing/2014/main" id="{FD02624E-25D3-9255-D841-5FF79256DB91}"/>
              </a:ext>
            </a:extLst>
          </p:cNvPr>
          <p:cNvSpPr/>
          <p:nvPr/>
        </p:nvSpPr>
        <p:spPr>
          <a:xfrm>
            <a:off x="8255002" y="2217243"/>
            <a:ext cx="7239000" cy="5270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  <a:effectLst>
            <a:outerShdw blurRad="152400" dist="38100" dir="5400000" algn="bl" rotWithShape="0">
              <a:srgbClr val="000000">
                <a:alpha val="8235"/>
              </a:srgbClr>
            </a:outerShdw>
          </a:effectLst>
        </p:spPr>
        <p:txBody>
          <a:bodyPr/>
          <a:lstStyle/>
          <a:p>
            <a:endParaRPr lang="ru-R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4" name="Text 9">
            <a:extLst>
              <a:ext uri="{FF2B5EF4-FFF2-40B4-BE49-F238E27FC236}">
                <a16:creationId xmlns:a16="http://schemas.microsoft.com/office/drawing/2014/main" id="{1701DD9F-07EC-D52A-500F-E18E42CADB8D}"/>
              </a:ext>
            </a:extLst>
          </p:cNvPr>
          <p:cNvSpPr/>
          <p:nvPr/>
        </p:nvSpPr>
        <p:spPr>
          <a:xfrm>
            <a:off x="8399957" y="6497499"/>
            <a:ext cx="6858000" cy="317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ru-RU" sz="1800" b="1" dirty="0">
                <a:solidFill>
                  <a:srgbClr val="1A1F3C"/>
                </a:solidFill>
                <a:latin typeface="Arial" panose="020B0604020202020204" pitchFamily="34" charset="0"/>
                <a:ea typeface="Liter" pitchFamily="34" charset="-122"/>
                <a:cs typeface="Arial" panose="020B0604020202020204" pitchFamily="34" charset="0"/>
              </a:rPr>
              <a:t>Раздел «Касания»</a:t>
            </a:r>
            <a:endParaRPr lang="en-US" sz="1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6" name="Text 10">
            <a:extLst>
              <a:ext uri="{FF2B5EF4-FFF2-40B4-BE49-F238E27FC236}">
                <a16:creationId xmlns:a16="http://schemas.microsoft.com/office/drawing/2014/main" id="{9453509F-C3FD-2756-AAA3-D840D450CA75}"/>
              </a:ext>
            </a:extLst>
          </p:cNvPr>
          <p:cNvSpPr/>
          <p:nvPr/>
        </p:nvSpPr>
        <p:spPr>
          <a:xfrm>
            <a:off x="8399956" y="6876142"/>
            <a:ext cx="6949991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>
              <a:lnSpc>
                <a:spcPct val="140000"/>
              </a:lnSpc>
            </a:pPr>
            <a:r>
              <a:rPr lang="ru-RU" sz="1400" dirty="0">
                <a:solidFill>
                  <a:srgbClr val="64748B"/>
                </a:solidFill>
                <a:latin typeface="Arial" panose="020B0604020202020204" pitchFamily="34" charset="0"/>
                <a:ea typeface="Quattrocento Sans" pitchFamily="34" charset="-122"/>
                <a:cs typeface="Arial" panose="020B0604020202020204" pitchFamily="34" charset="0"/>
              </a:rPr>
              <a:t>Учёт взаимодействий с активистами: типы касаний, операторы, ячейки, результаты</a:t>
            </a:r>
            <a:endParaRPr 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30" name="Рисунок 29">
            <a:extLst>
              <a:ext uri="{FF2B5EF4-FFF2-40B4-BE49-F238E27FC236}">
                <a16:creationId xmlns:a16="http://schemas.microsoft.com/office/drawing/2014/main" id="{0F3E6A33-81D2-F889-9E6D-9979C9E2C5D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99957" y="2407744"/>
            <a:ext cx="6949991" cy="3825683"/>
          </a:xfrm>
          <a:prstGeom prst="rect">
            <a:avLst/>
          </a:prstGeom>
        </p:spPr>
      </p:pic>
    </p:spTree>
  </p:cSld>
  <p:clrMapOvr>
    <a:masterClrMapping/>
  </p:clrMapOvr>
  <p:transition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2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D79C2C9-58FE-C6D0-84C5-2A218C862E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ACC06E1B-8B9F-1CBF-C413-50279F1528A2}"/>
              </a:ext>
            </a:extLst>
          </p:cNvPr>
          <p:cNvSpPr/>
          <p:nvPr/>
        </p:nvSpPr>
        <p:spPr>
          <a:xfrm>
            <a:off x="0" y="0"/>
            <a:ext cx="16256000" cy="508000"/>
          </a:xfrm>
          <a:prstGeom prst="rect">
            <a:avLst/>
          </a:prstGeom>
          <a:solidFill>
            <a:srgbClr val="1A1F3C"/>
          </a:solidFill>
          <a:ln/>
        </p:spPr>
        <p:txBody>
          <a:bodyPr/>
          <a:lstStyle/>
          <a:p>
            <a:endParaRPr lang="ru-R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7DBF3E1C-E2B7-B6AA-F3A7-DF1B7880F757}"/>
              </a:ext>
            </a:extLst>
          </p:cNvPr>
          <p:cNvSpPr/>
          <p:nvPr/>
        </p:nvSpPr>
        <p:spPr>
          <a:xfrm>
            <a:off x="0" y="0"/>
            <a:ext cx="4064000" cy="508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ru-RU" sz="1200" dirty="0">
                <a:solidFill>
                  <a:srgbClr val="FFFFFF"/>
                </a:solidFill>
                <a:latin typeface="Arial" panose="020B0604020202020204" pitchFamily="34" charset="0"/>
                <a:ea typeface="Quattrocento Sans" pitchFamily="34" charset="-122"/>
                <a:cs typeface="Arial" panose="020B0604020202020204" pitchFamily="34" charset="0"/>
              </a:rPr>
              <a:t>О проекте</a:t>
            </a:r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297D6DF0-989C-9B2E-033F-D20060A952D8}"/>
              </a:ext>
            </a:extLst>
          </p:cNvPr>
          <p:cNvSpPr/>
          <p:nvPr/>
        </p:nvSpPr>
        <p:spPr>
          <a:xfrm>
            <a:off x="4064000" y="0"/>
            <a:ext cx="4064000" cy="508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ru-RU" sz="1200" dirty="0">
                <a:solidFill>
                  <a:srgbClr val="FFFFFF"/>
                </a:solidFill>
                <a:latin typeface="Arial" panose="020B0604020202020204" pitchFamily="34" charset="0"/>
                <a:ea typeface="Quattrocento Sans" pitchFamily="34" charset="-122"/>
                <a:cs typeface="Arial" panose="020B0604020202020204" pitchFamily="34" charset="0"/>
              </a:rPr>
              <a:t>Архитектура</a:t>
            </a:r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CEBF6370-DD1C-B5AB-00E9-695FA37DB0A2}"/>
              </a:ext>
            </a:extLst>
          </p:cNvPr>
          <p:cNvSpPr/>
          <p:nvPr/>
        </p:nvSpPr>
        <p:spPr>
          <a:xfrm>
            <a:off x="8128000" y="0"/>
            <a:ext cx="4064000" cy="457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ru-RU" sz="1200" b="1" dirty="0">
                <a:solidFill>
                  <a:srgbClr val="FFFFFF"/>
                </a:solidFill>
                <a:latin typeface="Arial" panose="020B0604020202020204" pitchFamily="34" charset="0"/>
                <a:ea typeface="Quattrocento Sans" pitchFamily="34" charset="-122"/>
                <a:cs typeface="Arial" panose="020B0604020202020204" pitchFamily="34" charset="0"/>
              </a:rPr>
              <a:t>Функционал</a:t>
            </a:r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537B1045-E8A2-B678-11D2-80B09DF1760C}"/>
              </a:ext>
            </a:extLst>
          </p:cNvPr>
          <p:cNvSpPr/>
          <p:nvPr/>
        </p:nvSpPr>
        <p:spPr>
          <a:xfrm>
            <a:off x="9525000" y="469900"/>
            <a:ext cx="1270000" cy="38100"/>
          </a:xfrm>
          <a:prstGeom prst="rect">
            <a:avLst/>
          </a:prstGeom>
          <a:solidFill>
            <a:srgbClr val="00ACC1"/>
          </a:solidFill>
          <a:ln/>
        </p:spPr>
        <p:txBody>
          <a:bodyPr/>
          <a:lstStyle/>
          <a:p>
            <a:endParaRPr lang="ru-R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06C489BF-7CB2-F648-ACFA-19D0F5749716}"/>
              </a:ext>
            </a:extLst>
          </p:cNvPr>
          <p:cNvSpPr/>
          <p:nvPr/>
        </p:nvSpPr>
        <p:spPr>
          <a:xfrm>
            <a:off x="12192000" y="0"/>
            <a:ext cx="4064000" cy="508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ru-RU" sz="1200" dirty="0">
                <a:solidFill>
                  <a:srgbClr val="FFFFFF"/>
                </a:solidFill>
                <a:latin typeface="Arial" panose="020B0604020202020204" pitchFamily="34" charset="0"/>
                <a:ea typeface="Quattrocento Sans" pitchFamily="34" charset="-122"/>
                <a:cs typeface="Arial" panose="020B0604020202020204" pitchFamily="34" charset="0"/>
              </a:rPr>
              <a:t>Документация</a:t>
            </a:r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FE7D5292-C0DC-E9BA-138D-01FE67281482}"/>
              </a:ext>
            </a:extLst>
          </p:cNvPr>
          <p:cNvSpPr/>
          <p:nvPr/>
        </p:nvSpPr>
        <p:spPr>
          <a:xfrm>
            <a:off x="762000" y="698500"/>
            <a:ext cx="10160000" cy="482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ru-RU" sz="2800" b="1" dirty="0">
                <a:solidFill>
                  <a:srgbClr val="1A1F3C"/>
                </a:solidFill>
                <a:latin typeface="Arial" panose="020B0604020202020204" pitchFamily="34" charset="0"/>
                <a:ea typeface="Liter" pitchFamily="34" charset="-122"/>
                <a:cs typeface="Arial" panose="020B0604020202020204" pitchFamily="34" charset="0"/>
              </a:rPr>
              <a:t>Ячейки и Неподтверждённые</a:t>
            </a:r>
            <a:endParaRPr lang="en-US" sz="2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" name="Shape 7">
            <a:extLst>
              <a:ext uri="{FF2B5EF4-FFF2-40B4-BE49-F238E27FC236}">
                <a16:creationId xmlns:a16="http://schemas.microsoft.com/office/drawing/2014/main" id="{2D354E48-CC9C-A83C-3342-0B9B7FAE9676}"/>
              </a:ext>
            </a:extLst>
          </p:cNvPr>
          <p:cNvSpPr/>
          <p:nvPr/>
        </p:nvSpPr>
        <p:spPr>
          <a:xfrm>
            <a:off x="762000" y="1206500"/>
            <a:ext cx="762000" cy="38100"/>
          </a:xfrm>
          <a:prstGeom prst="rect">
            <a:avLst/>
          </a:prstGeom>
          <a:solidFill>
            <a:srgbClr val="00ACC1"/>
          </a:solidFill>
          <a:ln/>
        </p:spPr>
        <p:txBody>
          <a:bodyPr/>
          <a:lstStyle/>
          <a:p>
            <a:endParaRPr lang="ru-R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" name="Shape 8">
            <a:extLst>
              <a:ext uri="{FF2B5EF4-FFF2-40B4-BE49-F238E27FC236}">
                <a16:creationId xmlns:a16="http://schemas.microsoft.com/office/drawing/2014/main" id="{95160B42-B6B4-C3CB-168A-D4EE2C551806}"/>
              </a:ext>
            </a:extLst>
          </p:cNvPr>
          <p:cNvSpPr/>
          <p:nvPr/>
        </p:nvSpPr>
        <p:spPr>
          <a:xfrm>
            <a:off x="762000" y="2217244"/>
            <a:ext cx="7239000" cy="5270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  <a:effectLst>
            <a:outerShdw blurRad="152400" dist="38100" dir="5400000" algn="bl" rotWithShape="0">
              <a:srgbClr val="000000">
                <a:alpha val="8235"/>
              </a:srgbClr>
            </a:outerShdw>
          </a:effectLst>
        </p:spPr>
        <p:txBody>
          <a:bodyPr/>
          <a:lstStyle/>
          <a:p>
            <a:endParaRPr lang="ru-R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2" name="Text 9">
            <a:extLst>
              <a:ext uri="{FF2B5EF4-FFF2-40B4-BE49-F238E27FC236}">
                <a16:creationId xmlns:a16="http://schemas.microsoft.com/office/drawing/2014/main" id="{592D4728-E947-1F9E-6FD1-00AFD03CD8E9}"/>
              </a:ext>
            </a:extLst>
          </p:cNvPr>
          <p:cNvSpPr/>
          <p:nvPr/>
        </p:nvSpPr>
        <p:spPr>
          <a:xfrm>
            <a:off x="906955" y="6497499"/>
            <a:ext cx="6858000" cy="317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ru-RU" sz="1800" b="1" dirty="0">
                <a:solidFill>
                  <a:srgbClr val="1A1F3C"/>
                </a:solidFill>
                <a:latin typeface="Arial" panose="020B0604020202020204" pitchFamily="34" charset="0"/>
                <a:ea typeface="Liter" pitchFamily="34" charset="-122"/>
                <a:cs typeface="Arial" panose="020B0604020202020204" pitchFamily="34" charset="0"/>
              </a:rPr>
              <a:t>Раздел «Ячейки»</a:t>
            </a:r>
            <a:endParaRPr lang="en-US" sz="1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Text 10">
            <a:extLst>
              <a:ext uri="{FF2B5EF4-FFF2-40B4-BE49-F238E27FC236}">
                <a16:creationId xmlns:a16="http://schemas.microsoft.com/office/drawing/2014/main" id="{1424A6E9-A645-99D3-700F-33C37B246BC5}"/>
              </a:ext>
            </a:extLst>
          </p:cNvPr>
          <p:cNvSpPr/>
          <p:nvPr/>
        </p:nvSpPr>
        <p:spPr>
          <a:xfrm>
            <a:off x="906955" y="6861336"/>
            <a:ext cx="6858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40000"/>
              </a:lnSpc>
            </a:pPr>
            <a:r>
              <a:rPr lang="ru-RU" sz="1400" dirty="0">
                <a:solidFill>
                  <a:srgbClr val="64748B"/>
                </a:solidFill>
                <a:latin typeface="Arial" panose="020B0604020202020204" pitchFamily="34" charset="0"/>
                <a:ea typeface="Quattrocento Sans" pitchFamily="34" charset="-122"/>
                <a:cs typeface="Arial" panose="020B0604020202020204" pitchFamily="34" charset="0"/>
              </a:rPr>
              <a:t>Управление группами активистов</a:t>
            </a:r>
            <a:endParaRPr 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2" name="Shape 8">
            <a:extLst>
              <a:ext uri="{FF2B5EF4-FFF2-40B4-BE49-F238E27FC236}">
                <a16:creationId xmlns:a16="http://schemas.microsoft.com/office/drawing/2014/main" id="{01984A55-B5B3-9610-0D90-2F61595B0EAD}"/>
              </a:ext>
            </a:extLst>
          </p:cNvPr>
          <p:cNvSpPr/>
          <p:nvPr/>
        </p:nvSpPr>
        <p:spPr>
          <a:xfrm>
            <a:off x="8255002" y="2217243"/>
            <a:ext cx="7239000" cy="5270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  <a:effectLst>
            <a:outerShdw blurRad="152400" dist="38100" dir="5400000" algn="bl" rotWithShape="0">
              <a:srgbClr val="000000">
                <a:alpha val="8235"/>
              </a:srgbClr>
            </a:outerShdw>
          </a:effectLst>
        </p:spPr>
        <p:txBody>
          <a:bodyPr/>
          <a:lstStyle/>
          <a:p>
            <a:endParaRPr lang="ru-R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4" name="Text 9">
            <a:extLst>
              <a:ext uri="{FF2B5EF4-FFF2-40B4-BE49-F238E27FC236}">
                <a16:creationId xmlns:a16="http://schemas.microsoft.com/office/drawing/2014/main" id="{19FB14E0-7919-9552-B622-7C01BE3054A3}"/>
              </a:ext>
            </a:extLst>
          </p:cNvPr>
          <p:cNvSpPr/>
          <p:nvPr/>
        </p:nvSpPr>
        <p:spPr>
          <a:xfrm>
            <a:off x="8399957" y="6497499"/>
            <a:ext cx="6858000" cy="317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ru-RU" sz="1800" b="1" dirty="0">
                <a:solidFill>
                  <a:srgbClr val="1A1F3C"/>
                </a:solidFill>
                <a:latin typeface="Arial" panose="020B0604020202020204" pitchFamily="34" charset="0"/>
                <a:ea typeface="Liter" pitchFamily="34" charset="-122"/>
                <a:cs typeface="Arial" panose="020B0604020202020204" pitchFamily="34" charset="0"/>
              </a:rPr>
              <a:t>Раздел «Неподтверждённые»</a:t>
            </a:r>
            <a:endParaRPr lang="en-US" sz="1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6" name="Text 10">
            <a:extLst>
              <a:ext uri="{FF2B5EF4-FFF2-40B4-BE49-F238E27FC236}">
                <a16:creationId xmlns:a16="http://schemas.microsoft.com/office/drawing/2014/main" id="{B4A84487-8E74-0DFD-35D7-B4112E383D8D}"/>
              </a:ext>
            </a:extLst>
          </p:cNvPr>
          <p:cNvSpPr/>
          <p:nvPr/>
        </p:nvSpPr>
        <p:spPr>
          <a:xfrm>
            <a:off x="8399956" y="6876142"/>
            <a:ext cx="6949991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>
              <a:lnSpc>
                <a:spcPct val="140000"/>
              </a:lnSpc>
            </a:pPr>
            <a:r>
              <a:rPr lang="ru-RU" sz="1400" dirty="0">
                <a:solidFill>
                  <a:srgbClr val="64748B"/>
                </a:solidFill>
                <a:latin typeface="Arial" panose="020B0604020202020204" pitchFamily="34" charset="0"/>
                <a:ea typeface="Quattrocento Sans" pitchFamily="34" charset="-122"/>
                <a:cs typeface="Arial" panose="020B0604020202020204" pitchFamily="34" charset="0"/>
              </a:rPr>
              <a:t>Записи, импортированные из Excel до подтверждения</a:t>
            </a:r>
            <a:endParaRPr 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4" name="Рисунок 13">
            <a:extLst>
              <a:ext uri="{FF2B5EF4-FFF2-40B4-BE49-F238E27FC236}">
                <a16:creationId xmlns:a16="http://schemas.microsoft.com/office/drawing/2014/main" id="{E7EBC940-551A-A8C5-42A8-D114F5FCFE1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6955" y="2407743"/>
            <a:ext cx="6963824" cy="3825683"/>
          </a:xfrm>
          <a:prstGeom prst="rect">
            <a:avLst/>
          </a:prstGeom>
        </p:spPr>
      </p:pic>
      <p:pic>
        <p:nvPicPr>
          <p:cNvPr id="16" name="Рисунок 15">
            <a:extLst>
              <a:ext uri="{FF2B5EF4-FFF2-40B4-BE49-F238E27FC236}">
                <a16:creationId xmlns:a16="http://schemas.microsoft.com/office/drawing/2014/main" id="{751FF6AA-5683-C07D-88CD-593D3D078E6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99957" y="2407742"/>
            <a:ext cx="6860693" cy="38256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63426891"/>
      </p:ext>
    </p:extLst>
  </p:cSld>
  <p:clrMapOvr>
    <a:masterClrMapping/>
  </p:clrMapOvr>
  <p:transition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2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2707D07-2599-2FD3-189F-1DA88C2727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E5E5E9F6-5189-1A1F-D338-BB99DA617130}"/>
              </a:ext>
            </a:extLst>
          </p:cNvPr>
          <p:cNvSpPr/>
          <p:nvPr/>
        </p:nvSpPr>
        <p:spPr>
          <a:xfrm>
            <a:off x="0" y="0"/>
            <a:ext cx="16256000" cy="508000"/>
          </a:xfrm>
          <a:prstGeom prst="rect">
            <a:avLst/>
          </a:prstGeom>
          <a:solidFill>
            <a:srgbClr val="1A1F3C"/>
          </a:solidFill>
          <a:ln/>
        </p:spPr>
        <p:txBody>
          <a:bodyPr/>
          <a:lstStyle/>
          <a:p>
            <a:endParaRPr lang="ru-R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15E661B7-14F2-A64F-5E6A-E46B028A95F5}"/>
              </a:ext>
            </a:extLst>
          </p:cNvPr>
          <p:cNvSpPr/>
          <p:nvPr/>
        </p:nvSpPr>
        <p:spPr>
          <a:xfrm>
            <a:off x="0" y="0"/>
            <a:ext cx="4064000" cy="508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ru-RU" sz="1200" dirty="0">
                <a:solidFill>
                  <a:srgbClr val="FFFFFF"/>
                </a:solidFill>
                <a:latin typeface="Arial" panose="020B0604020202020204" pitchFamily="34" charset="0"/>
                <a:ea typeface="Quattrocento Sans" pitchFamily="34" charset="-122"/>
                <a:cs typeface="Arial" panose="020B0604020202020204" pitchFamily="34" charset="0"/>
              </a:rPr>
              <a:t>О проекте</a:t>
            </a:r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F75C6BB0-1357-FB4F-956A-4F1DC0FBCB97}"/>
              </a:ext>
            </a:extLst>
          </p:cNvPr>
          <p:cNvSpPr/>
          <p:nvPr/>
        </p:nvSpPr>
        <p:spPr>
          <a:xfrm>
            <a:off x="4064000" y="0"/>
            <a:ext cx="4064000" cy="508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ru-RU" sz="1200" dirty="0">
                <a:solidFill>
                  <a:srgbClr val="FFFFFF"/>
                </a:solidFill>
                <a:latin typeface="Arial" panose="020B0604020202020204" pitchFamily="34" charset="0"/>
                <a:ea typeface="Quattrocento Sans" pitchFamily="34" charset="-122"/>
                <a:cs typeface="Arial" panose="020B0604020202020204" pitchFamily="34" charset="0"/>
              </a:rPr>
              <a:t>Архитектура</a:t>
            </a:r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B95DCB11-1C3E-C253-C034-D7BF78B370D2}"/>
              </a:ext>
            </a:extLst>
          </p:cNvPr>
          <p:cNvSpPr/>
          <p:nvPr/>
        </p:nvSpPr>
        <p:spPr>
          <a:xfrm>
            <a:off x="8128000" y="0"/>
            <a:ext cx="4064000" cy="457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ru-RU" sz="1200" b="1" dirty="0">
                <a:solidFill>
                  <a:srgbClr val="FFFFFF"/>
                </a:solidFill>
                <a:latin typeface="Arial" panose="020B0604020202020204" pitchFamily="34" charset="0"/>
                <a:ea typeface="Quattrocento Sans" pitchFamily="34" charset="-122"/>
                <a:cs typeface="Arial" panose="020B0604020202020204" pitchFamily="34" charset="0"/>
              </a:rPr>
              <a:t>Функционал</a:t>
            </a:r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80C8D1A9-E060-9879-2A9F-0A74C2FBBD82}"/>
              </a:ext>
            </a:extLst>
          </p:cNvPr>
          <p:cNvSpPr/>
          <p:nvPr/>
        </p:nvSpPr>
        <p:spPr>
          <a:xfrm>
            <a:off x="9525000" y="469900"/>
            <a:ext cx="1270000" cy="38100"/>
          </a:xfrm>
          <a:prstGeom prst="rect">
            <a:avLst/>
          </a:prstGeom>
          <a:solidFill>
            <a:srgbClr val="00ACC1"/>
          </a:solidFill>
          <a:ln/>
        </p:spPr>
        <p:txBody>
          <a:bodyPr/>
          <a:lstStyle/>
          <a:p>
            <a:endParaRPr lang="ru-R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06782CEE-24A8-C8CD-36FF-E7AA95C18E39}"/>
              </a:ext>
            </a:extLst>
          </p:cNvPr>
          <p:cNvSpPr/>
          <p:nvPr/>
        </p:nvSpPr>
        <p:spPr>
          <a:xfrm>
            <a:off x="12192000" y="0"/>
            <a:ext cx="4064000" cy="508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ru-RU" sz="1200" dirty="0">
                <a:solidFill>
                  <a:srgbClr val="FFFFFF"/>
                </a:solidFill>
                <a:latin typeface="Arial" panose="020B0604020202020204" pitchFamily="34" charset="0"/>
                <a:ea typeface="Quattrocento Sans" pitchFamily="34" charset="-122"/>
                <a:cs typeface="Arial" panose="020B0604020202020204" pitchFamily="34" charset="0"/>
              </a:rPr>
              <a:t>Документация</a:t>
            </a:r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5081004C-E26D-7DD8-3E75-16BE5D616CD7}"/>
              </a:ext>
            </a:extLst>
          </p:cNvPr>
          <p:cNvSpPr/>
          <p:nvPr/>
        </p:nvSpPr>
        <p:spPr>
          <a:xfrm>
            <a:off x="762000" y="698500"/>
            <a:ext cx="10160000" cy="482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ru-RU" sz="2800" b="1" dirty="0">
                <a:solidFill>
                  <a:srgbClr val="1A1F3C"/>
                </a:solidFill>
                <a:latin typeface="Arial" panose="020B0604020202020204" pitchFamily="34" charset="0"/>
                <a:ea typeface="Liter" pitchFamily="34" charset="-122"/>
                <a:cs typeface="Arial" panose="020B0604020202020204" pitchFamily="34" charset="0"/>
              </a:rPr>
              <a:t>Дубликаты и Администрирование</a:t>
            </a:r>
            <a:endParaRPr lang="en-US" sz="2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" name="Shape 7">
            <a:extLst>
              <a:ext uri="{FF2B5EF4-FFF2-40B4-BE49-F238E27FC236}">
                <a16:creationId xmlns:a16="http://schemas.microsoft.com/office/drawing/2014/main" id="{7FFCF4AF-21F5-B2BD-33FC-205EDE7CF5EF}"/>
              </a:ext>
            </a:extLst>
          </p:cNvPr>
          <p:cNvSpPr/>
          <p:nvPr/>
        </p:nvSpPr>
        <p:spPr>
          <a:xfrm>
            <a:off x="762000" y="1206500"/>
            <a:ext cx="762000" cy="38100"/>
          </a:xfrm>
          <a:prstGeom prst="rect">
            <a:avLst/>
          </a:prstGeom>
          <a:solidFill>
            <a:srgbClr val="00ACC1"/>
          </a:solidFill>
          <a:ln/>
        </p:spPr>
        <p:txBody>
          <a:bodyPr/>
          <a:lstStyle/>
          <a:p>
            <a:endParaRPr lang="ru-R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" name="Shape 8">
            <a:extLst>
              <a:ext uri="{FF2B5EF4-FFF2-40B4-BE49-F238E27FC236}">
                <a16:creationId xmlns:a16="http://schemas.microsoft.com/office/drawing/2014/main" id="{651FABE5-EDDC-A373-A328-704AC4F10268}"/>
              </a:ext>
            </a:extLst>
          </p:cNvPr>
          <p:cNvSpPr/>
          <p:nvPr/>
        </p:nvSpPr>
        <p:spPr>
          <a:xfrm>
            <a:off x="762000" y="2217244"/>
            <a:ext cx="7239000" cy="5270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  <a:effectLst>
            <a:outerShdw blurRad="152400" dist="38100" dir="5400000" algn="bl" rotWithShape="0">
              <a:srgbClr val="000000">
                <a:alpha val="8235"/>
              </a:srgbClr>
            </a:outerShdw>
          </a:effectLst>
        </p:spPr>
        <p:txBody>
          <a:bodyPr/>
          <a:lstStyle/>
          <a:p>
            <a:endParaRPr lang="ru-R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2" name="Text 9">
            <a:extLst>
              <a:ext uri="{FF2B5EF4-FFF2-40B4-BE49-F238E27FC236}">
                <a16:creationId xmlns:a16="http://schemas.microsoft.com/office/drawing/2014/main" id="{1F5BE144-EE95-578C-BAC4-7962F74D8AB9}"/>
              </a:ext>
            </a:extLst>
          </p:cNvPr>
          <p:cNvSpPr/>
          <p:nvPr/>
        </p:nvSpPr>
        <p:spPr>
          <a:xfrm>
            <a:off x="906955" y="6497499"/>
            <a:ext cx="6858000" cy="317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ru-RU" sz="1800" b="1" dirty="0">
                <a:solidFill>
                  <a:srgbClr val="1A1F3C"/>
                </a:solidFill>
                <a:latin typeface="Arial" panose="020B0604020202020204" pitchFamily="34" charset="0"/>
                <a:ea typeface="Liter" pitchFamily="34" charset="-122"/>
                <a:cs typeface="Arial" panose="020B0604020202020204" pitchFamily="34" charset="0"/>
              </a:rPr>
              <a:t>Раздел «Дубли»</a:t>
            </a:r>
            <a:endParaRPr lang="en-US" sz="1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Text 10">
            <a:extLst>
              <a:ext uri="{FF2B5EF4-FFF2-40B4-BE49-F238E27FC236}">
                <a16:creationId xmlns:a16="http://schemas.microsoft.com/office/drawing/2014/main" id="{24A3EFA0-2718-0CC6-5223-FE9B7FBE8F64}"/>
              </a:ext>
            </a:extLst>
          </p:cNvPr>
          <p:cNvSpPr/>
          <p:nvPr/>
        </p:nvSpPr>
        <p:spPr>
          <a:xfrm>
            <a:off x="906955" y="6861336"/>
            <a:ext cx="6858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40000"/>
              </a:lnSpc>
            </a:pPr>
            <a:r>
              <a:rPr lang="ru-RU" sz="1400" dirty="0">
                <a:solidFill>
                  <a:srgbClr val="64748B"/>
                </a:solidFill>
                <a:latin typeface="Arial" panose="020B0604020202020204" pitchFamily="34" charset="0"/>
                <a:ea typeface="Quattrocento Sans" pitchFamily="34" charset="-122"/>
                <a:cs typeface="Arial" panose="020B0604020202020204" pitchFamily="34" charset="0"/>
              </a:rPr>
              <a:t>Выявление повторяющихся записей</a:t>
            </a:r>
            <a:endParaRPr 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2" name="Shape 8">
            <a:extLst>
              <a:ext uri="{FF2B5EF4-FFF2-40B4-BE49-F238E27FC236}">
                <a16:creationId xmlns:a16="http://schemas.microsoft.com/office/drawing/2014/main" id="{87B0FD8C-063A-4DF7-70C7-FEB2AF4DA560}"/>
              </a:ext>
            </a:extLst>
          </p:cNvPr>
          <p:cNvSpPr/>
          <p:nvPr/>
        </p:nvSpPr>
        <p:spPr>
          <a:xfrm>
            <a:off x="8255002" y="2217243"/>
            <a:ext cx="7239000" cy="5270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  <a:effectLst>
            <a:outerShdw blurRad="152400" dist="38100" dir="5400000" algn="bl" rotWithShape="0">
              <a:srgbClr val="000000">
                <a:alpha val="8235"/>
              </a:srgbClr>
            </a:outerShdw>
          </a:effectLst>
        </p:spPr>
        <p:txBody>
          <a:bodyPr/>
          <a:lstStyle/>
          <a:p>
            <a:endParaRPr lang="ru-R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4" name="Text 9">
            <a:extLst>
              <a:ext uri="{FF2B5EF4-FFF2-40B4-BE49-F238E27FC236}">
                <a16:creationId xmlns:a16="http://schemas.microsoft.com/office/drawing/2014/main" id="{A2961F42-B0BC-7DB0-2215-BA3405A0F95D}"/>
              </a:ext>
            </a:extLst>
          </p:cNvPr>
          <p:cNvSpPr/>
          <p:nvPr/>
        </p:nvSpPr>
        <p:spPr>
          <a:xfrm>
            <a:off x="8399957" y="6497499"/>
            <a:ext cx="6858000" cy="317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ru-RU" sz="1800" b="1" dirty="0">
                <a:solidFill>
                  <a:srgbClr val="1A1F3C"/>
                </a:solidFill>
                <a:latin typeface="Arial" panose="020B0604020202020204" pitchFamily="34" charset="0"/>
                <a:ea typeface="Liter" pitchFamily="34" charset="-122"/>
                <a:cs typeface="Arial" panose="020B0604020202020204" pitchFamily="34" charset="0"/>
              </a:rPr>
              <a:t>Раздел «Администратор»</a:t>
            </a:r>
            <a:endParaRPr lang="en-US" sz="1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6" name="Text 10">
            <a:extLst>
              <a:ext uri="{FF2B5EF4-FFF2-40B4-BE49-F238E27FC236}">
                <a16:creationId xmlns:a16="http://schemas.microsoft.com/office/drawing/2014/main" id="{8B7F20BC-AB6B-DE55-B1C1-1FAACC41D705}"/>
              </a:ext>
            </a:extLst>
          </p:cNvPr>
          <p:cNvSpPr/>
          <p:nvPr/>
        </p:nvSpPr>
        <p:spPr>
          <a:xfrm>
            <a:off x="8399956" y="6876142"/>
            <a:ext cx="6949991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40000"/>
              </a:lnSpc>
            </a:pPr>
            <a:r>
              <a:rPr lang="ru-RU" sz="1400" dirty="0">
                <a:solidFill>
                  <a:srgbClr val="64748B"/>
                </a:solidFill>
                <a:latin typeface="Arial" panose="020B0604020202020204" pitchFamily="34" charset="0"/>
                <a:ea typeface="Quattrocento Sans" pitchFamily="34" charset="-122"/>
                <a:cs typeface="Arial" panose="020B0604020202020204" pitchFamily="34" charset="0"/>
              </a:rPr>
              <a:t>Раздел администратора</a:t>
            </a:r>
            <a:endParaRPr 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5" name="Рисунок 14">
            <a:extLst>
              <a:ext uri="{FF2B5EF4-FFF2-40B4-BE49-F238E27FC236}">
                <a16:creationId xmlns:a16="http://schemas.microsoft.com/office/drawing/2014/main" id="{AA74B48D-2C7A-73FA-7F70-29F3709E985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9588" y="2410337"/>
            <a:ext cx="6963824" cy="3982980"/>
          </a:xfrm>
          <a:prstGeom prst="rect">
            <a:avLst/>
          </a:prstGeom>
        </p:spPr>
      </p:pic>
      <p:pic>
        <p:nvPicPr>
          <p:cNvPr id="18" name="Рисунок 17">
            <a:extLst>
              <a:ext uri="{FF2B5EF4-FFF2-40B4-BE49-F238E27FC236}">
                <a16:creationId xmlns:a16="http://schemas.microsoft.com/office/drawing/2014/main" id="{4023E0D3-375A-36D5-67BB-62928DAAC78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45502" y="2407398"/>
            <a:ext cx="6858000" cy="39397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5592"/>
      </p:ext>
    </p:extLst>
  </p:cSld>
  <p:clrMapOvr>
    <a:masterClrMapping/>
  </p:clrMapOvr>
  <p:transition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0F2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256000" cy="508000"/>
          </a:xfrm>
          <a:prstGeom prst="rect">
            <a:avLst/>
          </a:prstGeom>
          <a:solidFill>
            <a:srgbClr val="1A1F3C"/>
          </a:solidFill>
          <a:ln/>
        </p:spPr>
        <p:txBody>
          <a:bodyPr/>
          <a:lstStyle/>
          <a:p>
            <a:endParaRPr lang="ru-RU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0" y="0"/>
            <a:ext cx="4064000" cy="508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ru-RU" sz="1200" dirty="0">
                <a:solidFill>
                  <a:srgbClr val="FFFFFF"/>
                </a:solidFill>
                <a:latin typeface="Arial" panose="020B0604020202020204" pitchFamily="34" charset="0"/>
                <a:ea typeface="Quattrocento Sans" pitchFamily="34" charset="-122"/>
                <a:cs typeface="Arial" panose="020B0604020202020204" pitchFamily="34" charset="0"/>
              </a:rPr>
              <a:t>О проекте</a:t>
            </a:r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Text 2"/>
          <p:cNvSpPr/>
          <p:nvPr/>
        </p:nvSpPr>
        <p:spPr>
          <a:xfrm>
            <a:off x="4064000" y="0"/>
            <a:ext cx="4064000" cy="508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ru-RU" sz="1200" dirty="0">
                <a:solidFill>
                  <a:srgbClr val="FFFFFF"/>
                </a:solidFill>
                <a:latin typeface="Arial" panose="020B0604020202020204" pitchFamily="34" charset="0"/>
                <a:ea typeface="Quattrocento Sans" pitchFamily="34" charset="-122"/>
                <a:cs typeface="Arial" panose="020B0604020202020204" pitchFamily="34" charset="0"/>
              </a:rPr>
              <a:t>Архитектура</a:t>
            </a:r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Text 3"/>
          <p:cNvSpPr/>
          <p:nvPr/>
        </p:nvSpPr>
        <p:spPr>
          <a:xfrm>
            <a:off x="8128000" y="0"/>
            <a:ext cx="4064000" cy="457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ru-RU" sz="1200" b="1" dirty="0">
                <a:solidFill>
                  <a:srgbClr val="FFFFFF"/>
                </a:solidFill>
                <a:latin typeface="Arial" panose="020B0604020202020204" pitchFamily="34" charset="0"/>
                <a:ea typeface="Quattrocento Sans" pitchFamily="34" charset="-122"/>
                <a:cs typeface="Arial" panose="020B0604020202020204" pitchFamily="34" charset="0"/>
              </a:rPr>
              <a:t>Функционал</a:t>
            </a:r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Shape 4"/>
          <p:cNvSpPr/>
          <p:nvPr/>
        </p:nvSpPr>
        <p:spPr>
          <a:xfrm>
            <a:off x="9525000" y="469900"/>
            <a:ext cx="1270000" cy="38100"/>
          </a:xfrm>
          <a:prstGeom prst="rect">
            <a:avLst/>
          </a:prstGeom>
          <a:solidFill>
            <a:srgbClr val="00ACC1"/>
          </a:solidFill>
          <a:ln/>
        </p:spPr>
        <p:txBody>
          <a:bodyPr/>
          <a:lstStyle/>
          <a:p>
            <a:endParaRPr lang="ru-R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Text 5"/>
          <p:cNvSpPr/>
          <p:nvPr/>
        </p:nvSpPr>
        <p:spPr>
          <a:xfrm>
            <a:off x="12192000" y="0"/>
            <a:ext cx="4064000" cy="508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ru-RU" sz="1200" dirty="0">
                <a:solidFill>
                  <a:srgbClr val="FFFFFF"/>
                </a:solidFill>
                <a:latin typeface="Arial" panose="020B0604020202020204" pitchFamily="34" charset="0"/>
                <a:ea typeface="Quattrocento Sans" pitchFamily="34" charset="-122"/>
                <a:cs typeface="Arial" panose="020B0604020202020204" pitchFamily="34" charset="0"/>
              </a:rPr>
              <a:t>Документация</a:t>
            </a:r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Text 6"/>
          <p:cNvSpPr/>
          <p:nvPr/>
        </p:nvSpPr>
        <p:spPr>
          <a:xfrm>
            <a:off x="762000" y="698500"/>
            <a:ext cx="8890000" cy="482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800" b="1" dirty="0">
                <a:solidFill>
                  <a:srgbClr val="1A1F3C"/>
                </a:solidFill>
                <a:latin typeface="Arial" panose="020B0604020202020204" pitchFamily="34" charset="0"/>
                <a:ea typeface="Liter" pitchFamily="34" charset="-122"/>
                <a:cs typeface="Arial" panose="020B0604020202020204" pitchFamily="34" charset="0"/>
              </a:rPr>
              <a:t>Разделение ролей</a:t>
            </a:r>
            <a:endParaRPr lang="en-US" sz="2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" name="Shape 7"/>
          <p:cNvSpPr/>
          <p:nvPr/>
        </p:nvSpPr>
        <p:spPr>
          <a:xfrm>
            <a:off x="762000" y="1206500"/>
            <a:ext cx="762000" cy="38100"/>
          </a:xfrm>
          <a:prstGeom prst="rect">
            <a:avLst/>
          </a:prstGeom>
          <a:solidFill>
            <a:srgbClr val="00ACC1"/>
          </a:solidFill>
          <a:ln/>
        </p:spPr>
        <p:txBody>
          <a:bodyPr/>
          <a:lstStyle/>
          <a:p>
            <a:endParaRPr lang="ru-R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762000" y="1460500"/>
            <a:ext cx="14963274" cy="2830763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  <a:effectLst>
            <a:outerShdw blurRad="152400" dist="38100" dir="5400000" algn="bl" rotWithShape="0">
              <a:srgbClr val="000000">
                <a:alpha val="8235"/>
              </a:srgbClr>
            </a:outerShdw>
          </a:effectLst>
        </p:spPr>
        <p:txBody>
          <a:bodyPr/>
          <a:lstStyle/>
          <a:p>
            <a:endParaRPr lang="ru-R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1016000" y="1651000"/>
            <a:ext cx="1778000" cy="355600"/>
          </a:xfrm>
          <a:prstGeom prst="roundRect">
            <a:avLst>
              <a:gd name="adj" fmla="val 14000"/>
            </a:avLst>
          </a:prstGeom>
          <a:solidFill>
            <a:srgbClr val="E0F2F1"/>
          </a:solidFill>
          <a:ln/>
        </p:spPr>
        <p:txBody>
          <a:bodyPr/>
          <a:lstStyle/>
          <a:p>
            <a:endParaRPr lang="ru-R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1016000" y="1651000"/>
            <a:ext cx="1778000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ru-RU" sz="1300" b="1" dirty="0">
                <a:solidFill>
                  <a:srgbClr val="00897B"/>
                </a:solidFill>
                <a:latin typeface="Arial" panose="020B0604020202020204" pitchFamily="34" charset="0"/>
                <a:ea typeface="Quattrocento Sans" pitchFamily="34" charset="-122"/>
                <a:cs typeface="Arial" panose="020B0604020202020204" pitchFamily="34" charset="0"/>
              </a:rPr>
              <a:t>ПОЛЬЗОВАТЕЛЬ</a:t>
            </a:r>
            <a:endParaRPr lang="en-US" sz="13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4" name="Text 11"/>
          <p:cNvSpPr/>
          <p:nvPr/>
        </p:nvSpPr>
        <p:spPr>
          <a:xfrm>
            <a:off x="1270000" y="3680995"/>
            <a:ext cx="673100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>
              <a:lnSpc>
                <a:spcPct val="140000"/>
              </a:lnSpc>
            </a:pPr>
            <a:r>
              <a:rPr lang="ru-RU" sz="1400" dirty="0">
                <a:solidFill>
                  <a:srgbClr val="64748B"/>
                </a:solidFill>
                <a:latin typeface="Arial" panose="020B0604020202020204" pitchFamily="34" charset="0"/>
                <a:ea typeface="Quattrocento Sans" pitchFamily="34" charset="-122"/>
                <a:cs typeface="Arial" panose="020B0604020202020204" pitchFamily="34" charset="0"/>
              </a:rPr>
              <a:t>Ограниченный доступ без администрирования</a:t>
            </a:r>
            <a:endParaRPr 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5" name="Shape 12"/>
          <p:cNvSpPr/>
          <p:nvPr/>
        </p:nvSpPr>
        <p:spPr>
          <a:xfrm>
            <a:off x="762000" y="5406455"/>
            <a:ext cx="14963274" cy="2830763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  <a:effectLst>
            <a:outerShdw blurRad="152400" dist="38100" dir="5400000" algn="bl" rotWithShape="0">
              <a:srgbClr val="000000">
                <a:alpha val="8235"/>
              </a:srgbClr>
            </a:outerShdw>
          </a:effectLst>
        </p:spPr>
        <p:txBody>
          <a:bodyPr/>
          <a:lstStyle/>
          <a:p>
            <a:endParaRPr lang="ru-R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6" name="Shape 13"/>
          <p:cNvSpPr/>
          <p:nvPr/>
        </p:nvSpPr>
        <p:spPr>
          <a:xfrm>
            <a:off x="1011956" y="5623760"/>
            <a:ext cx="1778000" cy="355600"/>
          </a:xfrm>
          <a:prstGeom prst="roundRect">
            <a:avLst>
              <a:gd name="adj" fmla="val 14000"/>
            </a:avLst>
          </a:prstGeom>
          <a:solidFill>
            <a:srgbClr val="E3F2FD"/>
          </a:solidFill>
          <a:ln/>
        </p:spPr>
        <p:txBody>
          <a:bodyPr/>
          <a:lstStyle/>
          <a:p>
            <a:endParaRPr lang="ru-R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7" name="Text 14"/>
          <p:cNvSpPr/>
          <p:nvPr/>
        </p:nvSpPr>
        <p:spPr>
          <a:xfrm>
            <a:off x="1011956" y="5623760"/>
            <a:ext cx="1778000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ru-RU" sz="1300" b="1" dirty="0">
                <a:solidFill>
                  <a:srgbClr val="1565C0"/>
                </a:solidFill>
                <a:latin typeface="Arial" panose="020B0604020202020204" pitchFamily="34" charset="0"/>
                <a:ea typeface="Quattrocento Sans" pitchFamily="34" charset="-122"/>
                <a:cs typeface="Arial" panose="020B0604020202020204" pitchFamily="34" charset="0"/>
              </a:rPr>
              <a:t>АДМИНИСТРАТОР</a:t>
            </a:r>
            <a:endParaRPr lang="en-US" sz="13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9" name="Text 15"/>
          <p:cNvSpPr/>
          <p:nvPr/>
        </p:nvSpPr>
        <p:spPr>
          <a:xfrm>
            <a:off x="1270000" y="7683500"/>
            <a:ext cx="673100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>
              <a:lnSpc>
                <a:spcPct val="140000"/>
              </a:lnSpc>
            </a:pPr>
            <a:r>
              <a:rPr lang="ru-RU" sz="1400" dirty="0">
                <a:solidFill>
                  <a:srgbClr val="64748B"/>
                </a:solidFill>
                <a:latin typeface="Arial" panose="020B0604020202020204" pitchFamily="34" charset="0"/>
                <a:ea typeface="Quattrocento Sans" pitchFamily="34" charset="-122"/>
                <a:cs typeface="Arial" panose="020B0604020202020204" pitchFamily="34" charset="0"/>
              </a:rPr>
              <a:t>Полный доступ к системе</a:t>
            </a:r>
            <a:endParaRPr 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23" name="Рисунок 22">
            <a:extLst>
              <a:ext uri="{FF2B5EF4-FFF2-40B4-BE49-F238E27FC236}">
                <a16:creationId xmlns:a16="http://schemas.microsoft.com/office/drawing/2014/main" id="{6F6244FC-A89E-87D9-F77A-425F80E09EA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1956" y="2575692"/>
            <a:ext cx="14463361" cy="536210"/>
          </a:xfrm>
          <a:prstGeom prst="rect">
            <a:avLst/>
          </a:prstGeom>
        </p:spPr>
      </p:pic>
      <p:pic>
        <p:nvPicPr>
          <p:cNvPr id="25" name="Рисунок 24">
            <a:extLst>
              <a:ext uri="{FF2B5EF4-FFF2-40B4-BE49-F238E27FC236}">
                <a16:creationId xmlns:a16="http://schemas.microsoft.com/office/drawing/2014/main" id="{47D18667-FDEC-F104-C86B-30CC4DC2AE92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9379"/>
          <a:stretch>
            <a:fillRect/>
          </a:stretch>
        </p:blipFill>
        <p:spPr>
          <a:xfrm>
            <a:off x="990567" y="6507552"/>
            <a:ext cx="14459317" cy="587000"/>
          </a:xfrm>
          <a:prstGeom prst="rect">
            <a:avLst/>
          </a:prstGeom>
        </p:spPr>
      </p:pic>
    </p:spTree>
  </p:cSld>
  <p:clrMapOvr>
    <a:masterClrMapping/>
  </p:clrMapOvr>
  <p:transition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0F2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Shape 11"/>
          <p:cNvSpPr/>
          <p:nvPr/>
        </p:nvSpPr>
        <p:spPr>
          <a:xfrm>
            <a:off x="8255000" y="1460500"/>
            <a:ext cx="7239000" cy="3429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  <a:effectLst>
            <a:outerShdw blurRad="152400" dist="38100" dir="5400000" algn="bl" rotWithShape="0">
              <a:srgbClr val="000000">
                <a:alpha val="8235"/>
              </a:srgbClr>
            </a:outerShdw>
          </a:effectLst>
        </p:spPr>
        <p:txBody>
          <a:bodyPr/>
          <a:lstStyle/>
          <a:p>
            <a:endParaRPr lang="ru-R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Shape 0"/>
          <p:cNvSpPr/>
          <p:nvPr/>
        </p:nvSpPr>
        <p:spPr>
          <a:xfrm>
            <a:off x="0" y="0"/>
            <a:ext cx="16256000" cy="508000"/>
          </a:xfrm>
          <a:prstGeom prst="rect">
            <a:avLst/>
          </a:prstGeom>
          <a:solidFill>
            <a:srgbClr val="1A1F3C"/>
          </a:solidFill>
          <a:ln/>
        </p:spPr>
        <p:txBody>
          <a:bodyPr/>
          <a:lstStyle/>
          <a:p>
            <a:endParaRPr lang="ru-R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0" y="0"/>
            <a:ext cx="4064000" cy="508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ru-RU" sz="120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О проекте</a:t>
            </a:r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Text 2"/>
          <p:cNvSpPr/>
          <p:nvPr/>
        </p:nvSpPr>
        <p:spPr>
          <a:xfrm>
            <a:off x="4064000" y="0"/>
            <a:ext cx="4064000" cy="508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ru-RU" sz="1200" dirty="0">
                <a:solidFill>
                  <a:srgbClr val="FFFFFF"/>
                </a:solidFill>
                <a:latin typeface="Arial" panose="020B0604020202020204" pitchFamily="34" charset="0"/>
                <a:ea typeface="Quattrocento Sans" pitchFamily="34" charset="-122"/>
                <a:cs typeface="Arial" panose="020B0604020202020204" pitchFamily="34" charset="0"/>
              </a:rPr>
              <a:t>Архитектура</a:t>
            </a:r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Text 3"/>
          <p:cNvSpPr/>
          <p:nvPr/>
        </p:nvSpPr>
        <p:spPr>
          <a:xfrm>
            <a:off x="8128000" y="0"/>
            <a:ext cx="4064000" cy="457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ru-RU" sz="1200" b="1" dirty="0">
                <a:solidFill>
                  <a:srgbClr val="FFFFFF"/>
                </a:solidFill>
                <a:latin typeface="Arial" panose="020B0604020202020204" pitchFamily="34" charset="0"/>
                <a:ea typeface="Quattrocento Sans" pitchFamily="34" charset="-122"/>
                <a:cs typeface="Arial" panose="020B0604020202020204" pitchFamily="34" charset="0"/>
              </a:rPr>
              <a:t>Функционал</a:t>
            </a:r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Shape 4"/>
          <p:cNvSpPr/>
          <p:nvPr/>
        </p:nvSpPr>
        <p:spPr>
          <a:xfrm>
            <a:off x="9525000" y="469900"/>
            <a:ext cx="1270000" cy="38100"/>
          </a:xfrm>
          <a:prstGeom prst="rect">
            <a:avLst/>
          </a:prstGeom>
          <a:solidFill>
            <a:srgbClr val="00ACC1"/>
          </a:solidFill>
          <a:ln/>
        </p:spPr>
        <p:txBody>
          <a:bodyPr/>
          <a:lstStyle/>
          <a:p>
            <a:endParaRPr lang="ru-R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Text 5"/>
          <p:cNvSpPr/>
          <p:nvPr/>
        </p:nvSpPr>
        <p:spPr>
          <a:xfrm>
            <a:off x="12192000" y="0"/>
            <a:ext cx="4064000" cy="508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ru-RU" sz="1200" dirty="0">
                <a:solidFill>
                  <a:srgbClr val="FFFFFF"/>
                </a:solidFill>
                <a:latin typeface="Arial" panose="020B0604020202020204" pitchFamily="34" charset="0"/>
                <a:ea typeface="Quattrocento Sans" pitchFamily="34" charset="-122"/>
                <a:cs typeface="Arial" panose="020B0604020202020204" pitchFamily="34" charset="0"/>
              </a:rPr>
              <a:t>Документация</a:t>
            </a:r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Text 6"/>
          <p:cNvSpPr/>
          <p:nvPr/>
        </p:nvSpPr>
        <p:spPr>
          <a:xfrm>
            <a:off x="762000" y="698500"/>
            <a:ext cx="8890000" cy="482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ru-RU" sz="2800" b="1" dirty="0">
                <a:solidFill>
                  <a:srgbClr val="1A1F3C"/>
                </a:solidFill>
                <a:latin typeface="Arial" panose="020B0604020202020204" pitchFamily="34" charset="0"/>
                <a:ea typeface="Liter" pitchFamily="34" charset="-122"/>
                <a:cs typeface="Arial" panose="020B0604020202020204" pitchFamily="34" charset="0"/>
              </a:rPr>
              <a:t>Управление пользователями</a:t>
            </a:r>
            <a:endParaRPr lang="en-US" sz="2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" name="Shape 7"/>
          <p:cNvSpPr/>
          <p:nvPr/>
        </p:nvSpPr>
        <p:spPr>
          <a:xfrm>
            <a:off x="762000" y="1206500"/>
            <a:ext cx="762000" cy="38100"/>
          </a:xfrm>
          <a:prstGeom prst="rect">
            <a:avLst/>
          </a:prstGeom>
          <a:solidFill>
            <a:srgbClr val="00ACC1"/>
          </a:solidFill>
          <a:ln/>
        </p:spPr>
        <p:txBody>
          <a:bodyPr/>
          <a:lstStyle/>
          <a:p>
            <a:endParaRPr lang="ru-R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762000" y="1460500"/>
            <a:ext cx="7239000" cy="3429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  <a:effectLst>
            <a:outerShdw blurRad="152400" dist="38100" dir="5400000" algn="bl" rotWithShape="0">
              <a:srgbClr val="000000">
                <a:alpha val="8235"/>
              </a:srgbClr>
            </a:outerShdw>
          </a:effectLst>
        </p:spPr>
        <p:txBody>
          <a:bodyPr/>
          <a:lstStyle/>
          <a:p>
            <a:endParaRPr lang="ru-R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1" name="Image 0" descr="https://kimi-img.moonshot.cn/pub/slides/okc/gk3dldyex7q72/mnt/agents/output/internalbasewpf/images/image_17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8461374" y="1975183"/>
            <a:ext cx="4415923" cy="2476500"/>
          </a:xfrm>
          <a:prstGeom prst="roundRect">
            <a:avLst>
              <a:gd name="adj" fmla="val 4000"/>
            </a:avLst>
          </a:prstGeom>
        </p:spPr>
      </p:pic>
      <p:sp>
        <p:nvSpPr>
          <p:cNvPr id="12" name="Text 9"/>
          <p:cNvSpPr/>
          <p:nvPr/>
        </p:nvSpPr>
        <p:spPr>
          <a:xfrm>
            <a:off x="5463673" y="2584784"/>
            <a:ext cx="2632577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>
              <a:lnSpc>
                <a:spcPct val="120000"/>
              </a:lnSpc>
            </a:pPr>
            <a:r>
              <a:rPr lang="ru-RU" sz="1600" b="1" dirty="0">
                <a:solidFill>
                  <a:srgbClr val="1A1F3C"/>
                </a:solidFill>
                <a:latin typeface="Arial" panose="020B0604020202020204" pitchFamily="34" charset="0"/>
                <a:ea typeface="Liter" pitchFamily="34" charset="-122"/>
                <a:cs typeface="Arial" panose="020B0604020202020204" pitchFamily="34" charset="0"/>
              </a:rPr>
              <a:t>Создание пользователя</a:t>
            </a:r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Text 10"/>
          <p:cNvSpPr/>
          <p:nvPr/>
        </p:nvSpPr>
        <p:spPr>
          <a:xfrm>
            <a:off x="5463674" y="2864184"/>
            <a:ext cx="2537326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>
              <a:lnSpc>
                <a:spcPct val="140000"/>
              </a:lnSpc>
            </a:pPr>
            <a:r>
              <a:rPr lang="en-US" sz="1400" dirty="0">
                <a:solidFill>
                  <a:srgbClr val="64748B"/>
                </a:solidFill>
                <a:latin typeface="Arial" panose="020B0604020202020204" pitchFamily="34" charset="0"/>
                <a:ea typeface="Quattrocento Sans" pitchFamily="34" charset="-122"/>
                <a:cs typeface="Arial" panose="020B0604020202020204" pitchFamily="34" charset="0"/>
              </a:rPr>
              <a:t>Начало процесса создания нового пользователя системы</a:t>
            </a:r>
            <a:endParaRPr 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6" name="Text 12"/>
          <p:cNvSpPr/>
          <p:nvPr/>
        </p:nvSpPr>
        <p:spPr>
          <a:xfrm>
            <a:off x="13051921" y="2584784"/>
            <a:ext cx="349250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>
              <a:lnSpc>
                <a:spcPct val="120000"/>
              </a:lnSpc>
            </a:pPr>
            <a:r>
              <a:rPr lang="ru-RU" sz="1600" b="1" dirty="0">
                <a:solidFill>
                  <a:srgbClr val="1A1F3C"/>
                </a:solidFill>
                <a:latin typeface="Arial" panose="020B0604020202020204" pitchFamily="34" charset="0"/>
                <a:ea typeface="Liter" pitchFamily="34" charset="-122"/>
                <a:cs typeface="Arial" panose="020B0604020202020204" pitchFamily="34" charset="0"/>
              </a:rPr>
              <a:t>Ввод данных</a:t>
            </a:r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7" name="Text 13"/>
          <p:cNvSpPr/>
          <p:nvPr/>
        </p:nvSpPr>
        <p:spPr>
          <a:xfrm>
            <a:off x="13083670" y="2866188"/>
            <a:ext cx="2219830" cy="97388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>
              <a:lnSpc>
                <a:spcPct val="140000"/>
              </a:lnSpc>
            </a:pPr>
            <a:r>
              <a:rPr lang="ru-RU" sz="1400" dirty="0">
                <a:solidFill>
                  <a:srgbClr val="64748B"/>
                </a:solidFill>
                <a:latin typeface="Arial" panose="020B0604020202020204" pitchFamily="34" charset="0"/>
                <a:ea typeface="Quattrocento Sans" pitchFamily="34" charset="-122"/>
                <a:cs typeface="Arial" panose="020B0604020202020204" pitchFamily="34" charset="0"/>
              </a:rPr>
              <a:t>Заполнение формы с данными нового пользователя</a:t>
            </a:r>
            <a:endParaRPr 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8" name="Shape 14"/>
          <p:cNvSpPr/>
          <p:nvPr/>
        </p:nvSpPr>
        <p:spPr>
          <a:xfrm>
            <a:off x="762000" y="5143500"/>
            <a:ext cx="7239000" cy="3429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  <a:effectLst>
            <a:outerShdw blurRad="152400" dist="38100" dir="5400000" algn="bl" rotWithShape="0">
              <a:srgbClr val="000000">
                <a:alpha val="8235"/>
              </a:srgbClr>
            </a:outerShdw>
          </a:effectLst>
        </p:spPr>
        <p:txBody>
          <a:bodyPr/>
          <a:lstStyle/>
          <a:p>
            <a:endParaRPr lang="ru-R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9" name="Image 2" descr="https://kimi-img.moonshot.cn/pub/slides/okc/gk3dldyex7q72/mnt/agents/output/internalbasewpf/images/image_19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952500" y="5556250"/>
            <a:ext cx="4378827" cy="2476500"/>
          </a:xfrm>
          <a:prstGeom prst="roundRect">
            <a:avLst>
              <a:gd name="adj" fmla="val 4000"/>
            </a:avLst>
          </a:prstGeom>
        </p:spPr>
      </p:pic>
      <p:sp>
        <p:nvSpPr>
          <p:cNvPr id="20" name="Text 15"/>
          <p:cNvSpPr/>
          <p:nvPr/>
        </p:nvSpPr>
        <p:spPr>
          <a:xfrm>
            <a:off x="5463673" y="6425197"/>
            <a:ext cx="349250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>
              <a:lnSpc>
                <a:spcPct val="120000"/>
              </a:lnSpc>
            </a:pPr>
            <a:r>
              <a:rPr lang="ru-RU" sz="1600" b="1" dirty="0">
                <a:solidFill>
                  <a:srgbClr val="1A1F3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Генерация пароля</a:t>
            </a:r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1" name="Text 16"/>
          <p:cNvSpPr/>
          <p:nvPr/>
        </p:nvSpPr>
        <p:spPr>
          <a:xfrm>
            <a:off x="5494587" y="6773278"/>
            <a:ext cx="2570748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>
              <a:lnSpc>
                <a:spcPct val="140000"/>
              </a:lnSpc>
            </a:pPr>
            <a:r>
              <a:rPr lang="ru-RU" sz="1400" dirty="0">
                <a:solidFill>
                  <a:srgbClr val="64748B"/>
                </a:solidFill>
                <a:latin typeface="Arial" panose="020B0604020202020204" pitchFamily="34" charset="0"/>
                <a:ea typeface="Quattrocento Sans" pitchFamily="34" charset="-122"/>
                <a:cs typeface="Arial" panose="020B0604020202020204" pitchFamily="34" charset="0"/>
              </a:rPr>
              <a:t>Автоматическая генерация безопасного пароля</a:t>
            </a:r>
            <a:endParaRPr 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2" name="Shape 17"/>
          <p:cNvSpPr/>
          <p:nvPr/>
        </p:nvSpPr>
        <p:spPr>
          <a:xfrm>
            <a:off x="8255000" y="5143500"/>
            <a:ext cx="7239000" cy="3429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  <a:effectLst>
            <a:outerShdw blurRad="152400" dist="38100" dir="5400000" algn="bl" rotWithShape="0">
              <a:srgbClr val="000000">
                <a:alpha val="8235"/>
              </a:srgbClr>
            </a:outerShdw>
          </a:effectLst>
        </p:spPr>
        <p:txBody>
          <a:bodyPr/>
          <a:lstStyle/>
          <a:p>
            <a:endParaRPr lang="ru-R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23" name="Image 3" descr="https://kimi-img.moonshot.cn/pub/slides/okc/gk3dldyex7q72/mnt/agents/output/internalbasewpf/images/image_20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8461373" y="5556251"/>
            <a:ext cx="4415923" cy="2540668"/>
          </a:xfrm>
          <a:prstGeom prst="roundRect">
            <a:avLst>
              <a:gd name="adj" fmla="val 4000"/>
            </a:avLst>
          </a:prstGeom>
        </p:spPr>
      </p:pic>
      <p:sp>
        <p:nvSpPr>
          <p:cNvPr id="24" name="Text 18"/>
          <p:cNvSpPr/>
          <p:nvPr/>
        </p:nvSpPr>
        <p:spPr>
          <a:xfrm>
            <a:off x="13051921" y="6445250"/>
            <a:ext cx="349250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>
              <a:lnSpc>
                <a:spcPct val="120000"/>
              </a:lnSpc>
            </a:pPr>
            <a:r>
              <a:rPr lang="ru-RU" sz="1600" b="1" dirty="0">
                <a:solidFill>
                  <a:srgbClr val="1A1F3C"/>
                </a:solidFill>
                <a:latin typeface="Arial" panose="020B0604020202020204" pitchFamily="34" charset="0"/>
                <a:ea typeface="Liter" pitchFamily="34" charset="-122"/>
                <a:cs typeface="Arial" panose="020B0604020202020204" pitchFamily="34" charset="0"/>
              </a:rPr>
              <a:t>Сброс пароля</a:t>
            </a:r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5" name="Text 19"/>
          <p:cNvSpPr/>
          <p:nvPr/>
        </p:nvSpPr>
        <p:spPr>
          <a:xfrm>
            <a:off x="13083670" y="6794500"/>
            <a:ext cx="221983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>
              <a:lnSpc>
                <a:spcPct val="140000"/>
              </a:lnSpc>
            </a:pPr>
            <a:r>
              <a:rPr lang="en-US" sz="1400" dirty="0">
                <a:solidFill>
                  <a:srgbClr val="64748B"/>
                </a:solidFill>
                <a:latin typeface="Arial" panose="020B0604020202020204" pitchFamily="34" charset="0"/>
                <a:ea typeface="Quattrocento Sans" pitchFamily="34" charset="-122"/>
                <a:cs typeface="Arial" panose="020B0604020202020204" pitchFamily="34" charset="0"/>
              </a:rPr>
              <a:t>Возможность сброса пароля существующего пользователя</a:t>
            </a:r>
            <a:endParaRPr 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28" name="Рисунок 27">
            <a:extLst>
              <a:ext uri="{FF2B5EF4-FFF2-40B4-BE49-F238E27FC236}">
                <a16:creationId xmlns:a16="http://schemas.microsoft.com/office/drawing/2014/main" id="{B96D7CD4-7DB7-A726-7DBB-64674DA10FF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84249" y="1929241"/>
            <a:ext cx="4415923" cy="2568385"/>
          </a:xfrm>
          <a:prstGeom prst="rect">
            <a:avLst/>
          </a:prstGeom>
        </p:spPr>
      </p:pic>
    </p:spTree>
  </p:cSld>
  <p:clrMapOvr>
    <a:masterClrMapping/>
  </p:clrMapOvr>
  <p:transition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0F2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256000" cy="508000"/>
          </a:xfrm>
          <a:prstGeom prst="rect">
            <a:avLst/>
          </a:prstGeom>
          <a:solidFill>
            <a:srgbClr val="1A1F3C"/>
          </a:solidFill>
          <a:ln/>
        </p:spPr>
        <p:txBody>
          <a:bodyPr/>
          <a:lstStyle/>
          <a:p>
            <a:endParaRPr lang="ru-R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0" y="0"/>
            <a:ext cx="4064000" cy="508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ru-RU" sz="120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О проекте</a:t>
            </a:r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Text 2"/>
          <p:cNvSpPr/>
          <p:nvPr/>
        </p:nvSpPr>
        <p:spPr>
          <a:xfrm>
            <a:off x="4064000" y="0"/>
            <a:ext cx="4064000" cy="508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ru-RU" sz="1200" dirty="0">
                <a:solidFill>
                  <a:srgbClr val="FFFFFF"/>
                </a:solidFill>
                <a:latin typeface="Arial" panose="020B0604020202020204" pitchFamily="34" charset="0"/>
                <a:ea typeface="Quattrocento Sans" pitchFamily="34" charset="-122"/>
                <a:cs typeface="Arial" panose="020B0604020202020204" pitchFamily="34" charset="0"/>
              </a:rPr>
              <a:t>Архитектура</a:t>
            </a:r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Text 3"/>
          <p:cNvSpPr/>
          <p:nvPr/>
        </p:nvSpPr>
        <p:spPr>
          <a:xfrm>
            <a:off x="8128000" y="0"/>
            <a:ext cx="4064000" cy="457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ru-RU" sz="1200" b="1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Функционал</a:t>
            </a:r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Shape 4"/>
          <p:cNvSpPr/>
          <p:nvPr/>
        </p:nvSpPr>
        <p:spPr>
          <a:xfrm>
            <a:off x="9525000" y="469900"/>
            <a:ext cx="1270000" cy="38100"/>
          </a:xfrm>
          <a:prstGeom prst="rect">
            <a:avLst/>
          </a:prstGeom>
          <a:solidFill>
            <a:srgbClr val="00ACC1"/>
          </a:solidFill>
          <a:ln/>
        </p:spPr>
        <p:txBody>
          <a:bodyPr/>
          <a:lstStyle/>
          <a:p>
            <a:endParaRPr lang="ru-R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Text 5"/>
          <p:cNvSpPr/>
          <p:nvPr/>
        </p:nvSpPr>
        <p:spPr>
          <a:xfrm>
            <a:off x="12192000" y="0"/>
            <a:ext cx="4064000" cy="508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ru-RU" sz="1200" dirty="0">
                <a:solidFill>
                  <a:srgbClr val="FFFFFF"/>
                </a:solidFill>
                <a:latin typeface="Arial" panose="020B0604020202020204" pitchFamily="34" charset="0"/>
                <a:ea typeface="Quattrocento Sans" pitchFamily="34" charset="-122"/>
                <a:cs typeface="Arial" panose="020B0604020202020204" pitchFamily="34" charset="0"/>
              </a:rPr>
              <a:t>Документация</a:t>
            </a:r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Text 6"/>
          <p:cNvSpPr/>
          <p:nvPr/>
        </p:nvSpPr>
        <p:spPr>
          <a:xfrm>
            <a:off x="762000" y="698500"/>
            <a:ext cx="8890000" cy="482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ru-RU" sz="2800" b="1" dirty="0">
                <a:solidFill>
                  <a:srgbClr val="1A1F3C"/>
                </a:solidFill>
                <a:latin typeface="Arial" panose="020B0604020202020204" pitchFamily="34" charset="0"/>
                <a:ea typeface="Liter" pitchFamily="34" charset="-122"/>
                <a:cs typeface="Arial" panose="020B0604020202020204" pitchFamily="34" charset="0"/>
              </a:rPr>
              <a:t>Импорт данных из </a:t>
            </a:r>
            <a:r>
              <a:rPr lang="en-US" sz="2800" b="1" dirty="0">
                <a:solidFill>
                  <a:srgbClr val="1A1F3C"/>
                </a:solidFill>
                <a:latin typeface="Arial" panose="020B0604020202020204" pitchFamily="34" charset="0"/>
                <a:ea typeface="Liter" pitchFamily="34" charset="-122"/>
                <a:cs typeface="Arial" panose="020B0604020202020204" pitchFamily="34" charset="0"/>
              </a:rPr>
              <a:t>Excel</a:t>
            </a:r>
            <a:endParaRPr lang="en-US" sz="2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" name="Shape 7"/>
          <p:cNvSpPr/>
          <p:nvPr/>
        </p:nvSpPr>
        <p:spPr>
          <a:xfrm>
            <a:off x="762000" y="1206500"/>
            <a:ext cx="762000" cy="38100"/>
          </a:xfrm>
          <a:prstGeom prst="rect">
            <a:avLst/>
          </a:prstGeom>
          <a:solidFill>
            <a:srgbClr val="00ACC1"/>
          </a:solidFill>
          <a:ln/>
        </p:spPr>
        <p:txBody>
          <a:bodyPr/>
          <a:lstStyle/>
          <a:p>
            <a:endParaRPr lang="ru-R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762000" y="1885826"/>
            <a:ext cx="14541500" cy="3111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  <a:effectLst>
            <a:outerShdw blurRad="152400" dist="38100" dir="5400000" algn="bl" rotWithShape="0">
              <a:srgbClr val="000000">
                <a:alpha val="8235"/>
              </a:srgbClr>
            </a:outerShdw>
          </a:effectLst>
        </p:spPr>
        <p:txBody>
          <a:bodyPr/>
          <a:lstStyle/>
          <a:p>
            <a:endParaRPr lang="ru-R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1" name="Image 0" descr="https://kimi-img.moonshot.cn/pub/slides/okc/gk3dldyex7q72/mnt/agents/output/internalbasewpf/images/image_21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952500" y="2076326"/>
            <a:ext cx="14123068" cy="2743324"/>
          </a:xfrm>
          <a:prstGeom prst="roundRect">
            <a:avLst>
              <a:gd name="adj" fmla="val 4000"/>
            </a:avLst>
          </a:prstGeom>
        </p:spPr>
      </p:pic>
      <p:sp>
        <p:nvSpPr>
          <p:cNvPr id="12" name="Text 9"/>
          <p:cNvSpPr/>
          <p:nvPr/>
        </p:nvSpPr>
        <p:spPr>
          <a:xfrm>
            <a:off x="4000500" y="4679826"/>
            <a:ext cx="8255000" cy="317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ru-RU" sz="1400" dirty="0">
                <a:solidFill>
                  <a:srgbClr val="64748B"/>
                </a:solidFill>
                <a:latin typeface="Arial" panose="020B0604020202020204" pitchFamily="34" charset="0"/>
                <a:ea typeface="Quattrocento Sans" pitchFamily="34" charset="-122"/>
                <a:cs typeface="Arial" panose="020B0604020202020204" pitchFamily="34" charset="0"/>
              </a:rPr>
              <a:t>Шаблон импорта</a:t>
            </a:r>
            <a:endParaRPr 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Text 10"/>
          <p:cNvSpPr/>
          <p:nvPr/>
        </p:nvSpPr>
        <p:spPr>
          <a:xfrm>
            <a:off x="762000" y="5244976"/>
            <a:ext cx="5588000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ru-RU" sz="2200" b="1" dirty="0">
                <a:solidFill>
                  <a:srgbClr val="1A1F3C"/>
                </a:solidFill>
                <a:latin typeface="Arial" panose="020B0604020202020204" pitchFamily="34" charset="0"/>
                <a:ea typeface="Liter" pitchFamily="34" charset="-122"/>
                <a:cs typeface="Arial" panose="020B0604020202020204" pitchFamily="34" charset="0"/>
              </a:rPr>
              <a:t>Процесс импорта</a:t>
            </a:r>
            <a:endParaRPr lang="en-US" sz="2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4" name="Shape 11"/>
          <p:cNvSpPr/>
          <p:nvPr/>
        </p:nvSpPr>
        <p:spPr>
          <a:xfrm>
            <a:off x="762000" y="5702176"/>
            <a:ext cx="508000" cy="25400"/>
          </a:xfrm>
          <a:prstGeom prst="rect">
            <a:avLst/>
          </a:prstGeom>
          <a:solidFill>
            <a:srgbClr val="00ACC1"/>
          </a:solidFill>
          <a:ln/>
        </p:spPr>
        <p:txBody>
          <a:bodyPr/>
          <a:lstStyle/>
          <a:p>
            <a:endParaRPr lang="ru-R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5" name="Shape 12"/>
          <p:cNvSpPr/>
          <p:nvPr/>
        </p:nvSpPr>
        <p:spPr>
          <a:xfrm>
            <a:off x="762000" y="5981576"/>
            <a:ext cx="279400" cy="279400"/>
          </a:xfrm>
          <a:custGeom>
            <a:avLst/>
            <a:gdLst/>
            <a:ahLst/>
            <a:cxnLst/>
            <a:rect l="l" t="t" r="r" b="b"/>
            <a:pathLst>
              <a:path w="279400" h="279400">
                <a:moveTo>
                  <a:pt x="0" y="34925"/>
                </a:moveTo>
                <a:cubicBezTo>
                  <a:pt x="0" y="15662"/>
                  <a:pt x="20882" y="0"/>
                  <a:pt x="46567" y="0"/>
                </a:cubicBezTo>
                <a:lnTo>
                  <a:pt x="155343" y="0"/>
                </a:lnTo>
                <a:cubicBezTo>
                  <a:pt x="167713" y="0"/>
                  <a:pt x="179573" y="3656"/>
                  <a:pt x="188304" y="10205"/>
                </a:cubicBezTo>
                <a:lnTo>
                  <a:pt x="265794" y="68377"/>
                </a:lnTo>
                <a:cubicBezTo>
                  <a:pt x="274525" y="74925"/>
                  <a:pt x="279400" y="83820"/>
                  <a:pt x="279400" y="93097"/>
                </a:cubicBezTo>
                <a:lnTo>
                  <a:pt x="279400" y="244475"/>
                </a:lnTo>
                <a:cubicBezTo>
                  <a:pt x="279400" y="263738"/>
                  <a:pt x="258518" y="279400"/>
                  <a:pt x="232833" y="279400"/>
                </a:cubicBezTo>
                <a:lnTo>
                  <a:pt x="46567" y="279400"/>
                </a:lnTo>
                <a:cubicBezTo>
                  <a:pt x="20882" y="279400"/>
                  <a:pt x="0" y="263738"/>
                  <a:pt x="0" y="244475"/>
                </a:cubicBezTo>
                <a:lnTo>
                  <a:pt x="0" y="34925"/>
                </a:lnTo>
                <a:close/>
                <a:moveTo>
                  <a:pt x="151342" y="31924"/>
                </a:moveTo>
                <a:lnTo>
                  <a:pt x="151342" y="82947"/>
                </a:lnTo>
                <a:cubicBezTo>
                  <a:pt x="151342" y="90205"/>
                  <a:pt x="159127" y="96044"/>
                  <a:pt x="168804" y="96044"/>
                </a:cubicBezTo>
                <a:lnTo>
                  <a:pt x="236835" y="96044"/>
                </a:lnTo>
                <a:lnTo>
                  <a:pt x="151342" y="31924"/>
                </a:lnTo>
                <a:close/>
                <a:moveTo>
                  <a:pt x="119327" y="145539"/>
                </a:moveTo>
                <a:cubicBezTo>
                  <a:pt x="113943" y="139536"/>
                  <a:pt x="103102" y="137899"/>
                  <a:pt x="95098" y="141883"/>
                </a:cubicBezTo>
                <a:cubicBezTo>
                  <a:pt x="87094" y="145866"/>
                  <a:pt x="84911" y="154052"/>
                  <a:pt x="90223" y="160055"/>
                </a:cubicBezTo>
                <a:lnTo>
                  <a:pt x="118745" y="192088"/>
                </a:lnTo>
                <a:lnTo>
                  <a:pt x="90223" y="224120"/>
                </a:lnTo>
                <a:cubicBezTo>
                  <a:pt x="84839" y="230123"/>
                  <a:pt x="87021" y="238254"/>
                  <a:pt x="95098" y="242292"/>
                </a:cubicBezTo>
                <a:cubicBezTo>
                  <a:pt x="103174" y="246330"/>
                  <a:pt x="113943" y="244693"/>
                  <a:pt x="119327" y="238636"/>
                </a:cubicBezTo>
                <a:lnTo>
                  <a:pt x="139700" y="215716"/>
                </a:lnTo>
                <a:lnTo>
                  <a:pt x="160073" y="238636"/>
                </a:lnTo>
                <a:cubicBezTo>
                  <a:pt x="165457" y="244639"/>
                  <a:pt x="176298" y="246276"/>
                  <a:pt x="184302" y="242292"/>
                </a:cubicBezTo>
                <a:cubicBezTo>
                  <a:pt x="192306" y="238309"/>
                  <a:pt x="194489" y="230123"/>
                  <a:pt x="189177" y="224120"/>
                </a:cubicBezTo>
                <a:lnTo>
                  <a:pt x="160655" y="192088"/>
                </a:lnTo>
                <a:lnTo>
                  <a:pt x="189177" y="160055"/>
                </a:lnTo>
                <a:cubicBezTo>
                  <a:pt x="194561" y="154052"/>
                  <a:pt x="192379" y="145921"/>
                  <a:pt x="184302" y="141883"/>
                </a:cubicBezTo>
                <a:cubicBezTo>
                  <a:pt x="176226" y="137845"/>
                  <a:pt x="165457" y="139482"/>
                  <a:pt x="160073" y="145539"/>
                </a:cubicBezTo>
                <a:lnTo>
                  <a:pt x="139700" y="168459"/>
                </a:lnTo>
                <a:lnTo>
                  <a:pt x="119327" y="145539"/>
                </a:lnTo>
                <a:close/>
              </a:path>
            </a:pathLst>
          </a:custGeom>
          <a:solidFill>
            <a:srgbClr val="00ACC1"/>
          </a:solidFill>
          <a:ln/>
        </p:spPr>
        <p:txBody>
          <a:bodyPr/>
          <a:lstStyle/>
          <a:p>
            <a:endParaRPr lang="ru-R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6" name="Text 13"/>
          <p:cNvSpPr/>
          <p:nvPr/>
        </p:nvSpPr>
        <p:spPr>
          <a:xfrm>
            <a:off x="1168400" y="5918076"/>
            <a:ext cx="518160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>
              <a:lnSpc>
                <a:spcPct val="140000"/>
              </a:lnSpc>
            </a:pPr>
            <a:r>
              <a:rPr lang="ru-RU" sz="1600" dirty="0">
                <a:solidFill>
                  <a:srgbClr val="2D3748"/>
                </a:solidFill>
                <a:latin typeface="Arial" panose="020B0604020202020204" pitchFamily="34" charset="0"/>
                <a:ea typeface="Quattrocento Sans" pitchFamily="34" charset="-122"/>
                <a:cs typeface="Arial" panose="020B0604020202020204" pitchFamily="34" charset="0"/>
              </a:rPr>
              <a:t>Шаблон содержит </a:t>
            </a:r>
            <a:r>
              <a:rPr lang="ru-RU" sz="1600" b="1" dirty="0">
                <a:solidFill>
                  <a:srgbClr val="2D3748"/>
                </a:solidFill>
                <a:latin typeface="Arial" panose="020B0604020202020204" pitchFamily="34" charset="0"/>
                <a:ea typeface="Quattrocento Sans" pitchFamily="34" charset="-122"/>
                <a:cs typeface="Arial" panose="020B0604020202020204" pitchFamily="34" charset="0"/>
              </a:rPr>
              <a:t>16 полей</a:t>
            </a:r>
            <a:r>
              <a:rPr lang="ru-RU" sz="1600" dirty="0">
                <a:solidFill>
                  <a:srgbClr val="2D3748"/>
                </a:solidFill>
                <a:latin typeface="Arial" panose="020B0604020202020204" pitchFamily="34" charset="0"/>
                <a:ea typeface="Quattrocento Sans" pitchFamily="34" charset="-122"/>
                <a:cs typeface="Arial" panose="020B0604020202020204" pitchFamily="34" charset="0"/>
              </a:rPr>
              <a:t> для импорта</a:t>
            </a:r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7" name="Shape 14"/>
          <p:cNvSpPr/>
          <p:nvPr/>
        </p:nvSpPr>
        <p:spPr>
          <a:xfrm>
            <a:off x="762000" y="6718176"/>
            <a:ext cx="279400" cy="279400"/>
          </a:xfrm>
          <a:custGeom>
            <a:avLst/>
            <a:gdLst/>
            <a:ahLst/>
            <a:cxnLst/>
            <a:rect l="l" t="t" r="r" b="b"/>
            <a:pathLst>
              <a:path w="279400" h="279400">
                <a:moveTo>
                  <a:pt x="139700" y="279400"/>
                </a:moveTo>
                <a:cubicBezTo>
                  <a:pt x="216803" y="279400"/>
                  <a:pt x="279400" y="216803"/>
                  <a:pt x="279400" y="139700"/>
                </a:cubicBezTo>
                <a:cubicBezTo>
                  <a:pt x="279400" y="62597"/>
                  <a:pt x="216803" y="0"/>
                  <a:pt x="139700" y="0"/>
                </a:cubicBezTo>
                <a:cubicBezTo>
                  <a:pt x="62597" y="0"/>
                  <a:pt x="0" y="62597"/>
                  <a:pt x="0" y="139700"/>
                </a:cubicBezTo>
                <a:cubicBezTo>
                  <a:pt x="0" y="216803"/>
                  <a:pt x="62597" y="279400"/>
                  <a:pt x="139700" y="279400"/>
                </a:cubicBezTo>
                <a:close/>
                <a:moveTo>
                  <a:pt x="185757" y="116071"/>
                </a:moveTo>
                <a:lnTo>
                  <a:pt x="142101" y="185921"/>
                </a:lnTo>
                <a:cubicBezTo>
                  <a:pt x="139809" y="189577"/>
                  <a:pt x="135880" y="191869"/>
                  <a:pt x="131569" y="192088"/>
                </a:cubicBezTo>
                <a:cubicBezTo>
                  <a:pt x="127258" y="192306"/>
                  <a:pt x="123111" y="190341"/>
                  <a:pt x="120546" y="186849"/>
                </a:cubicBezTo>
                <a:lnTo>
                  <a:pt x="94352" y="151924"/>
                </a:lnTo>
                <a:cubicBezTo>
                  <a:pt x="89986" y="146139"/>
                  <a:pt x="91187" y="137954"/>
                  <a:pt x="96971" y="133588"/>
                </a:cubicBezTo>
                <a:cubicBezTo>
                  <a:pt x="102756" y="129223"/>
                  <a:pt x="110941" y="130423"/>
                  <a:pt x="115307" y="136208"/>
                </a:cubicBezTo>
                <a:lnTo>
                  <a:pt x="130041" y="155853"/>
                </a:lnTo>
                <a:lnTo>
                  <a:pt x="163547" y="102210"/>
                </a:lnTo>
                <a:cubicBezTo>
                  <a:pt x="167367" y="96098"/>
                  <a:pt x="175444" y="94188"/>
                  <a:pt x="181610" y="98063"/>
                </a:cubicBezTo>
                <a:cubicBezTo>
                  <a:pt x="187776" y="101937"/>
                  <a:pt x="189632" y="109959"/>
                  <a:pt x="185757" y="116126"/>
                </a:cubicBezTo>
                <a:close/>
              </a:path>
            </a:pathLst>
          </a:custGeom>
          <a:solidFill>
            <a:srgbClr val="00ACC1"/>
          </a:solidFill>
          <a:ln/>
        </p:spPr>
        <p:txBody>
          <a:bodyPr/>
          <a:lstStyle/>
          <a:p>
            <a:endParaRPr lang="ru-R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8" name="Text 15"/>
          <p:cNvSpPr/>
          <p:nvPr/>
        </p:nvSpPr>
        <p:spPr>
          <a:xfrm>
            <a:off x="1168400" y="6654676"/>
            <a:ext cx="518160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40000"/>
              </a:lnSpc>
            </a:pPr>
            <a:r>
              <a:rPr lang="ru-RU" sz="1600" dirty="0">
                <a:solidFill>
                  <a:srgbClr val="2D3748"/>
                </a:solidFill>
                <a:latin typeface="Arial" panose="020B0604020202020204" pitchFamily="34" charset="0"/>
                <a:ea typeface="Quattrocento Sans" pitchFamily="34" charset="-122"/>
                <a:cs typeface="Arial" panose="020B0604020202020204" pitchFamily="34" charset="0"/>
              </a:rPr>
              <a:t>Проверка </a:t>
            </a:r>
            <a:r>
              <a:rPr lang="ru-RU" sz="1600" b="1" dirty="0">
                <a:solidFill>
                  <a:srgbClr val="2D3748"/>
                </a:solidFill>
                <a:latin typeface="Arial" panose="020B0604020202020204" pitchFamily="34" charset="0"/>
                <a:ea typeface="Quattrocento Sans" pitchFamily="34" charset="-122"/>
                <a:cs typeface="Arial" panose="020B0604020202020204" pitchFamily="34" charset="0"/>
              </a:rPr>
              <a:t>обязательных полей</a:t>
            </a:r>
            <a:r>
              <a:rPr lang="ru-RU" sz="1600" dirty="0">
                <a:solidFill>
                  <a:srgbClr val="2D3748"/>
                </a:solidFill>
                <a:latin typeface="Arial" panose="020B0604020202020204" pitchFamily="34" charset="0"/>
                <a:ea typeface="Quattrocento Sans" pitchFamily="34" charset="-122"/>
                <a:cs typeface="Arial" panose="020B0604020202020204" pitchFamily="34" charset="0"/>
              </a:rPr>
              <a:t>: фамилия и имя</a:t>
            </a:r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9" name="Shape 16"/>
          <p:cNvSpPr/>
          <p:nvPr/>
        </p:nvSpPr>
        <p:spPr>
          <a:xfrm>
            <a:off x="11404600" y="5975226"/>
            <a:ext cx="279400" cy="279400"/>
          </a:xfrm>
          <a:custGeom>
            <a:avLst/>
            <a:gdLst/>
            <a:ahLst/>
            <a:cxnLst/>
            <a:rect l="l" t="t" r="r" b="b"/>
            <a:pathLst>
              <a:path w="279400" h="279400">
                <a:moveTo>
                  <a:pt x="104775" y="34925"/>
                </a:moveTo>
                <a:cubicBezTo>
                  <a:pt x="104775" y="25266"/>
                  <a:pt x="112579" y="17463"/>
                  <a:pt x="122238" y="17463"/>
                </a:cubicBezTo>
                <a:lnTo>
                  <a:pt x="157163" y="17463"/>
                </a:lnTo>
                <a:cubicBezTo>
                  <a:pt x="166821" y="17463"/>
                  <a:pt x="174625" y="25266"/>
                  <a:pt x="174625" y="34925"/>
                </a:cubicBezTo>
                <a:lnTo>
                  <a:pt x="174625" y="69850"/>
                </a:lnTo>
                <a:cubicBezTo>
                  <a:pt x="174625" y="79509"/>
                  <a:pt x="166821" y="87313"/>
                  <a:pt x="157163" y="87313"/>
                </a:cubicBezTo>
                <a:lnTo>
                  <a:pt x="152797" y="87313"/>
                </a:lnTo>
                <a:lnTo>
                  <a:pt x="152797" y="122238"/>
                </a:lnTo>
                <a:lnTo>
                  <a:pt x="218281" y="122238"/>
                </a:lnTo>
                <a:cubicBezTo>
                  <a:pt x="240000" y="122238"/>
                  <a:pt x="257572" y="139809"/>
                  <a:pt x="257572" y="161528"/>
                </a:cubicBezTo>
                <a:lnTo>
                  <a:pt x="257572" y="192088"/>
                </a:lnTo>
                <a:lnTo>
                  <a:pt x="261938" y="192088"/>
                </a:lnTo>
                <a:cubicBezTo>
                  <a:pt x="271596" y="192088"/>
                  <a:pt x="279400" y="199891"/>
                  <a:pt x="279400" y="209550"/>
                </a:cubicBezTo>
                <a:lnTo>
                  <a:pt x="279400" y="244475"/>
                </a:lnTo>
                <a:cubicBezTo>
                  <a:pt x="279400" y="254134"/>
                  <a:pt x="271596" y="261938"/>
                  <a:pt x="261938" y="261938"/>
                </a:cubicBezTo>
                <a:lnTo>
                  <a:pt x="227013" y="261938"/>
                </a:lnTo>
                <a:cubicBezTo>
                  <a:pt x="217354" y="261938"/>
                  <a:pt x="209550" y="254134"/>
                  <a:pt x="209550" y="244475"/>
                </a:cubicBezTo>
                <a:lnTo>
                  <a:pt x="209550" y="209550"/>
                </a:lnTo>
                <a:cubicBezTo>
                  <a:pt x="209550" y="199891"/>
                  <a:pt x="217354" y="192088"/>
                  <a:pt x="227013" y="192088"/>
                </a:cubicBezTo>
                <a:lnTo>
                  <a:pt x="231378" y="192088"/>
                </a:lnTo>
                <a:lnTo>
                  <a:pt x="231378" y="161528"/>
                </a:lnTo>
                <a:cubicBezTo>
                  <a:pt x="231378" y="154270"/>
                  <a:pt x="225539" y="148431"/>
                  <a:pt x="218281" y="148431"/>
                </a:cubicBezTo>
                <a:lnTo>
                  <a:pt x="152797" y="148431"/>
                </a:lnTo>
                <a:lnTo>
                  <a:pt x="152797" y="192088"/>
                </a:lnTo>
                <a:lnTo>
                  <a:pt x="157163" y="192088"/>
                </a:lnTo>
                <a:cubicBezTo>
                  <a:pt x="166821" y="192088"/>
                  <a:pt x="174625" y="199891"/>
                  <a:pt x="174625" y="209550"/>
                </a:cubicBezTo>
                <a:lnTo>
                  <a:pt x="174625" y="244475"/>
                </a:lnTo>
                <a:cubicBezTo>
                  <a:pt x="174625" y="254134"/>
                  <a:pt x="166821" y="261938"/>
                  <a:pt x="157163" y="261938"/>
                </a:cubicBezTo>
                <a:lnTo>
                  <a:pt x="122238" y="261938"/>
                </a:lnTo>
                <a:cubicBezTo>
                  <a:pt x="112579" y="261938"/>
                  <a:pt x="104775" y="254134"/>
                  <a:pt x="104775" y="244475"/>
                </a:cubicBezTo>
                <a:lnTo>
                  <a:pt x="104775" y="209550"/>
                </a:lnTo>
                <a:cubicBezTo>
                  <a:pt x="104775" y="199891"/>
                  <a:pt x="112579" y="192088"/>
                  <a:pt x="122238" y="192088"/>
                </a:cubicBezTo>
                <a:lnTo>
                  <a:pt x="126603" y="192088"/>
                </a:lnTo>
                <a:lnTo>
                  <a:pt x="126603" y="148431"/>
                </a:lnTo>
                <a:lnTo>
                  <a:pt x="61119" y="148431"/>
                </a:lnTo>
                <a:cubicBezTo>
                  <a:pt x="53861" y="148431"/>
                  <a:pt x="48022" y="154270"/>
                  <a:pt x="48022" y="161528"/>
                </a:cubicBezTo>
                <a:lnTo>
                  <a:pt x="48022" y="192088"/>
                </a:lnTo>
                <a:lnTo>
                  <a:pt x="52388" y="192088"/>
                </a:lnTo>
                <a:cubicBezTo>
                  <a:pt x="62046" y="192088"/>
                  <a:pt x="69850" y="199891"/>
                  <a:pt x="69850" y="209550"/>
                </a:cubicBezTo>
                <a:lnTo>
                  <a:pt x="69850" y="244475"/>
                </a:lnTo>
                <a:cubicBezTo>
                  <a:pt x="69850" y="254134"/>
                  <a:pt x="62046" y="261938"/>
                  <a:pt x="52388" y="261938"/>
                </a:cubicBezTo>
                <a:lnTo>
                  <a:pt x="17463" y="261938"/>
                </a:lnTo>
                <a:cubicBezTo>
                  <a:pt x="7804" y="261938"/>
                  <a:pt x="0" y="254134"/>
                  <a:pt x="0" y="244475"/>
                </a:cubicBezTo>
                <a:lnTo>
                  <a:pt x="0" y="209550"/>
                </a:lnTo>
                <a:cubicBezTo>
                  <a:pt x="0" y="199891"/>
                  <a:pt x="7804" y="192088"/>
                  <a:pt x="17463" y="192088"/>
                </a:cubicBezTo>
                <a:lnTo>
                  <a:pt x="21828" y="192088"/>
                </a:lnTo>
                <a:lnTo>
                  <a:pt x="21828" y="161528"/>
                </a:lnTo>
                <a:cubicBezTo>
                  <a:pt x="21828" y="139809"/>
                  <a:pt x="39400" y="122238"/>
                  <a:pt x="61119" y="122238"/>
                </a:cubicBezTo>
                <a:lnTo>
                  <a:pt x="126603" y="122238"/>
                </a:lnTo>
                <a:lnTo>
                  <a:pt x="126603" y="87313"/>
                </a:lnTo>
                <a:lnTo>
                  <a:pt x="122238" y="87313"/>
                </a:lnTo>
                <a:cubicBezTo>
                  <a:pt x="112579" y="87313"/>
                  <a:pt x="104775" y="79509"/>
                  <a:pt x="104775" y="69850"/>
                </a:cubicBezTo>
                <a:lnTo>
                  <a:pt x="104775" y="34925"/>
                </a:lnTo>
                <a:close/>
              </a:path>
            </a:pathLst>
          </a:custGeom>
          <a:solidFill>
            <a:srgbClr val="00ACC1"/>
          </a:solidFill>
          <a:ln/>
        </p:spPr>
        <p:txBody>
          <a:bodyPr/>
          <a:lstStyle/>
          <a:p>
            <a:endParaRPr lang="ru-R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0" name="Text 17"/>
          <p:cNvSpPr/>
          <p:nvPr/>
        </p:nvSpPr>
        <p:spPr>
          <a:xfrm>
            <a:off x="11811000" y="5911726"/>
            <a:ext cx="3878179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40000"/>
              </a:lnSpc>
            </a:pPr>
            <a:r>
              <a:rPr lang="ru-RU" sz="1600" dirty="0">
                <a:solidFill>
                  <a:srgbClr val="2D3748"/>
                </a:solidFill>
                <a:latin typeface="Arial" panose="020B0604020202020204" pitchFamily="34" charset="0"/>
                <a:ea typeface="Quattrocento Sans" pitchFamily="34" charset="-122"/>
                <a:cs typeface="Arial" panose="020B0604020202020204" pitchFamily="34" charset="0"/>
              </a:rPr>
              <a:t>Ячейки </a:t>
            </a:r>
            <a:r>
              <a:rPr lang="ru-RU" sz="1600" b="1" dirty="0">
                <a:solidFill>
                  <a:srgbClr val="2D3748"/>
                </a:solidFill>
                <a:latin typeface="Arial" panose="020B0604020202020204" pitchFamily="34" charset="0"/>
                <a:ea typeface="Quattrocento Sans" pitchFamily="34" charset="-122"/>
                <a:cs typeface="Arial" panose="020B0604020202020204" pitchFamily="34" charset="0"/>
              </a:rPr>
              <a:t>сопоставляются по названию</a:t>
            </a:r>
            <a:endParaRPr lang="en-US" sz="16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1" name="Shape 18"/>
          <p:cNvSpPr/>
          <p:nvPr/>
        </p:nvSpPr>
        <p:spPr>
          <a:xfrm>
            <a:off x="6350000" y="5955173"/>
            <a:ext cx="279400" cy="279400"/>
          </a:xfrm>
          <a:custGeom>
            <a:avLst/>
            <a:gdLst/>
            <a:ahLst/>
            <a:cxnLst/>
            <a:rect l="l" t="t" r="r" b="b"/>
            <a:pathLst>
              <a:path w="279400" h="279400">
                <a:moveTo>
                  <a:pt x="227013" y="113506"/>
                </a:moveTo>
                <a:cubicBezTo>
                  <a:pt x="227013" y="138554"/>
                  <a:pt x="218882" y="161692"/>
                  <a:pt x="205184" y="180464"/>
                </a:cubicBezTo>
                <a:lnTo>
                  <a:pt x="274270" y="249605"/>
                </a:lnTo>
                <a:cubicBezTo>
                  <a:pt x="281092" y="256426"/>
                  <a:pt x="281092" y="267504"/>
                  <a:pt x="274270" y="274325"/>
                </a:cubicBezTo>
                <a:cubicBezTo>
                  <a:pt x="267449" y="281146"/>
                  <a:pt x="256371" y="281146"/>
                  <a:pt x="249550" y="274325"/>
                </a:cubicBezTo>
                <a:lnTo>
                  <a:pt x="180464" y="205184"/>
                </a:lnTo>
                <a:cubicBezTo>
                  <a:pt x="161692" y="218882"/>
                  <a:pt x="138554" y="227013"/>
                  <a:pt x="113506" y="227013"/>
                </a:cubicBezTo>
                <a:cubicBezTo>
                  <a:pt x="50805" y="227013"/>
                  <a:pt x="0" y="176208"/>
                  <a:pt x="0" y="113506"/>
                </a:cubicBezTo>
                <a:cubicBezTo>
                  <a:pt x="0" y="50805"/>
                  <a:pt x="50805" y="0"/>
                  <a:pt x="113506" y="0"/>
                </a:cubicBezTo>
                <a:cubicBezTo>
                  <a:pt x="176208" y="0"/>
                  <a:pt x="227013" y="50805"/>
                  <a:pt x="227013" y="113506"/>
                </a:cubicBezTo>
                <a:close/>
                <a:moveTo>
                  <a:pt x="113506" y="192088"/>
                </a:moveTo>
                <a:cubicBezTo>
                  <a:pt x="156876" y="192088"/>
                  <a:pt x="192088" y="156876"/>
                  <a:pt x="192088" y="113506"/>
                </a:cubicBezTo>
                <a:cubicBezTo>
                  <a:pt x="192088" y="70136"/>
                  <a:pt x="156876" y="34925"/>
                  <a:pt x="113506" y="34925"/>
                </a:cubicBezTo>
                <a:cubicBezTo>
                  <a:pt x="70136" y="34925"/>
                  <a:pt x="34925" y="70136"/>
                  <a:pt x="34925" y="113506"/>
                </a:cubicBezTo>
                <a:cubicBezTo>
                  <a:pt x="34925" y="156876"/>
                  <a:pt x="70136" y="192088"/>
                  <a:pt x="113506" y="192088"/>
                </a:cubicBezTo>
                <a:close/>
              </a:path>
            </a:pathLst>
          </a:custGeom>
          <a:solidFill>
            <a:srgbClr val="00ACC1"/>
          </a:solidFill>
          <a:ln/>
        </p:spPr>
        <p:txBody>
          <a:bodyPr/>
          <a:lstStyle/>
          <a:p>
            <a:endParaRPr lang="ru-R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2" name="Text 19"/>
          <p:cNvSpPr/>
          <p:nvPr/>
        </p:nvSpPr>
        <p:spPr>
          <a:xfrm>
            <a:off x="6756400" y="5891673"/>
            <a:ext cx="518160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40000"/>
              </a:lnSpc>
            </a:pPr>
            <a:r>
              <a:rPr lang="ru-RU" sz="1600" dirty="0">
                <a:solidFill>
                  <a:srgbClr val="2D3748"/>
                </a:solidFill>
                <a:latin typeface="Arial" panose="020B0604020202020204" pitchFamily="34" charset="0"/>
                <a:ea typeface="Quattrocento Sans" pitchFamily="34" charset="-122"/>
                <a:cs typeface="Arial" panose="020B0604020202020204" pitchFamily="34" charset="0"/>
              </a:rPr>
              <a:t>Проверка на </a:t>
            </a:r>
            <a:r>
              <a:rPr lang="ru-RU" sz="1600" b="1" dirty="0">
                <a:solidFill>
                  <a:srgbClr val="2D3748"/>
                </a:solidFill>
                <a:latin typeface="Arial" panose="020B0604020202020204" pitchFamily="34" charset="0"/>
                <a:ea typeface="Quattrocento Sans" pitchFamily="34" charset="-122"/>
                <a:cs typeface="Arial" panose="020B0604020202020204" pitchFamily="34" charset="0"/>
              </a:rPr>
              <a:t>дублирование телефонов</a:t>
            </a:r>
            <a:endParaRPr lang="en-US" sz="16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3" name="Shape 20"/>
          <p:cNvSpPr/>
          <p:nvPr/>
        </p:nvSpPr>
        <p:spPr>
          <a:xfrm>
            <a:off x="6350000" y="6691773"/>
            <a:ext cx="279400" cy="279400"/>
          </a:xfrm>
          <a:custGeom>
            <a:avLst/>
            <a:gdLst/>
            <a:ahLst/>
            <a:cxnLst/>
            <a:rect l="l" t="t" r="r" b="b"/>
            <a:pathLst>
              <a:path w="279400" h="279400">
                <a:moveTo>
                  <a:pt x="226576" y="17463"/>
                </a:moveTo>
                <a:lnTo>
                  <a:pt x="232833" y="17463"/>
                </a:lnTo>
                <a:cubicBezTo>
                  <a:pt x="258518" y="17463"/>
                  <a:pt x="279400" y="33124"/>
                  <a:pt x="279400" y="52388"/>
                </a:cubicBezTo>
                <a:lnTo>
                  <a:pt x="279400" y="244475"/>
                </a:lnTo>
                <a:cubicBezTo>
                  <a:pt x="279400" y="263738"/>
                  <a:pt x="258518" y="279400"/>
                  <a:pt x="232833" y="279400"/>
                </a:cubicBezTo>
                <a:lnTo>
                  <a:pt x="46567" y="279400"/>
                </a:lnTo>
                <a:cubicBezTo>
                  <a:pt x="20882" y="279400"/>
                  <a:pt x="0" y="263738"/>
                  <a:pt x="0" y="244475"/>
                </a:cubicBezTo>
                <a:lnTo>
                  <a:pt x="0" y="52388"/>
                </a:lnTo>
                <a:cubicBezTo>
                  <a:pt x="0" y="33124"/>
                  <a:pt x="20882" y="17463"/>
                  <a:pt x="46567" y="17463"/>
                </a:cubicBezTo>
                <a:lnTo>
                  <a:pt x="52824" y="17463"/>
                </a:lnTo>
                <a:cubicBezTo>
                  <a:pt x="60828" y="7040"/>
                  <a:pt x="75889" y="0"/>
                  <a:pt x="93133" y="0"/>
                </a:cubicBezTo>
                <a:lnTo>
                  <a:pt x="186267" y="0"/>
                </a:lnTo>
                <a:cubicBezTo>
                  <a:pt x="203511" y="0"/>
                  <a:pt x="218572" y="7040"/>
                  <a:pt x="226576" y="17463"/>
                </a:cubicBezTo>
                <a:close/>
                <a:moveTo>
                  <a:pt x="180446" y="61119"/>
                </a:moveTo>
                <a:cubicBezTo>
                  <a:pt x="190123" y="61119"/>
                  <a:pt x="197908" y="55280"/>
                  <a:pt x="197908" y="48022"/>
                </a:cubicBezTo>
                <a:cubicBezTo>
                  <a:pt x="197908" y="40764"/>
                  <a:pt x="190123" y="34925"/>
                  <a:pt x="180446" y="34925"/>
                </a:cubicBezTo>
                <a:lnTo>
                  <a:pt x="98954" y="34925"/>
                </a:lnTo>
                <a:cubicBezTo>
                  <a:pt x="89277" y="34925"/>
                  <a:pt x="81492" y="40764"/>
                  <a:pt x="81492" y="48022"/>
                </a:cubicBezTo>
                <a:cubicBezTo>
                  <a:pt x="81492" y="55280"/>
                  <a:pt x="89277" y="61119"/>
                  <a:pt x="98954" y="61119"/>
                </a:cubicBezTo>
                <a:lnTo>
                  <a:pt x="180446" y="61119"/>
                </a:lnTo>
                <a:close/>
                <a:moveTo>
                  <a:pt x="201110" y="142265"/>
                </a:moveTo>
                <a:cubicBezTo>
                  <a:pt x="206203" y="136153"/>
                  <a:pt x="203729" y="128077"/>
                  <a:pt x="195580" y="124202"/>
                </a:cubicBezTo>
                <a:cubicBezTo>
                  <a:pt x="187431" y="120328"/>
                  <a:pt x="176662" y="122238"/>
                  <a:pt x="171496" y="128349"/>
                </a:cubicBezTo>
                <a:lnTo>
                  <a:pt x="126821" y="181992"/>
                </a:lnTo>
                <a:lnTo>
                  <a:pt x="107176" y="162347"/>
                </a:lnTo>
                <a:cubicBezTo>
                  <a:pt x="101355" y="156562"/>
                  <a:pt x="90441" y="155362"/>
                  <a:pt x="82729" y="159727"/>
                </a:cubicBezTo>
                <a:cubicBezTo>
                  <a:pt x="75016" y="164093"/>
                  <a:pt x="73415" y="172278"/>
                  <a:pt x="79236" y="178063"/>
                </a:cubicBezTo>
                <a:lnTo>
                  <a:pt x="114161" y="212988"/>
                </a:lnTo>
                <a:cubicBezTo>
                  <a:pt x="117581" y="216426"/>
                  <a:pt x="123111" y="218390"/>
                  <a:pt x="128859" y="218227"/>
                </a:cubicBezTo>
                <a:cubicBezTo>
                  <a:pt x="134607" y="218063"/>
                  <a:pt x="139846" y="215771"/>
                  <a:pt x="142901" y="212060"/>
                </a:cubicBezTo>
                <a:lnTo>
                  <a:pt x="201110" y="142210"/>
                </a:lnTo>
                <a:close/>
              </a:path>
            </a:pathLst>
          </a:custGeom>
          <a:solidFill>
            <a:srgbClr val="00ACC1"/>
          </a:solidFill>
          <a:ln/>
        </p:spPr>
        <p:txBody>
          <a:bodyPr/>
          <a:lstStyle/>
          <a:p>
            <a:endParaRPr lang="ru-R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4" name="Text 21"/>
          <p:cNvSpPr/>
          <p:nvPr/>
        </p:nvSpPr>
        <p:spPr>
          <a:xfrm>
            <a:off x="6756400" y="6628273"/>
            <a:ext cx="8547100" cy="88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40000"/>
              </a:lnSpc>
            </a:pPr>
            <a:r>
              <a:rPr lang="ru-RU" sz="1600" dirty="0">
                <a:solidFill>
                  <a:srgbClr val="2D3748"/>
                </a:solidFill>
                <a:latin typeface="Arial" panose="020B0604020202020204" pitchFamily="34" charset="0"/>
                <a:ea typeface="Quattrocento Sans" pitchFamily="34" charset="-122"/>
                <a:cs typeface="Arial" panose="020B0604020202020204" pitchFamily="34" charset="0"/>
              </a:rPr>
              <a:t>Записи попадают в раздел </a:t>
            </a:r>
            <a:r>
              <a:rPr lang="ru-RU" sz="1600" b="1" dirty="0">
                <a:solidFill>
                  <a:srgbClr val="2D3748"/>
                </a:solidFill>
                <a:latin typeface="Arial" panose="020B0604020202020204" pitchFamily="34" charset="0"/>
                <a:ea typeface="Quattrocento Sans" pitchFamily="34" charset="-122"/>
                <a:cs typeface="Arial" panose="020B0604020202020204" pitchFamily="34" charset="0"/>
              </a:rPr>
              <a:t>«Неподтверждённые»</a:t>
            </a:r>
            <a:r>
              <a:rPr lang="ru-RU" sz="1600" dirty="0">
                <a:solidFill>
                  <a:srgbClr val="2D3748"/>
                </a:solidFill>
                <a:latin typeface="Arial" panose="020B0604020202020204" pitchFamily="34" charset="0"/>
                <a:ea typeface="Quattrocento Sans" pitchFamily="34" charset="-122"/>
                <a:cs typeface="Arial" panose="020B0604020202020204" pitchFamily="34" charset="0"/>
              </a:rPr>
              <a:t> до ручного подтверждения</a:t>
            </a:r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  <p:transition>
    <p:fad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gradFill flip="none" rotWithShape="1">
          <a:gsLst>
            <a:gs pos="0">
              <a:srgbClr val="0F1525"/>
            </a:gs>
            <a:gs pos="50000">
              <a:srgbClr val="1A1F3C"/>
            </a:gs>
            <a:gs pos="100000">
              <a:srgbClr val="162044"/>
            </a:gs>
          </a:gsLst>
          <a:lin ang="81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2000" y="2286000"/>
            <a:ext cx="3810000" cy="1206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7200" dirty="0">
                <a:solidFill>
                  <a:srgbClr val="00ACC1"/>
                </a:solidFill>
                <a:latin typeface="Arial" panose="020B0604020202020204" pitchFamily="34" charset="0"/>
                <a:ea typeface="Liter" pitchFamily="34" charset="-122"/>
                <a:cs typeface="Arial" panose="020B0604020202020204" pitchFamily="34" charset="0"/>
              </a:rPr>
              <a:t>04</a:t>
            </a:r>
            <a:endParaRPr lang="en-US" sz="7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Shape 1"/>
          <p:cNvSpPr/>
          <p:nvPr/>
        </p:nvSpPr>
        <p:spPr>
          <a:xfrm>
            <a:off x="762000" y="3683000"/>
            <a:ext cx="1016000" cy="38100"/>
          </a:xfrm>
          <a:prstGeom prst="rect">
            <a:avLst/>
          </a:prstGeom>
          <a:solidFill>
            <a:srgbClr val="00ACC1"/>
          </a:solidFill>
          <a:ln/>
        </p:spPr>
        <p:txBody>
          <a:bodyPr/>
          <a:lstStyle/>
          <a:p>
            <a:endParaRPr lang="ru-R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Text 2"/>
          <p:cNvSpPr/>
          <p:nvPr/>
        </p:nvSpPr>
        <p:spPr>
          <a:xfrm>
            <a:off x="762000" y="3937000"/>
            <a:ext cx="11430000" cy="635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ru-RU" sz="3600" b="1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Документация и тестирование</a:t>
            </a:r>
            <a:endParaRPr lang="en-US" sz="3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Text 3"/>
          <p:cNvSpPr/>
          <p:nvPr/>
        </p:nvSpPr>
        <p:spPr>
          <a:xfrm>
            <a:off x="762000" y="4699000"/>
            <a:ext cx="10160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ru-RU" dirty="0">
                <a:solidFill>
                  <a:srgbClr val="C0C5CE"/>
                </a:solidFill>
                <a:latin typeface="Arial" panose="020B0604020202020204" pitchFamily="34" charset="0"/>
                <a:ea typeface="Quattrocento Sans" pitchFamily="34" charset="-122"/>
                <a:cs typeface="Arial" panose="020B0604020202020204" pitchFamily="34" charset="0"/>
              </a:rPr>
              <a:t>Документация пользования, UML-диаграммы и результаты</a:t>
            </a:r>
            <a:endParaRPr lang="en-US" sz="1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Shape 4"/>
          <p:cNvSpPr/>
          <p:nvPr/>
        </p:nvSpPr>
        <p:spPr>
          <a:xfrm>
            <a:off x="13335000" y="5080000"/>
            <a:ext cx="1905000" cy="1905000"/>
          </a:xfrm>
          <a:prstGeom prst="ellipse">
            <a:avLst/>
          </a:prstGeom>
          <a:solidFill>
            <a:srgbClr val="00ACC2">
              <a:alpha val="6275"/>
            </a:srgbClr>
          </a:solidFill>
          <a:ln w="12700">
            <a:solidFill>
              <a:srgbClr val="00ACC1"/>
            </a:solidFill>
            <a:prstDash val="solid"/>
          </a:ln>
        </p:spPr>
        <p:txBody>
          <a:bodyPr/>
          <a:lstStyle/>
          <a:p>
            <a:endParaRPr lang="ru-R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Shape 5"/>
          <p:cNvSpPr/>
          <p:nvPr/>
        </p:nvSpPr>
        <p:spPr>
          <a:xfrm>
            <a:off x="13970000" y="1270000"/>
            <a:ext cx="1016000" cy="1016000"/>
          </a:xfrm>
          <a:prstGeom prst="ellipse">
            <a:avLst/>
          </a:prstGeom>
          <a:solidFill>
            <a:srgbClr val="00ACC2">
              <a:alpha val="8235"/>
            </a:srgbClr>
          </a:solidFill>
          <a:ln w="12700">
            <a:solidFill>
              <a:srgbClr val="00ACC1"/>
            </a:solidFill>
            <a:prstDash val="solid"/>
          </a:ln>
        </p:spPr>
        <p:txBody>
          <a:bodyPr/>
          <a:lstStyle/>
          <a:p>
            <a:endParaRPr lang="ru-R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  <p:transition>
    <p:fade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0F2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256000" cy="508000"/>
          </a:xfrm>
          <a:prstGeom prst="rect">
            <a:avLst/>
          </a:prstGeom>
          <a:solidFill>
            <a:srgbClr val="1A1F3C"/>
          </a:solidFill>
          <a:ln/>
        </p:spPr>
        <p:txBody>
          <a:bodyPr/>
          <a:lstStyle/>
          <a:p>
            <a:endParaRPr lang="ru-R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0" y="0"/>
            <a:ext cx="4064000" cy="508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ru-RU" sz="1200" dirty="0">
                <a:solidFill>
                  <a:srgbClr val="FFFFFF"/>
                </a:solidFill>
                <a:latin typeface="Arial" panose="020B0604020202020204" pitchFamily="34" charset="0"/>
                <a:ea typeface="Quattrocento Sans" pitchFamily="34" charset="-122"/>
                <a:cs typeface="Arial" panose="020B0604020202020204" pitchFamily="34" charset="0"/>
              </a:rPr>
              <a:t>О проекте</a:t>
            </a:r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Text 2"/>
          <p:cNvSpPr/>
          <p:nvPr/>
        </p:nvSpPr>
        <p:spPr>
          <a:xfrm>
            <a:off x="4064000" y="0"/>
            <a:ext cx="4064000" cy="508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ru-RU" sz="120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Архитектура</a:t>
            </a:r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Text 3"/>
          <p:cNvSpPr/>
          <p:nvPr/>
        </p:nvSpPr>
        <p:spPr>
          <a:xfrm>
            <a:off x="8128000" y="0"/>
            <a:ext cx="4064000" cy="508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ru-RU" sz="1200" dirty="0">
                <a:solidFill>
                  <a:srgbClr val="FFFFFF"/>
                </a:solidFill>
                <a:latin typeface="Arial" panose="020B0604020202020204" pitchFamily="34" charset="0"/>
                <a:ea typeface="Quattrocento Sans" pitchFamily="34" charset="-122"/>
                <a:cs typeface="Arial" panose="020B0604020202020204" pitchFamily="34" charset="0"/>
              </a:rPr>
              <a:t>Функционал</a:t>
            </a:r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Text 4"/>
          <p:cNvSpPr/>
          <p:nvPr/>
        </p:nvSpPr>
        <p:spPr>
          <a:xfrm>
            <a:off x="12192000" y="0"/>
            <a:ext cx="4064000" cy="457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ru-RU" sz="1200" b="1" dirty="0">
                <a:solidFill>
                  <a:srgbClr val="FFFFFF"/>
                </a:solidFill>
                <a:latin typeface="Arial" panose="020B0604020202020204" pitchFamily="34" charset="0"/>
                <a:ea typeface="Quattrocento Sans" pitchFamily="34" charset="-122"/>
                <a:cs typeface="Arial" panose="020B0604020202020204" pitchFamily="34" charset="0"/>
              </a:rPr>
              <a:t>Документация</a:t>
            </a:r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Shape 5"/>
          <p:cNvSpPr/>
          <p:nvPr/>
        </p:nvSpPr>
        <p:spPr>
          <a:xfrm>
            <a:off x="13589000" y="469900"/>
            <a:ext cx="1270000" cy="38100"/>
          </a:xfrm>
          <a:prstGeom prst="rect">
            <a:avLst/>
          </a:prstGeom>
          <a:solidFill>
            <a:srgbClr val="00ACC1"/>
          </a:solidFill>
          <a:ln/>
        </p:spPr>
        <p:txBody>
          <a:bodyPr/>
          <a:lstStyle/>
          <a:p>
            <a:endParaRPr lang="ru-R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Text 6"/>
          <p:cNvSpPr/>
          <p:nvPr/>
        </p:nvSpPr>
        <p:spPr>
          <a:xfrm>
            <a:off x="762000" y="698500"/>
            <a:ext cx="8890000" cy="482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ru-RU" sz="2800" b="1" dirty="0">
                <a:solidFill>
                  <a:srgbClr val="1A1F3C"/>
                </a:solidFill>
                <a:latin typeface="Arial" panose="020B0604020202020204" pitchFamily="34" charset="0"/>
                <a:ea typeface="Liter" pitchFamily="34" charset="-122"/>
                <a:cs typeface="Arial" panose="020B0604020202020204" pitchFamily="34" charset="0"/>
              </a:rPr>
              <a:t>Документация проекта</a:t>
            </a:r>
            <a:endParaRPr lang="en-US" sz="2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" name="Shape 7"/>
          <p:cNvSpPr/>
          <p:nvPr/>
        </p:nvSpPr>
        <p:spPr>
          <a:xfrm>
            <a:off x="762000" y="1206500"/>
            <a:ext cx="762000" cy="38100"/>
          </a:xfrm>
          <a:prstGeom prst="rect">
            <a:avLst/>
          </a:prstGeom>
          <a:solidFill>
            <a:srgbClr val="00ACC1"/>
          </a:solidFill>
          <a:ln/>
        </p:spPr>
        <p:txBody>
          <a:bodyPr/>
          <a:lstStyle/>
          <a:p>
            <a:endParaRPr lang="ru-R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3936999" y="2031615"/>
            <a:ext cx="3757863" cy="22599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  <a:effectLst>
            <a:outerShdw blurRad="127000" dist="25400" dir="5400000" algn="bl" rotWithShape="0">
              <a:srgbClr val="000000">
                <a:alpha val="8235"/>
              </a:srgbClr>
            </a:outerShdw>
          </a:effectLst>
        </p:spPr>
        <p:txBody>
          <a:bodyPr/>
          <a:lstStyle/>
          <a:p>
            <a:endParaRPr lang="ru-R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4239718" y="2189614"/>
            <a:ext cx="448270" cy="451986"/>
          </a:xfrm>
          <a:custGeom>
            <a:avLst/>
            <a:gdLst/>
            <a:ahLst/>
            <a:cxnLst/>
            <a:rect l="l" t="t" r="r" b="b"/>
            <a:pathLst>
              <a:path w="355600" h="355600">
                <a:moveTo>
                  <a:pt x="0" y="44450"/>
                </a:moveTo>
                <a:cubicBezTo>
                  <a:pt x="0" y="19933"/>
                  <a:pt x="26577" y="0"/>
                  <a:pt x="59267" y="0"/>
                </a:cubicBezTo>
                <a:lnTo>
                  <a:pt x="197710" y="0"/>
                </a:lnTo>
                <a:cubicBezTo>
                  <a:pt x="213453" y="0"/>
                  <a:pt x="228547" y="4653"/>
                  <a:pt x="239660" y="12988"/>
                </a:cubicBezTo>
                <a:lnTo>
                  <a:pt x="338283" y="87025"/>
                </a:lnTo>
                <a:cubicBezTo>
                  <a:pt x="349396" y="95359"/>
                  <a:pt x="355600" y="106680"/>
                  <a:pt x="355600" y="118487"/>
                </a:cubicBezTo>
                <a:lnTo>
                  <a:pt x="355600" y="311150"/>
                </a:lnTo>
                <a:cubicBezTo>
                  <a:pt x="355600" y="335667"/>
                  <a:pt x="329023" y="355600"/>
                  <a:pt x="296333" y="355600"/>
                </a:cubicBezTo>
                <a:lnTo>
                  <a:pt x="59267" y="355600"/>
                </a:lnTo>
                <a:cubicBezTo>
                  <a:pt x="26577" y="355600"/>
                  <a:pt x="0" y="335667"/>
                  <a:pt x="0" y="311150"/>
                </a:cubicBezTo>
                <a:lnTo>
                  <a:pt x="0" y="44450"/>
                </a:lnTo>
                <a:close/>
                <a:moveTo>
                  <a:pt x="192617" y="40630"/>
                </a:moveTo>
                <a:lnTo>
                  <a:pt x="192617" y="105569"/>
                </a:lnTo>
                <a:cubicBezTo>
                  <a:pt x="192617" y="114806"/>
                  <a:pt x="202525" y="122238"/>
                  <a:pt x="214842" y="122238"/>
                </a:cubicBezTo>
                <a:lnTo>
                  <a:pt x="301427" y="122238"/>
                </a:lnTo>
                <a:lnTo>
                  <a:pt x="192617" y="40630"/>
                </a:lnTo>
                <a:close/>
                <a:moveTo>
                  <a:pt x="111125" y="177800"/>
                </a:moveTo>
                <a:cubicBezTo>
                  <a:pt x="98809" y="177800"/>
                  <a:pt x="88900" y="185231"/>
                  <a:pt x="88900" y="194469"/>
                </a:cubicBezTo>
                <a:cubicBezTo>
                  <a:pt x="88900" y="203706"/>
                  <a:pt x="98809" y="211138"/>
                  <a:pt x="111125" y="211138"/>
                </a:cubicBezTo>
                <a:lnTo>
                  <a:pt x="244475" y="211138"/>
                </a:lnTo>
                <a:cubicBezTo>
                  <a:pt x="256791" y="211138"/>
                  <a:pt x="266700" y="203706"/>
                  <a:pt x="266700" y="194469"/>
                </a:cubicBezTo>
                <a:cubicBezTo>
                  <a:pt x="266700" y="185231"/>
                  <a:pt x="256791" y="177800"/>
                  <a:pt x="244475" y="177800"/>
                </a:cubicBezTo>
                <a:lnTo>
                  <a:pt x="111125" y="177800"/>
                </a:lnTo>
                <a:close/>
                <a:moveTo>
                  <a:pt x="111125" y="244475"/>
                </a:moveTo>
                <a:cubicBezTo>
                  <a:pt x="98809" y="244475"/>
                  <a:pt x="88900" y="251906"/>
                  <a:pt x="88900" y="261144"/>
                </a:cubicBezTo>
                <a:cubicBezTo>
                  <a:pt x="88900" y="270381"/>
                  <a:pt x="98809" y="277813"/>
                  <a:pt x="111125" y="277813"/>
                </a:cubicBezTo>
                <a:lnTo>
                  <a:pt x="244475" y="277813"/>
                </a:lnTo>
                <a:cubicBezTo>
                  <a:pt x="256791" y="277813"/>
                  <a:pt x="266700" y="270381"/>
                  <a:pt x="266700" y="261144"/>
                </a:cubicBezTo>
                <a:cubicBezTo>
                  <a:pt x="266700" y="251906"/>
                  <a:pt x="256791" y="244475"/>
                  <a:pt x="244475" y="244475"/>
                </a:cubicBezTo>
                <a:lnTo>
                  <a:pt x="111125" y="244475"/>
                </a:lnTo>
                <a:close/>
              </a:path>
            </a:pathLst>
          </a:custGeom>
          <a:solidFill>
            <a:srgbClr val="00ACC1"/>
          </a:solidFill>
          <a:ln/>
        </p:spPr>
        <p:txBody>
          <a:bodyPr/>
          <a:lstStyle/>
          <a:p>
            <a:endParaRPr lang="ru-R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4239718" y="2779864"/>
            <a:ext cx="3682219" cy="8878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>
              <a:lnSpc>
                <a:spcPct val="130000"/>
              </a:lnSpc>
            </a:pPr>
            <a:r>
              <a:rPr lang="en-US" sz="2000" b="1" dirty="0">
                <a:solidFill>
                  <a:srgbClr val="2D3748"/>
                </a:solidFill>
                <a:latin typeface="Arial" panose="020B0604020202020204" pitchFamily="34" charset="0"/>
                <a:ea typeface="Quattrocento Sans" pitchFamily="34" charset="-122"/>
                <a:cs typeface="Arial" panose="020B0604020202020204" pitchFamily="34" charset="0"/>
              </a:rPr>
              <a:t>UML-</a:t>
            </a:r>
            <a:r>
              <a:rPr lang="ru-RU" sz="2000" b="1" dirty="0">
                <a:solidFill>
                  <a:srgbClr val="2D3748"/>
                </a:solidFill>
                <a:latin typeface="Arial" panose="020B0604020202020204" pitchFamily="34" charset="0"/>
                <a:ea typeface="Quattrocento Sans" pitchFamily="34" charset="-122"/>
                <a:cs typeface="Arial" panose="020B0604020202020204" pitchFamily="34" charset="0"/>
              </a:rPr>
              <a:t>диаграммы</a:t>
            </a:r>
            <a:endParaRPr 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8127999" y="2032323"/>
            <a:ext cx="3854115" cy="225922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  <a:effectLst>
            <a:outerShdw blurRad="127000" dist="25400" dir="5400000" algn="bl" rotWithShape="0">
              <a:srgbClr val="000000">
                <a:alpha val="8235"/>
              </a:srgbClr>
            </a:outerShdw>
          </a:effectLst>
        </p:spPr>
        <p:txBody>
          <a:bodyPr/>
          <a:lstStyle/>
          <a:p>
            <a:endParaRPr lang="ru-R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1" name="Shape 19"/>
          <p:cNvSpPr/>
          <p:nvPr/>
        </p:nvSpPr>
        <p:spPr>
          <a:xfrm>
            <a:off x="8478252" y="2189353"/>
            <a:ext cx="372121" cy="451845"/>
          </a:xfrm>
          <a:custGeom>
            <a:avLst/>
            <a:gdLst/>
            <a:ahLst/>
            <a:cxnLst/>
            <a:rect l="l" t="t" r="r" b="b"/>
            <a:pathLst>
              <a:path w="355600" h="355600">
                <a:moveTo>
                  <a:pt x="304800" y="355600"/>
                </a:moveTo>
                <a:lnTo>
                  <a:pt x="76200" y="355600"/>
                </a:lnTo>
                <a:cubicBezTo>
                  <a:pt x="34131" y="355600"/>
                  <a:pt x="0" y="325735"/>
                  <a:pt x="0" y="288925"/>
                </a:cubicBezTo>
                <a:lnTo>
                  <a:pt x="0" y="66675"/>
                </a:lnTo>
                <a:cubicBezTo>
                  <a:pt x="0" y="29865"/>
                  <a:pt x="34131" y="0"/>
                  <a:pt x="76200" y="0"/>
                </a:cubicBezTo>
                <a:lnTo>
                  <a:pt x="317500" y="0"/>
                </a:lnTo>
                <a:cubicBezTo>
                  <a:pt x="338534" y="0"/>
                  <a:pt x="355600" y="14932"/>
                  <a:pt x="355600" y="33337"/>
                </a:cubicBezTo>
                <a:lnTo>
                  <a:pt x="355600" y="233363"/>
                </a:lnTo>
                <a:cubicBezTo>
                  <a:pt x="355600" y="247878"/>
                  <a:pt x="344964" y="260241"/>
                  <a:pt x="330200" y="264825"/>
                </a:cubicBezTo>
                <a:lnTo>
                  <a:pt x="330200" y="311150"/>
                </a:lnTo>
                <a:cubicBezTo>
                  <a:pt x="344249" y="311150"/>
                  <a:pt x="355600" y="321082"/>
                  <a:pt x="355600" y="333375"/>
                </a:cubicBezTo>
                <a:cubicBezTo>
                  <a:pt x="355600" y="345668"/>
                  <a:pt x="344249" y="355600"/>
                  <a:pt x="330200" y="355600"/>
                </a:cubicBezTo>
                <a:lnTo>
                  <a:pt x="304800" y="355600"/>
                </a:lnTo>
                <a:close/>
                <a:moveTo>
                  <a:pt x="76200" y="266700"/>
                </a:moveTo>
                <a:cubicBezTo>
                  <a:pt x="62151" y="266700"/>
                  <a:pt x="50800" y="276632"/>
                  <a:pt x="50800" y="288925"/>
                </a:cubicBezTo>
                <a:cubicBezTo>
                  <a:pt x="50800" y="301218"/>
                  <a:pt x="62151" y="311150"/>
                  <a:pt x="76200" y="311150"/>
                </a:cubicBezTo>
                <a:lnTo>
                  <a:pt x="279400" y="311150"/>
                </a:lnTo>
                <a:lnTo>
                  <a:pt x="279400" y="266700"/>
                </a:lnTo>
                <a:lnTo>
                  <a:pt x="76200" y="266700"/>
                </a:lnTo>
                <a:close/>
                <a:moveTo>
                  <a:pt x="101600" y="105569"/>
                </a:moveTo>
                <a:cubicBezTo>
                  <a:pt x="101600" y="114806"/>
                  <a:pt x="110093" y="122238"/>
                  <a:pt x="120650" y="122238"/>
                </a:cubicBezTo>
                <a:lnTo>
                  <a:pt x="260350" y="122238"/>
                </a:lnTo>
                <a:cubicBezTo>
                  <a:pt x="270907" y="122238"/>
                  <a:pt x="279400" y="114806"/>
                  <a:pt x="279400" y="105569"/>
                </a:cubicBezTo>
                <a:cubicBezTo>
                  <a:pt x="279400" y="96331"/>
                  <a:pt x="270907" y="88900"/>
                  <a:pt x="260350" y="88900"/>
                </a:cubicBezTo>
                <a:lnTo>
                  <a:pt x="120650" y="88900"/>
                </a:lnTo>
                <a:cubicBezTo>
                  <a:pt x="110093" y="88900"/>
                  <a:pt x="101600" y="96331"/>
                  <a:pt x="101600" y="105569"/>
                </a:cubicBezTo>
                <a:close/>
                <a:moveTo>
                  <a:pt x="120650" y="155575"/>
                </a:moveTo>
                <a:cubicBezTo>
                  <a:pt x="110093" y="155575"/>
                  <a:pt x="101600" y="163006"/>
                  <a:pt x="101600" y="172244"/>
                </a:cubicBezTo>
                <a:cubicBezTo>
                  <a:pt x="101600" y="181481"/>
                  <a:pt x="110093" y="188913"/>
                  <a:pt x="120650" y="188913"/>
                </a:cubicBezTo>
                <a:lnTo>
                  <a:pt x="260350" y="188913"/>
                </a:lnTo>
                <a:cubicBezTo>
                  <a:pt x="270907" y="188913"/>
                  <a:pt x="279400" y="181481"/>
                  <a:pt x="279400" y="172244"/>
                </a:cubicBezTo>
                <a:cubicBezTo>
                  <a:pt x="279400" y="163006"/>
                  <a:pt x="270907" y="155575"/>
                  <a:pt x="260350" y="155575"/>
                </a:cubicBezTo>
                <a:lnTo>
                  <a:pt x="120650" y="155575"/>
                </a:lnTo>
                <a:close/>
              </a:path>
            </a:pathLst>
          </a:custGeom>
          <a:solidFill>
            <a:srgbClr val="00ACC1"/>
          </a:solidFill>
          <a:ln/>
        </p:spPr>
        <p:txBody>
          <a:bodyPr/>
          <a:lstStyle/>
          <a:p>
            <a:endParaRPr lang="ru-RU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2" name="Text 20"/>
          <p:cNvSpPr/>
          <p:nvPr/>
        </p:nvSpPr>
        <p:spPr>
          <a:xfrm>
            <a:off x="8381998" y="2705423"/>
            <a:ext cx="3600115" cy="8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>
              <a:lnSpc>
                <a:spcPct val="130000"/>
              </a:lnSpc>
            </a:pPr>
            <a:r>
              <a:rPr lang="ru-RU" sz="2000" b="1" dirty="0">
                <a:solidFill>
                  <a:srgbClr val="2D3748"/>
                </a:solidFill>
                <a:latin typeface="Arial" panose="020B0604020202020204" pitchFamily="34" charset="0"/>
                <a:ea typeface="Quattrocento Sans" pitchFamily="34" charset="-122"/>
                <a:cs typeface="Arial" panose="020B0604020202020204" pitchFamily="34" charset="0"/>
              </a:rPr>
              <a:t>Руководство пользователя</a:t>
            </a:r>
            <a:endParaRPr 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3" name="Shape 21"/>
          <p:cNvSpPr/>
          <p:nvPr/>
        </p:nvSpPr>
        <p:spPr>
          <a:xfrm>
            <a:off x="3936999" y="4774398"/>
            <a:ext cx="3757863" cy="22599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  <a:effectLst>
            <a:outerShdw blurRad="127000" dist="25400" dir="5400000" algn="bl" rotWithShape="0">
              <a:srgbClr val="000000">
                <a:alpha val="8235"/>
              </a:srgbClr>
            </a:outerShdw>
          </a:effectLst>
        </p:spPr>
        <p:txBody>
          <a:bodyPr/>
          <a:lstStyle/>
          <a:p>
            <a:endParaRPr lang="ru-R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4239718" y="5149850"/>
            <a:ext cx="536819" cy="451986"/>
          </a:xfrm>
          <a:custGeom>
            <a:avLst/>
            <a:gdLst/>
            <a:ahLst/>
            <a:cxnLst/>
            <a:rect l="l" t="t" r="r" b="b"/>
            <a:pathLst>
              <a:path w="355600" h="355600">
                <a:moveTo>
                  <a:pt x="142518" y="5556"/>
                </a:moveTo>
                <a:cubicBezTo>
                  <a:pt x="179317" y="5556"/>
                  <a:pt x="209193" y="42901"/>
                  <a:pt x="209193" y="88900"/>
                </a:cubicBezTo>
                <a:cubicBezTo>
                  <a:pt x="209193" y="134899"/>
                  <a:pt x="179317" y="172244"/>
                  <a:pt x="142518" y="172244"/>
                </a:cubicBezTo>
                <a:cubicBezTo>
                  <a:pt x="105719" y="172244"/>
                  <a:pt x="75843" y="134899"/>
                  <a:pt x="75843" y="88900"/>
                </a:cubicBezTo>
                <a:cubicBezTo>
                  <a:pt x="75843" y="42901"/>
                  <a:pt x="105719" y="5556"/>
                  <a:pt x="142518" y="5556"/>
                </a:cubicBezTo>
                <a:close/>
                <a:moveTo>
                  <a:pt x="125960" y="211138"/>
                </a:moveTo>
                <a:lnTo>
                  <a:pt x="158964" y="211138"/>
                </a:lnTo>
                <a:lnTo>
                  <a:pt x="159798" y="211138"/>
                </a:lnTo>
                <a:cubicBezTo>
                  <a:pt x="152630" y="229751"/>
                  <a:pt x="155464" y="251559"/>
                  <a:pt x="166187" y="266353"/>
                </a:cubicBezTo>
                <a:cubicBezTo>
                  <a:pt x="154964" y="281841"/>
                  <a:pt x="152408" y="305108"/>
                  <a:pt x="160965" y="324277"/>
                </a:cubicBezTo>
                <a:lnTo>
                  <a:pt x="173466" y="352336"/>
                </a:lnTo>
                <a:cubicBezTo>
                  <a:pt x="173966" y="353447"/>
                  <a:pt x="174522" y="354558"/>
                  <a:pt x="175077" y="355600"/>
                </a:cubicBezTo>
                <a:lnTo>
                  <a:pt x="43394" y="355600"/>
                </a:lnTo>
                <a:cubicBezTo>
                  <a:pt x="34282" y="355600"/>
                  <a:pt x="26892" y="346363"/>
                  <a:pt x="26892" y="334972"/>
                </a:cubicBezTo>
                <a:cubicBezTo>
                  <a:pt x="26892" y="266561"/>
                  <a:pt x="71231" y="211137"/>
                  <a:pt x="125960" y="211137"/>
                </a:cubicBezTo>
                <a:close/>
                <a:moveTo>
                  <a:pt x="240363" y="171966"/>
                </a:moveTo>
                <a:cubicBezTo>
                  <a:pt x="240363" y="162729"/>
                  <a:pt x="246309" y="155297"/>
                  <a:pt x="253698" y="155297"/>
                </a:cubicBezTo>
                <a:lnTo>
                  <a:pt x="280368" y="155297"/>
                </a:lnTo>
                <a:cubicBezTo>
                  <a:pt x="287758" y="155297"/>
                  <a:pt x="293703" y="162729"/>
                  <a:pt x="293703" y="171966"/>
                </a:cubicBezTo>
                <a:lnTo>
                  <a:pt x="293703" y="176203"/>
                </a:lnTo>
                <a:cubicBezTo>
                  <a:pt x="293703" y="189329"/>
                  <a:pt x="307094" y="198983"/>
                  <a:pt x="316206" y="192455"/>
                </a:cubicBezTo>
                <a:lnTo>
                  <a:pt x="318984" y="190440"/>
                </a:lnTo>
                <a:cubicBezTo>
                  <a:pt x="325430" y="185787"/>
                  <a:pt x="333708" y="188635"/>
                  <a:pt x="337320" y="196761"/>
                </a:cubicBezTo>
                <a:lnTo>
                  <a:pt x="349766" y="224681"/>
                </a:lnTo>
                <a:cubicBezTo>
                  <a:pt x="353211" y="232460"/>
                  <a:pt x="351211" y="242183"/>
                  <a:pt x="345210" y="246906"/>
                </a:cubicBezTo>
                <a:lnTo>
                  <a:pt x="342598" y="248920"/>
                </a:lnTo>
                <a:cubicBezTo>
                  <a:pt x="333597" y="255935"/>
                  <a:pt x="333597" y="276632"/>
                  <a:pt x="342598" y="283716"/>
                </a:cubicBezTo>
                <a:lnTo>
                  <a:pt x="345154" y="285730"/>
                </a:lnTo>
                <a:cubicBezTo>
                  <a:pt x="351155" y="290453"/>
                  <a:pt x="353211" y="300176"/>
                  <a:pt x="349766" y="307955"/>
                </a:cubicBezTo>
                <a:lnTo>
                  <a:pt x="337264" y="336014"/>
                </a:lnTo>
                <a:cubicBezTo>
                  <a:pt x="333653" y="344140"/>
                  <a:pt x="325374" y="347057"/>
                  <a:pt x="318929" y="342334"/>
                </a:cubicBezTo>
                <a:lnTo>
                  <a:pt x="316206" y="340320"/>
                </a:lnTo>
                <a:cubicBezTo>
                  <a:pt x="307094" y="333722"/>
                  <a:pt x="293703" y="343446"/>
                  <a:pt x="293703" y="356572"/>
                </a:cubicBezTo>
                <a:lnTo>
                  <a:pt x="293703" y="360809"/>
                </a:lnTo>
                <a:cubicBezTo>
                  <a:pt x="293703" y="370046"/>
                  <a:pt x="287758" y="377478"/>
                  <a:pt x="280368" y="377478"/>
                </a:cubicBezTo>
                <a:lnTo>
                  <a:pt x="253698" y="377478"/>
                </a:lnTo>
                <a:cubicBezTo>
                  <a:pt x="246309" y="377478"/>
                  <a:pt x="240363" y="370046"/>
                  <a:pt x="240363" y="360809"/>
                </a:cubicBezTo>
                <a:lnTo>
                  <a:pt x="240363" y="356711"/>
                </a:lnTo>
                <a:cubicBezTo>
                  <a:pt x="240363" y="343515"/>
                  <a:pt x="226917" y="333792"/>
                  <a:pt x="217749" y="340390"/>
                </a:cubicBezTo>
                <a:lnTo>
                  <a:pt x="215082" y="342334"/>
                </a:lnTo>
                <a:cubicBezTo>
                  <a:pt x="208637" y="346988"/>
                  <a:pt x="200414" y="344140"/>
                  <a:pt x="196747" y="336014"/>
                </a:cubicBezTo>
                <a:lnTo>
                  <a:pt x="184190" y="307955"/>
                </a:lnTo>
                <a:cubicBezTo>
                  <a:pt x="180745" y="300176"/>
                  <a:pt x="182745" y="290384"/>
                  <a:pt x="188801" y="285661"/>
                </a:cubicBezTo>
                <a:lnTo>
                  <a:pt x="191246" y="283785"/>
                </a:lnTo>
                <a:cubicBezTo>
                  <a:pt x="200303" y="276771"/>
                  <a:pt x="200303" y="255935"/>
                  <a:pt x="191246" y="248920"/>
                </a:cubicBezTo>
                <a:lnTo>
                  <a:pt x="188746" y="246975"/>
                </a:lnTo>
                <a:cubicBezTo>
                  <a:pt x="182689" y="242253"/>
                  <a:pt x="180689" y="232460"/>
                  <a:pt x="184134" y="224681"/>
                </a:cubicBezTo>
                <a:lnTo>
                  <a:pt x="196636" y="196691"/>
                </a:lnTo>
                <a:cubicBezTo>
                  <a:pt x="200247" y="188565"/>
                  <a:pt x="208526" y="185718"/>
                  <a:pt x="214916" y="190371"/>
                </a:cubicBezTo>
                <a:lnTo>
                  <a:pt x="217583" y="192316"/>
                </a:lnTo>
                <a:cubicBezTo>
                  <a:pt x="226751" y="198914"/>
                  <a:pt x="240197" y="189190"/>
                  <a:pt x="240197" y="175994"/>
                </a:cubicBezTo>
                <a:lnTo>
                  <a:pt x="240197" y="171896"/>
                </a:lnTo>
                <a:close/>
                <a:moveTo>
                  <a:pt x="295870" y="266561"/>
                </a:moveTo>
                <a:cubicBezTo>
                  <a:pt x="295870" y="246628"/>
                  <a:pt x="282924" y="230445"/>
                  <a:pt x="266978" y="230445"/>
                </a:cubicBezTo>
                <a:cubicBezTo>
                  <a:pt x="251032" y="230445"/>
                  <a:pt x="238085" y="246628"/>
                  <a:pt x="238085" y="266561"/>
                </a:cubicBezTo>
                <a:cubicBezTo>
                  <a:pt x="238085" y="286494"/>
                  <a:pt x="251032" y="302677"/>
                  <a:pt x="266978" y="302677"/>
                </a:cubicBezTo>
                <a:cubicBezTo>
                  <a:pt x="282924" y="302677"/>
                  <a:pt x="295870" y="286494"/>
                  <a:pt x="295870" y="266561"/>
                </a:cubicBezTo>
                <a:close/>
              </a:path>
            </a:pathLst>
          </a:custGeom>
          <a:solidFill>
            <a:srgbClr val="00ACC1"/>
          </a:solidFill>
          <a:ln/>
        </p:spPr>
        <p:txBody>
          <a:bodyPr/>
          <a:lstStyle/>
          <a:p>
            <a:endParaRPr lang="ru-R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4239719" y="5740100"/>
            <a:ext cx="3201143" cy="8878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>
              <a:lnSpc>
                <a:spcPct val="130000"/>
              </a:lnSpc>
            </a:pPr>
            <a:r>
              <a:rPr lang="ru-RU" sz="2000" b="1" dirty="0">
                <a:solidFill>
                  <a:srgbClr val="2D3748"/>
                </a:solidFill>
                <a:latin typeface="Arial" panose="020B0604020202020204" pitchFamily="34" charset="0"/>
                <a:ea typeface="Quattrocento Sans" pitchFamily="34" charset="-122"/>
                <a:cs typeface="Arial" panose="020B0604020202020204" pitchFamily="34" charset="0"/>
              </a:rPr>
              <a:t>Руководство администратора</a:t>
            </a:r>
            <a:endParaRPr 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9" name="Shape 27"/>
          <p:cNvSpPr/>
          <p:nvPr/>
        </p:nvSpPr>
        <p:spPr>
          <a:xfrm>
            <a:off x="8224252" y="4774398"/>
            <a:ext cx="3757863" cy="22599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  <a:effectLst>
            <a:outerShdw blurRad="127000" dist="25400" dir="5400000" algn="bl" rotWithShape="0">
              <a:srgbClr val="000000">
                <a:alpha val="8235"/>
              </a:srgbClr>
            </a:outerShdw>
          </a:effectLst>
        </p:spPr>
        <p:txBody>
          <a:bodyPr/>
          <a:lstStyle/>
          <a:p>
            <a:endParaRPr lang="ru-R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0" name="Shape 28"/>
          <p:cNvSpPr/>
          <p:nvPr/>
        </p:nvSpPr>
        <p:spPr>
          <a:xfrm>
            <a:off x="8478252" y="5113042"/>
            <a:ext cx="389705" cy="525601"/>
          </a:xfrm>
          <a:custGeom>
            <a:avLst/>
            <a:gdLst/>
            <a:ahLst/>
            <a:cxnLst/>
            <a:rect l="l" t="t" r="r" b="b"/>
            <a:pathLst>
              <a:path w="355600" h="355600">
                <a:moveTo>
                  <a:pt x="288369" y="22225"/>
                </a:moveTo>
                <a:lnTo>
                  <a:pt x="296333" y="22225"/>
                </a:lnTo>
                <a:cubicBezTo>
                  <a:pt x="329023" y="22225"/>
                  <a:pt x="355600" y="42158"/>
                  <a:pt x="355600" y="66675"/>
                </a:cubicBezTo>
                <a:lnTo>
                  <a:pt x="355600" y="311150"/>
                </a:lnTo>
                <a:cubicBezTo>
                  <a:pt x="355600" y="335667"/>
                  <a:pt x="329023" y="355600"/>
                  <a:pt x="296333" y="355600"/>
                </a:cubicBezTo>
                <a:lnTo>
                  <a:pt x="59267" y="355600"/>
                </a:lnTo>
                <a:cubicBezTo>
                  <a:pt x="26577" y="355600"/>
                  <a:pt x="0" y="335667"/>
                  <a:pt x="0" y="311150"/>
                </a:cubicBezTo>
                <a:lnTo>
                  <a:pt x="0" y="66675"/>
                </a:lnTo>
                <a:cubicBezTo>
                  <a:pt x="0" y="42158"/>
                  <a:pt x="26577" y="22225"/>
                  <a:pt x="59267" y="22225"/>
                </a:cubicBezTo>
                <a:lnTo>
                  <a:pt x="67231" y="22225"/>
                </a:lnTo>
                <a:cubicBezTo>
                  <a:pt x="77417" y="8959"/>
                  <a:pt x="96586" y="0"/>
                  <a:pt x="118533" y="0"/>
                </a:cubicBezTo>
                <a:lnTo>
                  <a:pt x="237067" y="0"/>
                </a:lnTo>
                <a:cubicBezTo>
                  <a:pt x="259014" y="0"/>
                  <a:pt x="278183" y="8959"/>
                  <a:pt x="288369" y="22225"/>
                </a:cubicBezTo>
                <a:close/>
                <a:moveTo>
                  <a:pt x="229658" y="77788"/>
                </a:moveTo>
                <a:cubicBezTo>
                  <a:pt x="241975" y="77788"/>
                  <a:pt x="251883" y="70356"/>
                  <a:pt x="251883" y="61119"/>
                </a:cubicBezTo>
                <a:cubicBezTo>
                  <a:pt x="251883" y="51881"/>
                  <a:pt x="241975" y="44450"/>
                  <a:pt x="229658" y="44450"/>
                </a:cubicBezTo>
                <a:lnTo>
                  <a:pt x="125942" y="44450"/>
                </a:lnTo>
                <a:cubicBezTo>
                  <a:pt x="113625" y="44450"/>
                  <a:pt x="103717" y="51881"/>
                  <a:pt x="103717" y="61119"/>
                </a:cubicBezTo>
                <a:cubicBezTo>
                  <a:pt x="103717" y="70356"/>
                  <a:pt x="113625" y="77788"/>
                  <a:pt x="125942" y="77788"/>
                </a:cubicBezTo>
                <a:lnTo>
                  <a:pt x="229658" y="77788"/>
                </a:lnTo>
                <a:close/>
                <a:moveTo>
                  <a:pt x="118533" y="177800"/>
                </a:moveTo>
                <a:cubicBezTo>
                  <a:pt x="118533" y="165534"/>
                  <a:pt x="105255" y="155575"/>
                  <a:pt x="88900" y="155575"/>
                </a:cubicBezTo>
                <a:cubicBezTo>
                  <a:pt x="72545" y="155575"/>
                  <a:pt x="59267" y="165534"/>
                  <a:pt x="59267" y="177800"/>
                </a:cubicBezTo>
                <a:cubicBezTo>
                  <a:pt x="59267" y="190066"/>
                  <a:pt x="72545" y="200025"/>
                  <a:pt x="88900" y="200025"/>
                </a:cubicBezTo>
                <a:cubicBezTo>
                  <a:pt x="105255" y="200025"/>
                  <a:pt x="118533" y="190066"/>
                  <a:pt x="118533" y="177800"/>
                </a:cubicBezTo>
                <a:close/>
                <a:moveTo>
                  <a:pt x="148167" y="177800"/>
                </a:moveTo>
                <a:cubicBezTo>
                  <a:pt x="148167" y="187037"/>
                  <a:pt x="158075" y="194469"/>
                  <a:pt x="170392" y="194469"/>
                </a:cubicBezTo>
                <a:lnTo>
                  <a:pt x="274108" y="194469"/>
                </a:lnTo>
                <a:cubicBezTo>
                  <a:pt x="286425" y="194469"/>
                  <a:pt x="296333" y="187037"/>
                  <a:pt x="296333" y="177800"/>
                </a:cubicBezTo>
                <a:cubicBezTo>
                  <a:pt x="296333" y="168563"/>
                  <a:pt x="286425" y="161131"/>
                  <a:pt x="274108" y="161131"/>
                </a:cubicBezTo>
                <a:lnTo>
                  <a:pt x="170392" y="161131"/>
                </a:lnTo>
                <a:cubicBezTo>
                  <a:pt x="158075" y="161131"/>
                  <a:pt x="148167" y="168563"/>
                  <a:pt x="148167" y="177800"/>
                </a:cubicBezTo>
                <a:close/>
                <a:moveTo>
                  <a:pt x="148167" y="266700"/>
                </a:moveTo>
                <a:cubicBezTo>
                  <a:pt x="148167" y="275937"/>
                  <a:pt x="158075" y="283369"/>
                  <a:pt x="170392" y="283369"/>
                </a:cubicBezTo>
                <a:lnTo>
                  <a:pt x="274108" y="283369"/>
                </a:lnTo>
                <a:cubicBezTo>
                  <a:pt x="286425" y="283369"/>
                  <a:pt x="296333" y="275937"/>
                  <a:pt x="296333" y="266700"/>
                </a:cubicBezTo>
                <a:cubicBezTo>
                  <a:pt x="296333" y="257463"/>
                  <a:pt x="286425" y="250031"/>
                  <a:pt x="274108" y="250031"/>
                </a:cubicBezTo>
                <a:lnTo>
                  <a:pt x="170392" y="250031"/>
                </a:lnTo>
                <a:cubicBezTo>
                  <a:pt x="158075" y="250031"/>
                  <a:pt x="148167" y="257463"/>
                  <a:pt x="148167" y="266700"/>
                </a:cubicBezTo>
                <a:close/>
                <a:moveTo>
                  <a:pt x="88900" y="288925"/>
                </a:moveTo>
                <a:cubicBezTo>
                  <a:pt x="105255" y="288925"/>
                  <a:pt x="118533" y="278966"/>
                  <a:pt x="118533" y="266700"/>
                </a:cubicBezTo>
                <a:cubicBezTo>
                  <a:pt x="118533" y="254434"/>
                  <a:pt x="105255" y="244475"/>
                  <a:pt x="88900" y="244475"/>
                </a:cubicBezTo>
                <a:cubicBezTo>
                  <a:pt x="72545" y="244475"/>
                  <a:pt x="59267" y="254434"/>
                  <a:pt x="59267" y="266700"/>
                </a:cubicBezTo>
                <a:cubicBezTo>
                  <a:pt x="59267" y="278966"/>
                  <a:pt x="72545" y="288925"/>
                  <a:pt x="88900" y="288925"/>
                </a:cubicBezTo>
                <a:close/>
              </a:path>
            </a:pathLst>
          </a:custGeom>
          <a:solidFill>
            <a:srgbClr val="00ACC1"/>
          </a:solidFill>
          <a:ln/>
        </p:spPr>
        <p:txBody>
          <a:bodyPr/>
          <a:lstStyle/>
          <a:p>
            <a:endParaRPr lang="ru-RU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1" name="Text 29"/>
          <p:cNvSpPr/>
          <p:nvPr/>
        </p:nvSpPr>
        <p:spPr>
          <a:xfrm>
            <a:off x="8478252" y="5675451"/>
            <a:ext cx="3201143" cy="8878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>
              <a:lnSpc>
                <a:spcPct val="130000"/>
              </a:lnSpc>
            </a:pPr>
            <a:r>
              <a:rPr lang="ru-RU" sz="2000" b="1" dirty="0">
                <a:solidFill>
                  <a:srgbClr val="2D3748"/>
                </a:solidFill>
                <a:latin typeface="Arial" panose="020B0604020202020204" pitchFamily="34" charset="0"/>
                <a:ea typeface="Quattrocento Sans" pitchFamily="34" charset="-122"/>
                <a:cs typeface="Arial" panose="020B0604020202020204" pitchFamily="34" charset="0"/>
              </a:rPr>
              <a:t>План технический испытаний</a:t>
            </a:r>
            <a:endParaRPr 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  <p:transition>
    <p:fade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0F2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256000" cy="508000"/>
          </a:xfrm>
          <a:prstGeom prst="rect">
            <a:avLst/>
          </a:prstGeom>
          <a:solidFill>
            <a:srgbClr val="1A1F3C"/>
          </a:solidFill>
          <a:ln/>
        </p:spPr>
        <p:txBody>
          <a:bodyPr/>
          <a:lstStyle/>
          <a:p>
            <a:endParaRPr lang="ru-R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0" y="0"/>
            <a:ext cx="4064000" cy="508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ru-RU" sz="120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О проекте</a:t>
            </a:r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Text 2"/>
          <p:cNvSpPr/>
          <p:nvPr/>
        </p:nvSpPr>
        <p:spPr>
          <a:xfrm>
            <a:off x="4064000" y="0"/>
            <a:ext cx="4064000" cy="508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ru-RU" sz="1200" dirty="0">
                <a:solidFill>
                  <a:srgbClr val="FFFFFF"/>
                </a:solidFill>
                <a:latin typeface="Arial" panose="020B0604020202020204" pitchFamily="34" charset="0"/>
                <a:ea typeface="Quattrocento Sans" pitchFamily="34" charset="-122"/>
                <a:cs typeface="Arial" panose="020B0604020202020204" pitchFamily="34" charset="0"/>
              </a:rPr>
              <a:t>Архитектура</a:t>
            </a:r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Text 3"/>
          <p:cNvSpPr/>
          <p:nvPr/>
        </p:nvSpPr>
        <p:spPr>
          <a:xfrm>
            <a:off x="8128000" y="0"/>
            <a:ext cx="4064000" cy="508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ru-RU" sz="1200" dirty="0">
                <a:solidFill>
                  <a:srgbClr val="FFFFFF"/>
                </a:solidFill>
                <a:latin typeface="Arial" panose="020B0604020202020204" pitchFamily="34" charset="0"/>
                <a:ea typeface="Quattrocento Sans" pitchFamily="34" charset="-122"/>
                <a:cs typeface="Arial" panose="020B0604020202020204" pitchFamily="34" charset="0"/>
              </a:rPr>
              <a:t>Функционал</a:t>
            </a:r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Text 4"/>
          <p:cNvSpPr/>
          <p:nvPr/>
        </p:nvSpPr>
        <p:spPr>
          <a:xfrm>
            <a:off x="12192000" y="0"/>
            <a:ext cx="4064000" cy="457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ru-RU" sz="1200" b="1" dirty="0">
                <a:solidFill>
                  <a:srgbClr val="FFFFFF"/>
                </a:solidFill>
                <a:latin typeface="Arial" panose="020B0604020202020204" pitchFamily="34" charset="0"/>
                <a:ea typeface="Quattrocento Sans" pitchFamily="34" charset="-122"/>
                <a:cs typeface="Arial" panose="020B0604020202020204" pitchFamily="34" charset="0"/>
              </a:rPr>
              <a:t>Документация</a:t>
            </a:r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Shape 5"/>
          <p:cNvSpPr/>
          <p:nvPr/>
        </p:nvSpPr>
        <p:spPr>
          <a:xfrm>
            <a:off x="13589000" y="469900"/>
            <a:ext cx="1270000" cy="38100"/>
          </a:xfrm>
          <a:prstGeom prst="rect">
            <a:avLst/>
          </a:prstGeom>
          <a:solidFill>
            <a:srgbClr val="00ACC1"/>
          </a:solidFill>
          <a:ln/>
        </p:spPr>
        <p:txBody>
          <a:bodyPr/>
          <a:lstStyle/>
          <a:p>
            <a:endParaRPr lang="ru-R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Text 6"/>
          <p:cNvSpPr/>
          <p:nvPr/>
        </p:nvSpPr>
        <p:spPr>
          <a:xfrm>
            <a:off x="762000" y="698500"/>
            <a:ext cx="10160000" cy="482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ru-RU" sz="2800" b="1" dirty="0">
                <a:solidFill>
                  <a:srgbClr val="1A1F3C"/>
                </a:solidFill>
                <a:latin typeface="Arial" panose="020B0604020202020204" pitchFamily="34" charset="0"/>
                <a:ea typeface="Liter" pitchFamily="34" charset="-122"/>
                <a:cs typeface="Arial" panose="020B0604020202020204" pitchFamily="34" charset="0"/>
              </a:rPr>
              <a:t>Диаграммы классов и последовательностей</a:t>
            </a:r>
            <a:endParaRPr lang="en-US" sz="2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" name="Shape 7"/>
          <p:cNvSpPr/>
          <p:nvPr/>
        </p:nvSpPr>
        <p:spPr>
          <a:xfrm>
            <a:off x="762000" y="1206500"/>
            <a:ext cx="762000" cy="38100"/>
          </a:xfrm>
          <a:prstGeom prst="rect">
            <a:avLst/>
          </a:prstGeom>
          <a:solidFill>
            <a:srgbClr val="00ACC1"/>
          </a:solidFill>
          <a:ln/>
        </p:spPr>
        <p:txBody>
          <a:bodyPr/>
          <a:lstStyle/>
          <a:p>
            <a:endParaRPr lang="ru-R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762000" y="1460500"/>
            <a:ext cx="4826000" cy="6858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  <a:effectLst>
            <a:outerShdw blurRad="152400" dist="38100" dir="5400000" algn="bl" rotWithShape="0">
              <a:srgbClr val="000000">
                <a:alpha val="8235"/>
              </a:srgbClr>
            </a:outerShdw>
          </a:effectLst>
        </p:spPr>
        <p:txBody>
          <a:bodyPr/>
          <a:lstStyle/>
          <a:p>
            <a:endParaRPr lang="ru-R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1" name="Image 0" descr="https://kimi-img.moonshot.cn/pub/slides/okc/gk3dldyex7q72/mnt/agents/output/internalbasewpf/images/image_23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952500" y="1651000"/>
            <a:ext cx="4445000" cy="6096000"/>
          </a:xfrm>
          <a:prstGeom prst="roundRect">
            <a:avLst>
              <a:gd name="adj" fmla="val 4000"/>
            </a:avLst>
          </a:prstGeom>
        </p:spPr>
      </p:pic>
      <p:sp>
        <p:nvSpPr>
          <p:cNvPr id="12" name="Text 9"/>
          <p:cNvSpPr/>
          <p:nvPr/>
        </p:nvSpPr>
        <p:spPr>
          <a:xfrm>
            <a:off x="952500" y="7874000"/>
            <a:ext cx="4445000" cy="317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400" dirty="0">
                <a:solidFill>
                  <a:srgbClr val="64748B"/>
                </a:solidFill>
                <a:latin typeface="Arial" panose="020B0604020202020204" pitchFamily="34" charset="0"/>
                <a:ea typeface="Quattrocento Sans" pitchFamily="34" charset="-122"/>
                <a:cs typeface="Arial" panose="020B0604020202020204" pitchFamily="34" charset="0"/>
              </a:rPr>
              <a:t>Class Diagram</a:t>
            </a:r>
            <a:endParaRPr 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Shape 10"/>
          <p:cNvSpPr/>
          <p:nvPr/>
        </p:nvSpPr>
        <p:spPr>
          <a:xfrm>
            <a:off x="5715000" y="1460500"/>
            <a:ext cx="4826000" cy="6858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  <a:effectLst>
            <a:outerShdw blurRad="152400" dist="38100" dir="5400000" algn="bl" rotWithShape="0">
              <a:srgbClr val="000000">
                <a:alpha val="8235"/>
              </a:srgbClr>
            </a:outerShdw>
          </a:effectLst>
        </p:spPr>
        <p:txBody>
          <a:bodyPr/>
          <a:lstStyle/>
          <a:p>
            <a:endParaRPr lang="ru-R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4" name="Image 1" descr="https://kimi-img.moonshot.cn/pub/slides/okc/gk3dldyex7q72/mnt/agents/output/internalbasewpf/images/image_24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5905500" y="1651000"/>
            <a:ext cx="4445000" cy="6096000"/>
          </a:xfrm>
          <a:prstGeom prst="roundRect">
            <a:avLst>
              <a:gd name="adj" fmla="val 4000"/>
            </a:avLst>
          </a:prstGeom>
        </p:spPr>
      </p:pic>
      <p:sp>
        <p:nvSpPr>
          <p:cNvPr id="15" name="Text 11"/>
          <p:cNvSpPr/>
          <p:nvPr/>
        </p:nvSpPr>
        <p:spPr>
          <a:xfrm>
            <a:off x="5905500" y="7874000"/>
            <a:ext cx="4445000" cy="317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ru-RU" sz="1400" dirty="0">
                <a:solidFill>
                  <a:srgbClr val="64748B"/>
                </a:solidFill>
                <a:latin typeface="Arial" panose="020B0604020202020204" pitchFamily="34" charset="0"/>
                <a:ea typeface="Quattrocento Sans" pitchFamily="34" charset="-122"/>
                <a:cs typeface="Arial" panose="020B0604020202020204" pitchFamily="34" charset="0"/>
              </a:rPr>
              <a:t>Авторизация</a:t>
            </a:r>
            <a:endParaRPr 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6" name="Shape 12"/>
          <p:cNvSpPr/>
          <p:nvPr/>
        </p:nvSpPr>
        <p:spPr>
          <a:xfrm>
            <a:off x="10668000" y="1460500"/>
            <a:ext cx="4826000" cy="6858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  <a:effectLst>
            <a:outerShdw blurRad="152400" dist="38100" dir="5400000" algn="bl" rotWithShape="0">
              <a:srgbClr val="000000">
                <a:alpha val="8235"/>
              </a:srgbClr>
            </a:outerShdw>
          </a:effectLst>
        </p:spPr>
        <p:txBody>
          <a:bodyPr/>
          <a:lstStyle/>
          <a:p>
            <a:endParaRPr lang="ru-R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8" name="Text 13"/>
          <p:cNvSpPr/>
          <p:nvPr/>
        </p:nvSpPr>
        <p:spPr>
          <a:xfrm>
            <a:off x="10858500" y="7874000"/>
            <a:ext cx="4445000" cy="317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ru-RU" sz="1400" dirty="0">
                <a:solidFill>
                  <a:srgbClr val="64748B"/>
                </a:solidFill>
                <a:latin typeface="Arial" panose="020B0604020202020204" pitchFamily="34" charset="0"/>
                <a:ea typeface="Quattrocento Sans" pitchFamily="34" charset="-122"/>
                <a:cs typeface="Arial" panose="020B0604020202020204" pitchFamily="34" charset="0"/>
              </a:rPr>
              <a:t>Добавление активиста</a:t>
            </a:r>
            <a:endParaRPr 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21" name="Рисунок 20">
            <a:extLst>
              <a:ext uri="{FF2B5EF4-FFF2-40B4-BE49-F238E27FC236}">
                <a16:creationId xmlns:a16="http://schemas.microsoft.com/office/drawing/2014/main" id="{9BC6E5A2-116F-6C75-04A1-C836BB9651B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55326" y="1651001"/>
            <a:ext cx="4384674" cy="6032499"/>
          </a:xfrm>
          <a:prstGeom prst="rect">
            <a:avLst/>
          </a:prstGeom>
        </p:spPr>
      </p:pic>
    </p:spTree>
  </p:cSld>
  <p:clrMapOvr>
    <a:masterClrMapping/>
  </p:clrMapOvr>
  <p:transition>
    <p:fade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0F2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256000" cy="508000"/>
          </a:xfrm>
          <a:prstGeom prst="rect">
            <a:avLst/>
          </a:prstGeom>
          <a:solidFill>
            <a:srgbClr val="1A1F3C"/>
          </a:solidFill>
          <a:ln/>
        </p:spPr>
        <p:txBody>
          <a:bodyPr/>
          <a:lstStyle/>
          <a:p>
            <a:endParaRPr lang="ru-R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0" y="0"/>
            <a:ext cx="4064000" cy="508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ru-RU" sz="1200" dirty="0">
                <a:solidFill>
                  <a:srgbClr val="FFFFFF"/>
                </a:solidFill>
                <a:latin typeface="Arial" panose="020B0604020202020204" pitchFamily="34" charset="0"/>
                <a:ea typeface="Quattrocento Sans" pitchFamily="34" charset="-122"/>
                <a:cs typeface="Arial" panose="020B0604020202020204" pitchFamily="34" charset="0"/>
              </a:rPr>
              <a:t>О проекте</a:t>
            </a:r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Text 2"/>
          <p:cNvSpPr/>
          <p:nvPr/>
        </p:nvSpPr>
        <p:spPr>
          <a:xfrm>
            <a:off x="4064000" y="0"/>
            <a:ext cx="4064000" cy="508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ru-RU" sz="1200" dirty="0">
                <a:solidFill>
                  <a:srgbClr val="FFFFFF"/>
                </a:solidFill>
                <a:latin typeface="Arial" panose="020B0604020202020204" pitchFamily="34" charset="0"/>
                <a:ea typeface="Quattrocento Sans" pitchFamily="34" charset="-122"/>
                <a:cs typeface="Arial" panose="020B0604020202020204" pitchFamily="34" charset="0"/>
              </a:rPr>
              <a:t>Архитектура</a:t>
            </a:r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Text 3"/>
          <p:cNvSpPr/>
          <p:nvPr/>
        </p:nvSpPr>
        <p:spPr>
          <a:xfrm>
            <a:off x="8128000" y="0"/>
            <a:ext cx="4064000" cy="508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ru-RU" sz="1200" dirty="0">
                <a:solidFill>
                  <a:srgbClr val="FFFFFF"/>
                </a:solidFill>
                <a:latin typeface="Arial" panose="020B0604020202020204" pitchFamily="34" charset="0"/>
                <a:ea typeface="Quattrocento Sans" pitchFamily="34" charset="-122"/>
                <a:cs typeface="Arial" panose="020B0604020202020204" pitchFamily="34" charset="0"/>
              </a:rPr>
              <a:t>Функционал</a:t>
            </a:r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Text 4"/>
          <p:cNvSpPr/>
          <p:nvPr/>
        </p:nvSpPr>
        <p:spPr>
          <a:xfrm>
            <a:off x="12192000" y="0"/>
            <a:ext cx="4064000" cy="457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ru-RU" sz="1200" b="1" dirty="0">
                <a:solidFill>
                  <a:srgbClr val="FFFFFF"/>
                </a:solidFill>
                <a:latin typeface="Arial" panose="020B0604020202020204" pitchFamily="34" charset="0"/>
                <a:ea typeface="Quattrocento Sans" pitchFamily="34" charset="-122"/>
                <a:cs typeface="Arial" panose="020B0604020202020204" pitchFamily="34" charset="0"/>
              </a:rPr>
              <a:t>Документация</a:t>
            </a:r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Shape 5"/>
          <p:cNvSpPr/>
          <p:nvPr/>
        </p:nvSpPr>
        <p:spPr>
          <a:xfrm>
            <a:off x="13589000" y="469900"/>
            <a:ext cx="1270000" cy="38100"/>
          </a:xfrm>
          <a:prstGeom prst="rect">
            <a:avLst/>
          </a:prstGeom>
          <a:solidFill>
            <a:srgbClr val="00ACC1"/>
          </a:solidFill>
          <a:ln/>
        </p:spPr>
        <p:txBody>
          <a:bodyPr/>
          <a:lstStyle/>
          <a:p>
            <a:endParaRPr lang="ru-R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Text 6"/>
          <p:cNvSpPr/>
          <p:nvPr/>
        </p:nvSpPr>
        <p:spPr>
          <a:xfrm>
            <a:off x="762000" y="698500"/>
            <a:ext cx="8890000" cy="482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ru-RU" sz="2800" b="1" dirty="0">
                <a:solidFill>
                  <a:srgbClr val="1A1F3C"/>
                </a:solidFill>
                <a:latin typeface="Arial" panose="020B0604020202020204" pitchFamily="34" charset="0"/>
                <a:ea typeface="Liter" pitchFamily="34" charset="-122"/>
                <a:cs typeface="Arial" panose="020B0604020202020204" pitchFamily="34" charset="0"/>
              </a:rPr>
              <a:t>Тестирование и результаты</a:t>
            </a:r>
            <a:endParaRPr lang="en-US" sz="2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" name="Shape 7"/>
          <p:cNvSpPr/>
          <p:nvPr/>
        </p:nvSpPr>
        <p:spPr>
          <a:xfrm>
            <a:off x="762000" y="1206500"/>
            <a:ext cx="762000" cy="38100"/>
          </a:xfrm>
          <a:prstGeom prst="rect">
            <a:avLst/>
          </a:prstGeom>
          <a:solidFill>
            <a:srgbClr val="00ACC1"/>
          </a:solidFill>
          <a:ln/>
        </p:spPr>
        <p:txBody>
          <a:bodyPr/>
          <a:lstStyle/>
          <a:p>
            <a:endParaRPr lang="ru-R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" name="Text 8"/>
          <p:cNvSpPr/>
          <p:nvPr/>
        </p:nvSpPr>
        <p:spPr>
          <a:xfrm>
            <a:off x="762000" y="1460500"/>
            <a:ext cx="5080000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ru-RU" sz="2200" b="1" dirty="0">
                <a:solidFill>
                  <a:srgbClr val="1A1F3C"/>
                </a:solidFill>
                <a:latin typeface="Arial" panose="020B0604020202020204" pitchFamily="34" charset="0"/>
                <a:ea typeface="Liter" pitchFamily="34" charset="-122"/>
                <a:cs typeface="Arial" panose="020B0604020202020204" pitchFamily="34" charset="0"/>
              </a:rPr>
              <a:t>Проведенные проверки</a:t>
            </a:r>
            <a:endParaRPr lang="en-US" sz="2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762000" y="1879600"/>
            <a:ext cx="508000" cy="25400"/>
          </a:xfrm>
          <a:prstGeom prst="rect">
            <a:avLst/>
          </a:prstGeom>
          <a:solidFill>
            <a:srgbClr val="00ACC1"/>
          </a:solidFill>
          <a:ln/>
        </p:spPr>
        <p:txBody>
          <a:bodyPr/>
          <a:lstStyle/>
          <a:p>
            <a:endParaRPr lang="ru-R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762000" y="2133600"/>
            <a:ext cx="279400" cy="279400"/>
          </a:xfrm>
          <a:custGeom>
            <a:avLst/>
            <a:gdLst/>
            <a:ahLst/>
            <a:cxnLst/>
            <a:rect l="l" t="t" r="r" b="b"/>
            <a:pathLst>
              <a:path w="279400" h="279400">
                <a:moveTo>
                  <a:pt x="139700" y="279400"/>
                </a:moveTo>
                <a:cubicBezTo>
                  <a:pt x="216803" y="279400"/>
                  <a:pt x="279400" y="216803"/>
                  <a:pt x="279400" y="139700"/>
                </a:cubicBezTo>
                <a:cubicBezTo>
                  <a:pt x="279400" y="62597"/>
                  <a:pt x="216803" y="0"/>
                  <a:pt x="139700" y="0"/>
                </a:cubicBezTo>
                <a:cubicBezTo>
                  <a:pt x="62597" y="0"/>
                  <a:pt x="0" y="62597"/>
                  <a:pt x="0" y="139700"/>
                </a:cubicBezTo>
                <a:cubicBezTo>
                  <a:pt x="0" y="216803"/>
                  <a:pt x="62597" y="279400"/>
                  <a:pt x="139700" y="279400"/>
                </a:cubicBezTo>
                <a:close/>
                <a:moveTo>
                  <a:pt x="185757" y="116071"/>
                </a:moveTo>
                <a:lnTo>
                  <a:pt x="142101" y="185921"/>
                </a:lnTo>
                <a:cubicBezTo>
                  <a:pt x="139809" y="189577"/>
                  <a:pt x="135880" y="191869"/>
                  <a:pt x="131569" y="192088"/>
                </a:cubicBezTo>
                <a:cubicBezTo>
                  <a:pt x="127258" y="192306"/>
                  <a:pt x="123111" y="190341"/>
                  <a:pt x="120546" y="186849"/>
                </a:cubicBezTo>
                <a:lnTo>
                  <a:pt x="94352" y="151924"/>
                </a:lnTo>
                <a:cubicBezTo>
                  <a:pt x="89986" y="146139"/>
                  <a:pt x="91187" y="137954"/>
                  <a:pt x="96971" y="133588"/>
                </a:cubicBezTo>
                <a:cubicBezTo>
                  <a:pt x="102756" y="129223"/>
                  <a:pt x="110941" y="130423"/>
                  <a:pt x="115307" y="136208"/>
                </a:cubicBezTo>
                <a:lnTo>
                  <a:pt x="130041" y="155853"/>
                </a:lnTo>
                <a:lnTo>
                  <a:pt x="163547" y="102210"/>
                </a:lnTo>
                <a:cubicBezTo>
                  <a:pt x="167367" y="96098"/>
                  <a:pt x="175444" y="94188"/>
                  <a:pt x="181610" y="98063"/>
                </a:cubicBezTo>
                <a:cubicBezTo>
                  <a:pt x="187776" y="101937"/>
                  <a:pt x="189632" y="109959"/>
                  <a:pt x="185757" y="116126"/>
                </a:cubicBezTo>
                <a:close/>
              </a:path>
            </a:pathLst>
          </a:custGeom>
          <a:solidFill>
            <a:srgbClr val="43A047"/>
          </a:solidFill>
          <a:ln/>
        </p:spPr>
        <p:txBody>
          <a:bodyPr/>
          <a:lstStyle/>
          <a:p>
            <a:endParaRPr lang="ru-R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1168400" y="2095500"/>
            <a:ext cx="6731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ru-RU" sz="1600" dirty="0">
                <a:solidFill>
                  <a:srgbClr val="2D3748"/>
                </a:solidFill>
                <a:latin typeface="Arial" panose="020B0604020202020204" pitchFamily="34" charset="0"/>
                <a:ea typeface="Quattrocento Sans" pitchFamily="34" charset="-122"/>
                <a:cs typeface="Arial" panose="020B0604020202020204" pitchFamily="34" charset="0"/>
              </a:rPr>
              <a:t>CRUD-операции для активистов, ячеек, контактов и пользователей</a:t>
            </a:r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762000" y="2603500"/>
            <a:ext cx="279400" cy="279400"/>
          </a:xfrm>
          <a:custGeom>
            <a:avLst/>
            <a:gdLst/>
            <a:ahLst/>
            <a:cxnLst/>
            <a:rect l="l" t="t" r="r" b="b"/>
            <a:pathLst>
              <a:path w="279400" h="279400">
                <a:moveTo>
                  <a:pt x="139700" y="279400"/>
                </a:moveTo>
                <a:cubicBezTo>
                  <a:pt x="216803" y="279400"/>
                  <a:pt x="279400" y="216803"/>
                  <a:pt x="279400" y="139700"/>
                </a:cubicBezTo>
                <a:cubicBezTo>
                  <a:pt x="279400" y="62597"/>
                  <a:pt x="216803" y="0"/>
                  <a:pt x="139700" y="0"/>
                </a:cubicBezTo>
                <a:cubicBezTo>
                  <a:pt x="62597" y="0"/>
                  <a:pt x="0" y="62597"/>
                  <a:pt x="0" y="139700"/>
                </a:cubicBezTo>
                <a:cubicBezTo>
                  <a:pt x="0" y="216803"/>
                  <a:pt x="62597" y="279400"/>
                  <a:pt x="139700" y="279400"/>
                </a:cubicBezTo>
                <a:close/>
                <a:moveTo>
                  <a:pt x="185757" y="116071"/>
                </a:moveTo>
                <a:lnTo>
                  <a:pt x="142101" y="185921"/>
                </a:lnTo>
                <a:cubicBezTo>
                  <a:pt x="139809" y="189577"/>
                  <a:pt x="135880" y="191869"/>
                  <a:pt x="131569" y="192088"/>
                </a:cubicBezTo>
                <a:cubicBezTo>
                  <a:pt x="127258" y="192306"/>
                  <a:pt x="123111" y="190341"/>
                  <a:pt x="120546" y="186849"/>
                </a:cubicBezTo>
                <a:lnTo>
                  <a:pt x="94352" y="151924"/>
                </a:lnTo>
                <a:cubicBezTo>
                  <a:pt x="89986" y="146139"/>
                  <a:pt x="91187" y="137954"/>
                  <a:pt x="96971" y="133588"/>
                </a:cubicBezTo>
                <a:cubicBezTo>
                  <a:pt x="102756" y="129223"/>
                  <a:pt x="110941" y="130423"/>
                  <a:pt x="115307" y="136208"/>
                </a:cubicBezTo>
                <a:lnTo>
                  <a:pt x="130041" y="155853"/>
                </a:lnTo>
                <a:lnTo>
                  <a:pt x="163547" y="102210"/>
                </a:lnTo>
                <a:cubicBezTo>
                  <a:pt x="167367" y="96098"/>
                  <a:pt x="175444" y="94188"/>
                  <a:pt x="181610" y="98063"/>
                </a:cubicBezTo>
                <a:cubicBezTo>
                  <a:pt x="187776" y="101937"/>
                  <a:pt x="189632" y="109959"/>
                  <a:pt x="185757" y="116126"/>
                </a:cubicBezTo>
                <a:close/>
              </a:path>
            </a:pathLst>
          </a:custGeom>
          <a:solidFill>
            <a:srgbClr val="43A047"/>
          </a:solidFill>
          <a:ln/>
        </p:spPr>
        <p:txBody>
          <a:bodyPr/>
          <a:lstStyle/>
          <a:p>
            <a:endParaRPr lang="ru-R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1168400" y="2565400"/>
            <a:ext cx="6731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ru-RU" sz="1600" dirty="0">
                <a:solidFill>
                  <a:srgbClr val="2D3748"/>
                </a:solidFill>
                <a:latin typeface="Arial" panose="020B0604020202020204" pitchFamily="34" charset="0"/>
                <a:ea typeface="Quattrocento Sans" pitchFamily="34" charset="-122"/>
                <a:cs typeface="Arial" panose="020B0604020202020204" pitchFamily="34" charset="0"/>
              </a:rPr>
              <a:t>Поиск, фильтрация и пагинация данных</a:t>
            </a:r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762000" y="3073400"/>
            <a:ext cx="279400" cy="279400"/>
          </a:xfrm>
          <a:custGeom>
            <a:avLst/>
            <a:gdLst/>
            <a:ahLst/>
            <a:cxnLst/>
            <a:rect l="l" t="t" r="r" b="b"/>
            <a:pathLst>
              <a:path w="279400" h="279400">
                <a:moveTo>
                  <a:pt x="139700" y="279400"/>
                </a:moveTo>
                <a:cubicBezTo>
                  <a:pt x="216803" y="279400"/>
                  <a:pt x="279400" y="216803"/>
                  <a:pt x="279400" y="139700"/>
                </a:cubicBezTo>
                <a:cubicBezTo>
                  <a:pt x="279400" y="62597"/>
                  <a:pt x="216803" y="0"/>
                  <a:pt x="139700" y="0"/>
                </a:cubicBezTo>
                <a:cubicBezTo>
                  <a:pt x="62597" y="0"/>
                  <a:pt x="0" y="62597"/>
                  <a:pt x="0" y="139700"/>
                </a:cubicBezTo>
                <a:cubicBezTo>
                  <a:pt x="0" y="216803"/>
                  <a:pt x="62597" y="279400"/>
                  <a:pt x="139700" y="279400"/>
                </a:cubicBezTo>
                <a:close/>
                <a:moveTo>
                  <a:pt x="185757" y="116071"/>
                </a:moveTo>
                <a:lnTo>
                  <a:pt x="142101" y="185921"/>
                </a:lnTo>
                <a:cubicBezTo>
                  <a:pt x="139809" y="189577"/>
                  <a:pt x="135880" y="191869"/>
                  <a:pt x="131569" y="192088"/>
                </a:cubicBezTo>
                <a:cubicBezTo>
                  <a:pt x="127258" y="192306"/>
                  <a:pt x="123111" y="190341"/>
                  <a:pt x="120546" y="186849"/>
                </a:cubicBezTo>
                <a:lnTo>
                  <a:pt x="94352" y="151924"/>
                </a:lnTo>
                <a:cubicBezTo>
                  <a:pt x="89986" y="146139"/>
                  <a:pt x="91187" y="137954"/>
                  <a:pt x="96971" y="133588"/>
                </a:cubicBezTo>
                <a:cubicBezTo>
                  <a:pt x="102756" y="129223"/>
                  <a:pt x="110941" y="130423"/>
                  <a:pt x="115307" y="136208"/>
                </a:cubicBezTo>
                <a:lnTo>
                  <a:pt x="130041" y="155853"/>
                </a:lnTo>
                <a:lnTo>
                  <a:pt x="163547" y="102210"/>
                </a:lnTo>
                <a:cubicBezTo>
                  <a:pt x="167367" y="96098"/>
                  <a:pt x="175444" y="94188"/>
                  <a:pt x="181610" y="98063"/>
                </a:cubicBezTo>
                <a:cubicBezTo>
                  <a:pt x="187776" y="101937"/>
                  <a:pt x="189632" y="109959"/>
                  <a:pt x="185757" y="116126"/>
                </a:cubicBezTo>
                <a:close/>
              </a:path>
            </a:pathLst>
          </a:custGeom>
          <a:solidFill>
            <a:srgbClr val="43A047"/>
          </a:solidFill>
          <a:ln/>
        </p:spPr>
        <p:txBody>
          <a:bodyPr/>
          <a:lstStyle/>
          <a:p>
            <a:endParaRPr lang="ru-R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1168400" y="3035300"/>
            <a:ext cx="6731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ru-RU" sz="1600" dirty="0">
                <a:solidFill>
                  <a:srgbClr val="2D3748"/>
                </a:solidFill>
                <a:latin typeface="Arial" panose="020B0604020202020204" pitchFamily="34" charset="0"/>
                <a:ea typeface="Quattrocento Sans" pitchFamily="34" charset="-122"/>
                <a:cs typeface="Arial" panose="020B0604020202020204" pitchFamily="34" charset="0"/>
              </a:rPr>
              <a:t>Импорт и экспорт данных в Excel</a:t>
            </a:r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762000" y="3543300"/>
            <a:ext cx="279400" cy="279400"/>
          </a:xfrm>
          <a:custGeom>
            <a:avLst/>
            <a:gdLst/>
            <a:ahLst/>
            <a:cxnLst/>
            <a:rect l="l" t="t" r="r" b="b"/>
            <a:pathLst>
              <a:path w="279400" h="279400">
                <a:moveTo>
                  <a:pt x="139700" y="279400"/>
                </a:moveTo>
                <a:cubicBezTo>
                  <a:pt x="216803" y="279400"/>
                  <a:pt x="279400" y="216803"/>
                  <a:pt x="279400" y="139700"/>
                </a:cubicBezTo>
                <a:cubicBezTo>
                  <a:pt x="279400" y="62597"/>
                  <a:pt x="216803" y="0"/>
                  <a:pt x="139700" y="0"/>
                </a:cubicBezTo>
                <a:cubicBezTo>
                  <a:pt x="62597" y="0"/>
                  <a:pt x="0" y="62597"/>
                  <a:pt x="0" y="139700"/>
                </a:cubicBezTo>
                <a:cubicBezTo>
                  <a:pt x="0" y="216803"/>
                  <a:pt x="62597" y="279400"/>
                  <a:pt x="139700" y="279400"/>
                </a:cubicBezTo>
                <a:close/>
                <a:moveTo>
                  <a:pt x="185757" y="116071"/>
                </a:moveTo>
                <a:lnTo>
                  <a:pt x="142101" y="185921"/>
                </a:lnTo>
                <a:cubicBezTo>
                  <a:pt x="139809" y="189577"/>
                  <a:pt x="135880" y="191869"/>
                  <a:pt x="131569" y="192088"/>
                </a:cubicBezTo>
                <a:cubicBezTo>
                  <a:pt x="127258" y="192306"/>
                  <a:pt x="123111" y="190341"/>
                  <a:pt x="120546" y="186849"/>
                </a:cubicBezTo>
                <a:lnTo>
                  <a:pt x="94352" y="151924"/>
                </a:lnTo>
                <a:cubicBezTo>
                  <a:pt x="89986" y="146139"/>
                  <a:pt x="91187" y="137954"/>
                  <a:pt x="96971" y="133588"/>
                </a:cubicBezTo>
                <a:cubicBezTo>
                  <a:pt x="102756" y="129223"/>
                  <a:pt x="110941" y="130423"/>
                  <a:pt x="115307" y="136208"/>
                </a:cubicBezTo>
                <a:lnTo>
                  <a:pt x="130041" y="155853"/>
                </a:lnTo>
                <a:lnTo>
                  <a:pt x="163547" y="102210"/>
                </a:lnTo>
                <a:cubicBezTo>
                  <a:pt x="167367" y="96098"/>
                  <a:pt x="175444" y="94188"/>
                  <a:pt x="181610" y="98063"/>
                </a:cubicBezTo>
                <a:cubicBezTo>
                  <a:pt x="187776" y="101937"/>
                  <a:pt x="189632" y="109959"/>
                  <a:pt x="185757" y="116126"/>
                </a:cubicBezTo>
                <a:close/>
              </a:path>
            </a:pathLst>
          </a:custGeom>
          <a:solidFill>
            <a:srgbClr val="43A047"/>
          </a:solidFill>
          <a:ln/>
        </p:spPr>
        <p:txBody>
          <a:bodyPr/>
          <a:lstStyle/>
          <a:p>
            <a:endParaRPr lang="ru-R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1168400" y="3505200"/>
            <a:ext cx="6731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ru-RU" sz="1600" dirty="0">
                <a:solidFill>
                  <a:srgbClr val="2D3748"/>
                </a:solidFill>
                <a:latin typeface="Arial" panose="020B0604020202020204" pitchFamily="34" charset="0"/>
                <a:ea typeface="Quattrocento Sans" pitchFamily="34" charset="-122"/>
                <a:cs typeface="Arial" panose="020B0604020202020204" pitchFamily="34" charset="0"/>
              </a:rPr>
              <a:t>Безопасное хранение паролей (</a:t>
            </a:r>
            <a:r>
              <a:rPr lang="en-US" sz="1600" dirty="0">
                <a:solidFill>
                  <a:srgbClr val="2D3748"/>
                </a:solidFill>
                <a:latin typeface="Arial" panose="020B0604020202020204" pitchFamily="34" charset="0"/>
                <a:ea typeface="Quattrocento Sans" pitchFamily="34" charset="-122"/>
                <a:cs typeface="Arial" panose="020B0604020202020204" pitchFamily="34" charset="0"/>
              </a:rPr>
              <a:t>PBKDF2)</a:t>
            </a:r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762000" y="4013200"/>
            <a:ext cx="279400" cy="279400"/>
          </a:xfrm>
          <a:custGeom>
            <a:avLst/>
            <a:gdLst/>
            <a:ahLst/>
            <a:cxnLst/>
            <a:rect l="l" t="t" r="r" b="b"/>
            <a:pathLst>
              <a:path w="279400" h="279400">
                <a:moveTo>
                  <a:pt x="139700" y="279400"/>
                </a:moveTo>
                <a:cubicBezTo>
                  <a:pt x="216803" y="279400"/>
                  <a:pt x="279400" y="216803"/>
                  <a:pt x="279400" y="139700"/>
                </a:cubicBezTo>
                <a:cubicBezTo>
                  <a:pt x="279400" y="62597"/>
                  <a:pt x="216803" y="0"/>
                  <a:pt x="139700" y="0"/>
                </a:cubicBezTo>
                <a:cubicBezTo>
                  <a:pt x="62597" y="0"/>
                  <a:pt x="0" y="62597"/>
                  <a:pt x="0" y="139700"/>
                </a:cubicBezTo>
                <a:cubicBezTo>
                  <a:pt x="0" y="216803"/>
                  <a:pt x="62597" y="279400"/>
                  <a:pt x="139700" y="279400"/>
                </a:cubicBezTo>
                <a:close/>
                <a:moveTo>
                  <a:pt x="185757" y="116071"/>
                </a:moveTo>
                <a:lnTo>
                  <a:pt x="142101" y="185921"/>
                </a:lnTo>
                <a:cubicBezTo>
                  <a:pt x="139809" y="189577"/>
                  <a:pt x="135880" y="191869"/>
                  <a:pt x="131569" y="192088"/>
                </a:cubicBezTo>
                <a:cubicBezTo>
                  <a:pt x="127258" y="192306"/>
                  <a:pt x="123111" y="190341"/>
                  <a:pt x="120546" y="186849"/>
                </a:cubicBezTo>
                <a:lnTo>
                  <a:pt x="94352" y="151924"/>
                </a:lnTo>
                <a:cubicBezTo>
                  <a:pt x="89986" y="146139"/>
                  <a:pt x="91187" y="137954"/>
                  <a:pt x="96971" y="133588"/>
                </a:cubicBezTo>
                <a:cubicBezTo>
                  <a:pt x="102756" y="129223"/>
                  <a:pt x="110941" y="130423"/>
                  <a:pt x="115307" y="136208"/>
                </a:cubicBezTo>
                <a:lnTo>
                  <a:pt x="130041" y="155853"/>
                </a:lnTo>
                <a:lnTo>
                  <a:pt x="163547" y="102210"/>
                </a:lnTo>
                <a:cubicBezTo>
                  <a:pt x="167367" y="96098"/>
                  <a:pt x="175444" y="94188"/>
                  <a:pt x="181610" y="98063"/>
                </a:cubicBezTo>
                <a:cubicBezTo>
                  <a:pt x="187776" y="101937"/>
                  <a:pt x="189632" y="109959"/>
                  <a:pt x="185757" y="116126"/>
                </a:cubicBezTo>
                <a:close/>
              </a:path>
            </a:pathLst>
          </a:custGeom>
          <a:solidFill>
            <a:srgbClr val="43A047"/>
          </a:solidFill>
          <a:ln/>
        </p:spPr>
        <p:txBody>
          <a:bodyPr/>
          <a:lstStyle/>
          <a:p>
            <a:endParaRPr lang="ru-R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1168400" y="3975100"/>
            <a:ext cx="6731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ru-RU" sz="1600" dirty="0">
                <a:solidFill>
                  <a:srgbClr val="2D3748"/>
                </a:solidFill>
                <a:latin typeface="Arial" panose="020B0604020202020204" pitchFamily="34" charset="0"/>
                <a:ea typeface="Quattrocento Sans" pitchFamily="34" charset="-122"/>
                <a:cs typeface="Arial" panose="020B0604020202020204" pitchFamily="34" charset="0"/>
              </a:rPr>
              <a:t>Разграничение ролей администратор/пользователь</a:t>
            </a:r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762000" y="4483100"/>
            <a:ext cx="279400" cy="279400"/>
          </a:xfrm>
          <a:custGeom>
            <a:avLst/>
            <a:gdLst/>
            <a:ahLst/>
            <a:cxnLst/>
            <a:rect l="l" t="t" r="r" b="b"/>
            <a:pathLst>
              <a:path w="279400" h="279400">
                <a:moveTo>
                  <a:pt x="139700" y="279400"/>
                </a:moveTo>
                <a:cubicBezTo>
                  <a:pt x="216803" y="279400"/>
                  <a:pt x="279400" y="216803"/>
                  <a:pt x="279400" y="139700"/>
                </a:cubicBezTo>
                <a:cubicBezTo>
                  <a:pt x="279400" y="62597"/>
                  <a:pt x="216803" y="0"/>
                  <a:pt x="139700" y="0"/>
                </a:cubicBezTo>
                <a:cubicBezTo>
                  <a:pt x="62597" y="0"/>
                  <a:pt x="0" y="62597"/>
                  <a:pt x="0" y="139700"/>
                </a:cubicBezTo>
                <a:cubicBezTo>
                  <a:pt x="0" y="216803"/>
                  <a:pt x="62597" y="279400"/>
                  <a:pt x="139700" y="279400"/>
                </a:cubicBezTo>
                <a:close/>
                <a:moveTo>
                  <a:pt x="185757" y="116071"/>
                </a:moveTo>
                <a:lnTo>
                  <a:pt x="142101" y="185921"/>
                </a:lnTo>
                <a:cubicBezTo>
                  <a:pt x="139809" y="189577"/>
                  <a:pt x="135880" y="191869"/>
                  <a:pt x="131569" y="192088"/>
                </a:cubicBezTo>
                <a:cubicBezTo>
                  <a:pt x="127258" y="192306"/>
                  <a:pt x="123111" y="190341"/>
                  <a:pt x="120546" y="186849"/>
                </a:cubicBezTo>
                <a:lnTo>
                  <a:pt x="94352" y="151924"/>
                </a:lnTo>
                <a:cubicBezTo>
                  <a:pt x="89986" y="146139"/>
                  <a:pt x="91187" y="137954"/>
                  <a:pt x="96971" y="133588"/>
                </a:cubicBezTo>
                <a:cubicBezTo>
                  <a:pt x="102756" y="129223"/>
                  <a:pt x="110941" y="130423"/>
                  <a:pt x="115307" y="136208"/>
                </a:cubicBezTo>
                <a:lnTo>
                  <a:pt x="130041" y="155853"/>
                </a:lnTo>
                <a:lnTo>
                  <a:pt x="163547" y="102210"/>
                </a:lnTo>
                <a:cubicBezTo>
                  <a:pt x="167367" y="96098"/>
                  <a:pt x="175444" y="94188"/>
                  <a:pt x="181610" y="98063"/>
                </a:cubicBezTo>
                <a:cubicBezTo>
                  <a:pt x="187776" y="101937"/>
                  <a:pt x="189632" y="109959"/>
                  <a:pt x="185757" y="116126"/>
                </a:cubicBezTo>
                <a:close/>
              </a:path>
            </a:pathLst>
          </a:custGeom>
          <a:solidFill>
            <a:srgbClr val="43A047"/>
          </a:solidFill>
          <a:ln/>
        </p:spPr>
        <p:txBody>
          <a:bodyPr/>
          <a:lstStyle/>
          <a:p>
            <a:endParaRPr lang="ru-R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1168400" y="4445000"/>
            <a:ext cx="6731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ru-RU" sz="1600" dirty="0">
                <a:solidFill>
                  <a:srgbClr val="2D3748"/>
                </a:solidFill>
                <a:latin typeface="Arial" panose="020B0604020202020204" pitchFamily="34" charset="0"/>
                <a:ea typeface="Quattrocento Sans" pitchFamily="34" charset="-122"/>
                <a:cs typeface="Arial" panose="020B0604020202020204" pitchFamily="34" charset="0"/>
              </a:rPr>
              <a:t>Проект успешно собирается и запускается без ошибок</a:t>
            </a:r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8382000" y="1460500"/>
            <a:ext cx="7112000" cy="6858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  <a:effectLst>
            <a:outerShdw blurRad="152400" dist="38100" dir="5400000" algn="bl" rotWithShape="0">
              <a:srgbClr val="000000">
                <a:alpha val="8235"/>
              </a:srgbClr>
            </a:outerShdw>
          </a:effectLst>
        </p:spPr>
        <p:txBody>
          <a:bodyPr/>
          <a:lstStyle/>
          <a:p>
            <a:endParaRPr lang="ru-R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8763000" y="1714500"/>
            <a:ext cx="6350000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ru-RU" sz="2200" b="1" dirty="0">
                <a:solidFill>
                  <a:srgbClr val="1A1F3C"/>
                </a:solidFill>
                <a:latin typeface="Arial" panose="020B0604020202020204" pitchFamily="34" charset="0"/>
                <a:ea typeface="Liter" pitchFamily="34" charset="-122"/>
                <a:cs typeface="Arial" panose="020B0604020202020204" pitchFamily="34" charset="0"/>
              </a:rPr>
              <a:t>Результаты проекта</a:t>
            </a:r>
            <a:endParaRPr lang="en-US" sz="2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6" name="Shape 24"/>
          <p:cNvSpPr/>
          <p:nvPr/>
        </p:nvSpPr>
        <p:spPr>
          <a:xfrm>
            <a:off x="8763000" y="2133600"/>
            <a:ext cx="508000" cy="25400"/>
          </a:xfrm>
          <a:prstGeom prst="rect">
            <a:avLst/>
          </a:prstGeom>
          <a:solidFill>
            <a:srgbClr val="00ACC1"/>
          </a:solidFill>
          <a:ln/>
        </p:spPr>
        <p:txBody>
          <a:bodyPr/>
          <a:lstStyle/>
          <a:p>
            <a:endParaRPr lang="ru-R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7" name="Text 25"/>
          <p:cNvSpPr/>
          <p:nvPr/>
        </p:nvSpPr>
        <p:spPr>
          <a:xfrm>
            <a:off x="8763000" y="2349500"/>
            <a:ext cx="6350000" cy="571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54000" indent="-254000">
              <a:lnSpc>
                <a:spcPct val="160000"/>
              </a:lnSpc>
              <a:spcBef>
                <a:spcPts val="10"/>
              </a:spcBef>
              <a:buSzPct val="100000"/>
              <a:buChar char="•"/>
            </a:pPr>
            <a:r>
              <a:rPr lang="ru-RU" sz="1600" dirty="0">
                <a:solidFill>
                  <a:srgbClr val="2D3748"/>
                </a:solidFill>
                <a:latin typeface="Arial" panose="020B0604020202020204" pitchFamily="34" charset="0"/>
                <a:ea typeface="Quattrocento Sans" pitchFamily="34" charset="-122"/>
                <a:cs typeface="Arial" panose="020B0604020202020204" pitchFamily="34" charset="0"/>
              </a:rPr>
              <a:t>Разработано </a:t>
            </a:r>
            <a:r>
              <a:rPr lang="ru-RU" sz="1600" b="1" dirty="0">
                <a:solidFill>
                  <a:srgbClr val="2D3748"/>
                </a:solidFill>
                <a:latin typeface="Arial" panose="020B0604020202020204" pitchFamily="34" charset="0"/>
                <a:ea typeface="Quattrocento Sans" pitchFamily="34" charset="-122"/>
                <a:cs typeface="Arial" panose="020B0604020202020204" pitchFamily="34" charset="0"/>
              </a:rPr>
              <a:t>полнофункциональное</a:t>
            </a:r>
            <a:r>
              <a:rPr lang="ru-RU" sz="1600" dirty="0">
                <a:solidFill>
                  <a:srgbClr val="2D3748"/>
                </a:solidFill>
                <a:latin typeface="Arial" panose="020B0604020202020204" pitchFamily="34" charset="0"/>
                <a:ea typeface="Quattrocento Sans" pitchFamily="34" charset="-122"/>
                <a:cs typeface="Arial" panose="020B0604020202020204" pitchFamily="34" charset="0"/>
              </a:rPr>
              <a:t> </a:t>
            </a:r>
            <a:r>
              <a:rPr lang="ru-RU" sz="1600" dirty="0" err="1">
                <a:solidFill>
                  <a:srgbClr val="2D3748"/>
                </a:solidFill>
                <a:latin typeface="Arial" panose="020B0604020202020204" pitchFamily="34" charset="0"/>
                <a:ea typeface="Quattrocento Sans" pitchFamily="34" charset="-122"/>
                <a:cs typeface="Arial" panose="020B0604020202020204" pitchFamily="34" charset="0"/>
              </a:rPr>
              <a:t>desktop</a:t>
            </a:r>
            <a:r>
              <a:rPr lang="ru-RU" sz="1600" dirty="0">
                <a:solidFill>
                  <a:srgbClr val="2D3748"/>
                </a:solidFill>
                <a:latin typeface="Arial" panose="020B0604020202020204" pitchFamily="34" charset="0"/>
                <a:ea typeface="Quattrocento Sans" pitchFamily="34" charset="-122"/>
                <a:cs typeface="Arial" panose="020B0604020202020204" pitchFamily="34" charset="0"/>
              </a:rPr>
              <a:t>-приложение для учёта активистов</a:t>
            </a:r>
          </a:p>
          <a:p>
            <a:pPr marL="254000" indent="-254000">
              <a:lnSpc>
                <a:spcPct val="160000"/>
              </a:lnSpc>
              <a:spcBef>
                <a:spcPts val="10"/>
              </a:spcBef>
              <a:buSzPct val="100000"/>
              <a:buChar char="•"/>
            </a:pPr>
            <a:r>
              <a:rPr lang="ru-RU" sz="1600" dirty="0">
                <a:solidFill>
                  <a:srgbClr val="2D3748"/>
                </a:solidFill>
                <a:latin typeface="Arial" panose="020B0604020202020204" pitchFamily="34" charset="0"/>
                <a:ea typeface="Quattrocento Sans" pitchFamily="34" charset="-122"/>
                <a:cs typeface="Arial" panose="020B0604020202020204" pitchFamily="34" charset="0"/>
              </a:rPr>
              <a:t>Реализованы </a:t>
            </a:r>
            <a:r>
              <a:rPr lang="ru-RU" sz="1600" b="1" dirty="0">
                <a:solidFill>
                  <a:srgbClr val="2D3748"/>
                </a:solidFill>
                <a:latin typeface="Arial" panose="020B0604020202020204" pitchFamily="34" charset="0"/>
                <a:ea typeface="Quattrocento Sans" pitchFamily="34" charset="-122"/>
                <a:cs typeface="Arial" panose="020B0604020202020204" pitchFamily="34" charset="0"/>
              </a:rPr>
              <a:t>все запланированные функции</a:t>
            </a:r>
            <a:r>
              <a:rPr lang="ru-RU" sz="1600" dirty="0">
                <a:solidFill>
                  <a:srgbClr val="2D3748"/>
                </a:solidFill>
                <a:latin typeface="Arial" panose="020B0604020202020204" pitchFamily="34" charset="0"/>
                <a:ea typeface="Quattrocento Sans" pitchFamily="34" charset="-122"/>
                <a:cs typeface="Arial" panose="020B0604020202020204" pitchFamily="34" charset="0"/>
              </a:rPr>
              <a:t>, включая импорт/экспорт Excel</a:t>
            </a:r>
          </a:p>
          <a:p>
            <a:pPr marL="254000" indent="-254000">
              <a:lnSpc>
                <a:spcPct val="160000"/>
              </a:lnSpc>
              <a:spcBef>
                <a:spcPts val="10"/>
              </a:spcBef>
              <a:buSzPct val="100000"/>
              <a:buChar char="•"/>
            </a:pPr>
            <a:r>
              <a:rPr lang="ru-RU" sz="1600" dirty="0">
                <a:solidFill>
                  <a:srgbClr val="2D3748"/>
                </a:solidFill>
                <a:latin typeface="Arial" panose="020B0604020202020204" pitchFamily="34" charset="0"/>
                <a:ea typeface="Quattrocento Sans" pitchFamily="34" charset="-122"/>
                <a:cs typeface="Arial" panose="020B0604020202020204" pitchFamily="34" charset="0"/>
              </a:rPr>
              <a:t>Обеспечено безопасное хранение учётных данных</a:t>
            </a:r>
          </a:p>
          <a:p>
            <a:pPr marL="254000" indent="-254000">
              <a:lnSpc>
                <a:spcPct val="160000"/>
              </a:lnSpc>
              <a:spcBef>
                <a:spcPts val="10"/>
              </a:spcBef>
              <a:buSzPct val="100000"/>
              <a:buChar char="•"/>
            </a:pPr>
            <a:r>
              <a:rPr lang="ru-RU" sz="1600" dirty="0">
                <a:solidFill>
                  <a:srgbClr val="2D3748"/>
                </a:solidFill>
                <a:latin typeface="Arial" panose="020B0604020202020204" pitchFamily="34" charset="0"/>
                <a:ea typeface="Quattrocento Sans" pitchFamily="34" charset="-122"/>
                <a:cs typeface="Arial" panose="020B0604020202020204" pitchFamily="34" charset="0"/>
              </a:rPr>
              <a:t>Подготовлен комплект документации</a:t>
            </a:r>
          </a:p>
          <a:p>
            <a:pPr marL="254000" indent="-254000">
              <a:lnSpc>
                <a:spcPct val="160000"/>
              </a:lnSpc>
              <a:spcBef>
                <a:spcPts val="10"/>
              </a:spcBef>
              <a:buSzPct val="100000"/>
              <a:buChar char="•"/>
            </a:pPr>
            <a:r>
              <a:rPr lang="ru-RU" sz="1600" dirty="0">
                <a:solidFill>
                  <a:srgbClr val="2D3748"/>
                </a:solidFill>
                <a:latin typeface="Arial" panose="020B0604020202020204" pitchFamily="34" charset="0"/>
                <a:ea typeface="Quattrocento Sans" pitchFamily="34" charset="-122"/>
                <a:cs typeface="Arial" panose="020B0604020202020204" pitchFamily="34" charset="0"/>
              </a:rPr>
              <a:t>Построены </a:t>
            </a:r>
            <a:r>
              <a:rPr lang="ru-RU" sz="1600" b="1" dirty="0">
                <a:solidFill>
                  <a:srgbClr val="2D3748"/>
                </a:solidFill>
                <a:latin typeface="Arial" panose="020B0604020202020204" pitchFamily="34" charset="0"/>
                <a:ea typeface="Quattrocento Sans" pitchFamily="34" charset="-122"/>
                <a:cs typeface="Arial" panose="020B0604020202020204" pitchFamily="34" charset="0"/>
              </a:rPr>
              <a:t>UML-диаграммы</a:t>
            </a:r>
            <a:r>
              <a:rPr lang="ru-RU" sz="1600" dirty="0">
                <a:solidFill>
                  <a:srgbClr val="2D3748"/>
                </a:solidFill>
                <a:latin typeface="Arial" panose="020B0604020202020204" pitchFamily="34" charset="0"/>
                <a:ea typeface="Quattrocento Sans" pitchFamily="34" charset="-122"/>
                <a:cs typeface="Arial" panose="020B0604020202020204" pitchFamily="34" charset="0"/>
              </a:rPr>
              <a:t>, отражающие архитектуру и поведение системы</a:t>
            </a:r>
          </a:p>
          <a:p>
            <a:pPr marL="254000" indent="-254000">
              <a:lnSpc>
                <a:spcPct val="160000"/>
              </a:lnSpc>
              <a:spcBef>
                <a:spcPts val="10"/>
              </a:spcBef>
              <a:buSzPct val="100000"/>
              <a:buChar char="•"/>
            </a:pPr>
            <a:r>
              <a:rPr lang="ru-RU" sz="1600" dirty="0">
                <a:solidFill>
                  <a:srgbClr val="2D3748"/>
                </a:solidFill>
                <a:latin typeface="Arial" panose="020B0604020202020204" pitchFamily="34" charset="0"/>
                <a:ea typeface="Quattrocento Sans" pitchFamily="34" charset="-122"/>
                <a:cs typeface="Arial" panose="020B0604020202020204" pitchFamily="34" charset="0"/>
              </a:rPr>
              <a:t>Получены</a:t>
            </a:r>
            <a:r>
              <a:rPr lang="en-US" sz="1600" dirty="0">
                <a:solidFill>
                  <a:srgbClr val="2D3748"/>
                </a:solidFill>
                <a:latin typeface="Arial" panose="020B0604020202020204" pitchFamily="34" charset="0"/>
                <a:ea typeface="Quattrocento Sans" pitchFamily="34" charset="-122"/>
                <a:cs typeface="Arial" panose="020B0604020202020204" pitchFamily="34" charset="0"/>
              </a:rPr>
              <a:t>/</a:t>
            </a:r>
            <a:r>
              <a:rPr lang="ru-RU" sz="1600" dirty="0">
                <a:solidFill>
                  <a:srgbClr val="2D3748"/>
                </a:solidFill>
                <a:latin typeface="Arial" panose="020B0604020202020204" pitchFamily="34" charset="0"/>
                <a:ea typeface="Quattrocento Sans" pitchFamily="34" charset="-122"/>
                <a:cs typeface="Arial" panose="020B0604020202020204" pitchFamily="34" charset="0"/>
              </a:rPr>
              <a:t>улучшены практические навыки работы с WPF, EF Core, SQL Server и </a:t>
            </a:r>
            <a:r>
              <a:rPr lang="ru-RU" sz="1600" dirty="0" err="1">
                <a:solidFill>
                  <a:srgbClr val="2D3748"/>
                </a:solidFill>
                <a:latin typeface="Arial" panose="020B0604020202020204" pitchFamily="34" charset="0"/>
                <a:ea typeface="Quattrocento Sans" pitchFamily="34" charset="-122"/>
                <a:cs typeface="Arial" panose="020B0604020202020204" pitchFamily="34" charset="0"/>
              </a:rPr>
              <a:t>EPPlus</a:t>
            </a:r>
            <a:r>
              <a:rPr lang="ru-RU" sz="1600" dirty="0">
                <a:solidFill>
                  <a:srgbClr val="2D3748"/>
                </a:solidFill>
                <a:latin typeface="Arial" panose="020B0604020202020204" pitchFamily="34" charset="0"/>
                <a:ea typeface="Quattrocento Sans" pitchFamily="34" charset="-122"/>
                <a:cs typeface="Arial" panose="020B0604020202020204" pitchFamily="34" charset="0"/>
              </a:rPr>
              <a:t>.</a:t>
            </a:r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8" name="Text 26"/>
          <p:cNvSpPr/>
          <p:nvPr/>
        </p:nvSpPr>
        <p:spPr>
          <a:xfrm>
            <a:off x="15240000" y="8763000"/>
            <a:ext cx="762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1200" dirty="0">
                <a:solidFill>
                  <a:srgbClr val="64748B"/>
                </a:solidFill>
                <a:latin typeface="Arial" panose="020B0604020202020204" pitchFamily="34" charset="0"/>
                <a:ea typeface="Quattrocento Sans" pitchFamily="34" charset="-122"/>
                <a:cs typeface="Arial" panose="020B0604020202020204" pitchFamily="34" charset="0"/>
              </a:rPr>
              <a:t>21 / 22</a:t>
            </a:r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  <p:transition>
    <p:fade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gradFill flip="none" rotWithShape="1">
          <a:gsLst>
            <a:gs pos="0">
              <a:srgbClr val="0F1525"/>
            </a:gs>
            <a:gs pos="50000">
              <a:srgbClr val="1A1F3C"/>
            </a:gs>
            <a:gs pos="100000">
              <a:srgbClr val="162044"/>
            </a:gs>
          </a:gsLst>
          <a:lin ang="81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hape 9">
            <a:extLst>
              <a:ext uri="{FF2B5EF4-FFF2-40B4-BE49-F238E27FC236}">
                <a16:creationId xmlns:a16="http://schemas.microsoft.com/office/drawing/2014/main" id="{16136CCD-0A37-BD84-D591-A6F91136D921}"/>
              </a:ext>
            </a:extLst>
          </p:cNvPr>
          <p:cNvSpPr/>
          <p:nvPr/>
        </p:nvSpPr>
        <p:spPr>
          <a:xfrm>
            <a:off x="5513550" y="2806263"/>
            <a:ext cx="5259553" cy="516057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  <a:effectLst>
            <a:outerShdw blurRad="127000" dist="25400" dir="5400000" algn="bl" rotWithShape="0">
              <a:srgbClr val="000000">
                <a:alpha val="8235"/>
              </a:srgbClr>
            </a:outerShdw>
          </a:effectLst>
        </p:spPr>
        <p:txBody>
          <a:bodyPr/>
          <a:lstStyle/>
          <a:p>
            <a:endParaRPr lang="ru-R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Shape 0"/>
          <p:cNvSpPr/>
          <p:nvPr/>
        </p:nvSpPr>
        <p:spPr>
          <a:xfrm>
            <a:off x="6858000" y="1016000"/>
            <a:ext cx="2540000" cy="38100"/>
          </a:xfrm>
          <a:prstGeom prst="rect">
            <a:avLst/>
          </a:prstGeom>
          <a:solidFill>
            <a:srgbClr val="00ACC1"/>
          </a:solidFill>
          <a:ln/>
        </p:spPr>
        <p:txBody>
          <a:bodyPr/>
          <a:lstStyle/>
          <a:p>
            <a:endParaRPr lang="ru-R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4589079" y="1397000"/>
            <a:ext cx="7077841" cy="762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ru-RU" sz="4400" b="1" dirty="0">
                <a:solidFill>
                  <a:srgbClr val="FFFFFF"/>
                </a:solidFill>
                <a:latin typeface="Arial" panose="020B0604020202020204" pitchFamily="34" charset="0"/>
                <a:ea typeface="Liter" pitchFamily="34" charset="-122"/>
                <a:cs typeface="Arial" panose="020B0604020202020204" pitchFamily="34" charset="0"/>
              </a:rPr>
              <a:t>Спасибо за внимание</a:t>
            </a:r>
            <a:endParaRPr lang="en-US" sz="4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Shape 3"/>
          <p:cNvSpPr/>
          <p:nvPr/>
        </p:nvSpPr>
        <p:spPr>
          <a:xfrm>
            <a:off x="6858000" y="2501900"/>
            <a:ext cx="2540000" cy="38100"/>
          </a:xfrm>
          <a:prstGeom prst="rect">
            <a:avLst/>
          </a:prstGeom>
          <a:solidFill>
            <a:srgbClr val="00ACC1"/>
          </a:solidFill>
          <a:ln/>
        </p:spPr>
        <p:txBody>
          <a:bodyPr/>
          <a:lstStyle/>
          <a:p>
            <a:endParaRPr lang="ru-R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Shape 4"/>
          <p:cNvSpPr/>
          <p:nvPr/>
        </p:nvSpPr>
        <p:spPr>
          <a:xfrm>
            <a:off x="2540000" y="5715000"/>
            <a:ext cx="762000" cy="762000"/>
          </a:xfrm>
          <a:prstGeom prst="ellipse">
            <a:avLst/>
          </a:prstGeom>
          <a:solidFill>
            <a:srgbClr val="00ACC2">
              <a:alpha val="8235"/>
            </a:srgbClr>
          </a:solidFill>
          <a:ln w="12700">
            <a:solidFill>
              <a:srgbClr val="00ACC1"/>
            </a:solidFill>
            <a:prstDash val="solid"/>
          </a:ln>
        </p:spPr>
        <p:txBody>
          <a:bodyPr/>
          <a:lstStyle/>
          <a:p>
            <a:endParaRPr lang="ru-R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Shape 5"/>
          <p:cNvSpPr/>
          <p:nvPr/>
        </p:nvSpPr>
        <p:spPr>
          <a:xfrm>
            <a:off x="13970000" y="1016000"/>
            <a:ext cx="1270000" cy="1270000"/>
          </a:xfrm>
          <a:prstGeom prst="ellipse">
            <a:avLst/>
          </a:prstGeom>
          <a:solidFill>
            <a:srgbClr val="00ACC2">
              <a:alpha val="6275"/>
            </a:srgbClr>
          </a:solidFill>
          <a:ln w="12700">
            <a:solidFill>
              <a:srgbClr val="00ACC1"/>
            </a:solidFill>
            <a:prstDash val="solid"/>
          </a:ln>
        </p:spPr>
        <p:txBody>
          <a:bodyPr/>
          <a:lstStyle/>
          <a:p>
            <a:endParaRPr lang="ru-R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Shape 6"/>
          <p:cNvSpPr/>
          <p:nvPr/>
        </p:nvSpPr>
        <p:spPr>
          <a:xfrm>
            <a:off x="1905000" y="1905000"/>
            <a:ext cx="508000" cy="508000"/>
          </a:xfrm>
          <a:prstGeom prst="ellipse">
            <a:avLst/>
          </a:prstGeom>
          <a:solidFill>
            <a:srgbClr val="00ACC2">
              <a:alpha val="12549"/>
            </a:srgbClr>
          </a:solidFill>
          <a:ln/>
        </p:spPr>
        <p:txBody>
          <a:bodyPr/>
          <a:lstStyle/>
          <a:p>
            <a:endParaRPr lang="ru-R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AA3A0459-667F-F08F-9939-0031209B7DC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83753" y="3033110"/>
            <a:ext cx="4719145" cy="4719145"/>
          </a:xfrm>
          <a:prstGeom prst="rect">
            <a:avLst/>
          </a:prstGeom>
        </p:spPr>
      </p:pic>
      <p:sp>
        <p:nvSpPr>
          <p:cNvPr id="13" name="Text 1">
            <a:extLst>
              <a:ext uri="{FF2B5EF4-FFF2-40B4-BE49-F238E27FC236}">
                <a16:creationId xmlns:a16="http://schemas.microsoft.com/office/drawing/2014/main" id="{CECF4E15-0AFB-D088-7CF7-3EB55FE00193}"/>
              </a:ext>
            </a:extLst>
          </p:cNvPr>
          <p:cNvSpPr/>
          <p:nvPr/>
        </p:nvSpPr>
        <p:spPr>
          <a:xfrm>
            <a:off x="4589079" y="8153400"/>
            <a:ext cx="7077841" cy="762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4400" b="1" dirty="0">
                <a:solidFill>
                  <a:srgbClr val="FFFFFF"/>
                </a:solidFill>
                <a:latin typeface="Arial" panose="020B0604020202020204" pitchFamily="34" charset="0"/>
                <a:ea typeface="Liter" pitchFamily="34" charset="-122"/>
                <a:cs typeface="Arial" panose="020B0604020202020204" pitchFamily="34" charset="0"/>
              </a:rPr>
              <a:t>QR-</a:t>
            </a:r>
            <a:r>
              <a:rPr lang="ru-RU" sz="4400" b="1" dirty="0">
                <a:solidFill>
                  <a:srgbClr val="FFFFFF"/>
                </a:solidFill>
                <a:latin typeface="Arial" panose="020B0604020202020204" pitchFamily="34" charset="0"/>
                <a:ea typeface="Liter" pitchFamily="34" charset="-122"/>
                <a:cs typeface="Arial" panose="020B0604020202020204" pitchFamily="34" charset="0"/>
              </a:rPr>
              <a:t>код на портфолио</a:t>
            </a:r>
            <a:endParaRPr lang="en-US" sz="4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  <p:transition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134</TotalTime>
  <Words>832</Words>
  <Application>Microsoft Office PowerPoint</Application>
  <PresentationFormat>Произвольный</PresentationFormat>
  <Paragraphs>245</Paragraphs>
  <Slides>21</Slides>
  <Notes>21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1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21</vt:i4>
      </vt:variant>
    </vt:vector>
  </HeadingPairs>
  <TitlesOfParts>
    <vt:vector size="23" baseType="lpstr">
      <vt:lpstr>Arial</vt:lpstr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>Moonshot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InternalBaseWpf — Автоматизированная информационная система учёта активистов</dc:title>
  <dc:subject>InternalBaseWpf — Автоматизированная информационная система учёта активистов</dc:subject>
  <dc:creator>Kimi</dc:creator>
  <cp:lastModifiedBy>andrey rogov</cp:lastModifiedBy>
  <cp:revision>17</cp:revision>
  <dcterms:created xsi:type="dcterms:W3CDTF">2026-06-27T19:05:38Z</dcterms:created>
  <dcterms:modified xsi:type="dcterms:W3CDTF">2026-06-28T20:11:12Z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IGC">
    <vt:lpwstr>{"Label":"InternalBaseWpf — Автоматизированная информационная система учёта активистов","ContentProducer":"001191110108MACG2KBH8F10000","ProduceID":"19f0a6d6-0d02-85b2-8000-000057364087","ReservedCode1":"","ContentPropagator":"001191110108MACG2KBH8F20000","PropagateID":"19f0a698-c2e2-859b-8000-09429c33d0d7","ReservedCode2":""}</vt:lpwstr>
  </property>
</Properties>
</file>